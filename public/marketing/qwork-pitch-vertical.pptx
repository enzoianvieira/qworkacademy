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121400" cy="10782300"/>
  <p:notesSz cx="6858000" cy="9144000"/>
  <p:embeddedFontLst>
    <p:embeddedFont>
      <p:font typeface="Open Sans 1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  <p:embeddedFont>
      <p:font typeface="Poppins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4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35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" y="381"/>
            <a:ext cx="6121908" cy="10801350"/>
            <a:chOff x="-1058" y="5863"/>
            <a:chExt cx="33999996" cy="59999994"/>
          </a:xfrm>
        </p:grpSpPr>
        <p:sp>
          <p:nvSpPr>
            <p:cNvPr id="3" name="Freeform 3"/>
            <p:cNvSpPr/>
            <p:nvPr/>
          </p:nvSpPr>
          <p:spPr>
            <a:xfrm>
              <a:off x="4" y="4"/>
              <a:ext cx="33999995" cy="59999992"/>
            </a:xfrm>
            <a:custGeom>
              <a:avLst/>
              <a:gdLst/>
              <a:ahLst/>
              <a:cxnLst/>
              <a:rect l="l" t="t" r="r" b="b"/>
              <a:pathLst>
                <a:path w="33999995" h="59999992">
                  <a:moveTo>
                    <a:pt x="33999995" y="0"/>
                  </a:moveTo>
                  <a:lnTo>
                    <a:pt x="33999995" y="59999993"/>
                  </a:lnTo>
                  <a:lnTo>
                    <a:pt x="0" y="59999993"/>
                  </a:lnTo>
                  <a:lnTo>
                    <a:pt x="0" y="0"/>
                  </a:lnTo>
                  <a:lnTo>
                    <a:pt x="33999995" y="0"/>
                  </a:lnTo>
                  <a:close/>
                </a:path>
              </a:pathLst>
            </a:custGeom>
            <a:solidFill>
              <a:srgbClr val="201E1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64646" y="-768286"/>
            <a:ext cx="8743950" cy="5836158"/>
            <a:chOff x="0" y="0"/>
            <a:chExt cx="11658600" cy="77815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8600" cy="7781544"/>
            </a:xfrm>
            <a:custGeom>
              <a:avLst/>
              <a:gdLst/>
              <a:ahLst/>
              <a:cxnLst/>
              <a:rect l="l" t="t" r="r" b="b"/>
              <a:pathLst>
                <a:path w="11658600" h="7781544">
                  <a:moveTo>
                    <a:pt x="0" y="0"/>
                  </a:moveTo>
                  <a:lnTo>
                    <a:pt x="11658600" y="0"/>
                  </a:lnTo>
                  <a:lnTo>
                    <a:pt x="11658600" y="7781544"/>
                  </a:lnTo>
                  <a:lnTo>
                    <a:pt x="0" y="778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71000" y="14801850"/>
            <a:ext cx="3467862" cy="342900"/>
            <a:chOff x="7369697" y="39874917"/>
            <a:chExt cx="19258483" cy="1905000"/>
          </a:xfrm>
        </p:grpSpPr>
        <p:sp>
          <p:nvSpPr>
            <p:cNvPr id="10" name="Freeform 10"/>
            <p:cNvSpPr/>
            <p:nvPr/>
          </p:nvSpPr>
          <p:spPr>
            <a:xfrm>
              <a:off x="-1" y="-2"/>
              <a:ext cx="19258482" cy="1905000"/>
            </a:xfrm>
            <a:custGeom>
              <a:avLst/>
              <a:gdLst/>
              <a:ahLst/>
              <a:cxnLst/>
              <a:rect l="l" t="t" r="r" b="b"/>
              <a:pathLst>
                <a:path w="19258482" h="1905000">
                  <a:moveTo>
                    <a:pt x="19258481" y="0"/>
                  </a:moveTo>
                  <a:lnTo>
                    <a:pt x="19258481" y="1905000"/>
                  </a:lnTo>
                  <a:lnTo>
                    <a:pt x="0" y="1905000"/>
                  </a:lnTo>
                  <a:lnTo>
                    <a:pt x="0" y="0"/>
                  </a:lnTo>
                  <a:lnTo>
                    <a:pt x="19258481" y="0"/>
                  </a:ln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3070" y="7216355"/>
            <a:ext cx="3595849" cy="342900"/>
            <a:chOff x="7408186" y="40090872"/>
            <a:chExt cx="19972259" cy="1905000"/>
          </a:xfrm>
        </p:grpSpPr>
        <p:sp>
          <p:nvSpPr>
            <p:cNvPr id="12" name="Freeform 12"/>
            <p:cNvSpPr/>
            <p:nvPr/>
          </p:nvSpPr>
          <p:spPr>
            <a:xfrm>
              <a:off x="7408186" y="40090872"/>
              <a:ext cx="19972259" cy="1905000"/>
            </a:xfrm>
            <a:custGeom>
              <a:avLst/>
              <a:gdLst/>
              <a:ahLst/>
              <a:cxnLst/>
              <a:rect l="l" t="t" r="r" b="b"/>
              <a:pathLst>
                <a:path w="17991673" h="1905000">
                  <a:moveTo>
                    <a:pt x="17991673" y="0"/>
                  </a:moveTo>
                  <a:lnTo>
                    <a:pt x="17991673" y="1905000"/>
                  </a:lnTo>
                  <a:lnTo>
                    <a:pt x="0" y="1905000"/>
                  </a:lnTo>
                  <a:lnTo>
                    <a:pt x="0" y="0"/>
                  </a:lnTo>
                  <a:lnTo>
                    <a:pt x="17991673" y="0"/>
                  </a:ln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29778" y="3335026"/>
            <a:ext cx="5365490" cy="1232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55"/>
              </a:lnSpc>
            </a:pPr>
            <a:r>
              <a:rPr lang="en-US" sz="4682" b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 NR-1 mudou. </a:t>
            </a:r>
          </a:p>
          <a:p>
            <a:pPr algn="ctr">
              <a:lnSpc>
                <a:spcPts val="3548"/>
              </a:lnSpc>
            </a:pPr>
            <a:r>
              <a:rPr lang="en-US" sz="2534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Sua</a:t>
            </a:r>
            <a:r>
              <a:rPr lang="en-US" sz="2534" b="1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2534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responsabilidade</a:t>
            </a:r>
            <a:r>
              <a:rPr lang="en-US" sz="2534" b="1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2534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também.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4900" y="4958696"/>
            <a:ext cx="4870066" cy="1404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265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Agora sua empresa precisa identiﬁcar e comprovar riscos psicossociais.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3071" y="6769741"/>
            <a:ext cx="3595849" cy="12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159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Nós</a:t>
            </a:r>
            <a:r>
              <a:rPr lang="en-US" sz="2159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59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cuidamos</a:t>
            </a:r>
            <a:r>
              <a:rPr lang="en-US" sz="2159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59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disso</a:t>
            </a:r>
            <a:r>
              <a:rPr lang="en-US" sz="2159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lang="en-US" sz="2159" b="1" dirty="0" err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método</a:t>
            </a:r>
            <a:r>
              <a:rPr lang="en-US" sz="2159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, </a:t>
            </a:r>
            <a:r>
              <a:rPr lang="en-US" sz="2159" b="1" dirty="0" err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laudo</a:t>
            </a:r>
            <a:r>
              <a:rPr lang="en-US" sz="2159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2159" b="1" dirty="0" err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técnico</a:t>
            </a:r>
            <a:r>
              <a:rPr lang="en-US" sz="2159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</a:p>
          <a:p>
            <a:pPr algn="ctr">
              <a:lnSpc>
                <a:spcPts val="3185"/>
              </a:lnSpc>
            </a:pPr>
            <a:r>
              <a:rPr lang="en-US" sz="2159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 </a:t>
            </a:r>
            <a:r>
              <a:rPr lang="en-US" sz="2159" b="1" dirty="0" err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segurança</a:t>
            </a:r>
            <a:r>
              <a:rPr lang="en-US" sz="2159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2159" b="1" dirty="0" err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jurídica</a:t>
            </a:r>
            <a:r>
              <a:rPr lang="en-US" sz="2159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.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50D81AC1-7F1C-1106-79BD-AA8D2E5AA17B}"/>
              </a:ext>
            </a:extLst>
          </p:cNvPr>
          <p:cNvSpPr txBox="1"/>
          <p:nvPr/>
        </p:nvSpPr>
        <p:spPr>
          <a:xfrm>
            <a:off x="1917700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8" name="Group 7">
            <a:extLst>
              <a:ext uri="{FF2B5EF4-FFF2-40B4-BE49-F238E27FC236}">
                <a16:creationId xmlns:a16="http://schemas.microsoft.com/office/drawing/2014/main" id="{DB40D2D9-CA25-E58E-7513-2CF9C04AF60E}"/>
              </a:ext>
            </a:extLst>
          </p:cNvPr>
          <p:cNvGrpSpPr/>
          <p:nvPr/>
        </p:nvGrpSpPr>
        <p:grpSpPr>
          <a:xfrm>
            <a:off x="2003466" y="9109529"/>
            <a:ext cx="496619" cy="417923"/>
            <a:chOff x="-403989" y="-321124"/>
            <a:chExt cx="3239878" cy="2617506"/>
          </a:xfrm>
        </p:grpSpPr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6B97A318-97E4-DF2E-159F-701DE5B4E3AD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20" name="TextBox 13">
            <a:extLst>
              <a:ext uri="{FF2B5EF4-FFF2-40B4-BE49-F238E27FC236}">
                <a16:creationId xmlns:a16="http://schemas.microsoft.com/office/drawing/2014/main" id="{4BC2E752-DC00-C8B3-E67F-6007B944271C}"/>
              </a:ext>
            </a:extLst>
          </p:cNvPr>
          <p:cNvSpPr txBox="1"/>
          <p:nvPr/>
        </p:nvSpPr>
        <p:spPr>
          <a:xfrm>
            <a:off x="1917700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34768"/>
            <a:ext cx="932469" cy="491766"/>
          </a:xfrm>
          <a:custGeom>
            <a:avLst/>
            <a:gdLst/>
            <a:ahLst/>
            <a:cxnLst/>
            <a:rect l="l" t="t" r="r" b="b"/>
            <a:pathLst>
              <a:path w="932469" h="491766">
                <a:moveTo>
                  <a:pt x="0" y="0"/>
                </a:moveTo>
                <a:lnTo>
                  <a:pt x="932469" y="0"/>
                </a:lnTo>
                <a:lnTo>
                  <a:pt x="932469" y="491766"/>
                </a:lnTo>
                <a:lnTo>
                  <a:pt x="0" y="491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623564" y="4571505"/>
            <a:ext cx="211284" cy="170431"/>
          </a:xfrm>
          <a:custGeom>
            <a:avLst/>
            <a:gdLst/>
            <a:ahLst/>
            <a:cxnLst/>
            <a:rect l="l" t="t" r="r" b="b"/>
            <a:pathLst>
              <a:path w="211284" h="170431">
                <a:moveTo>
                  <a:pt x="0" y="0"/>
                </a:moveTo>
                <a:lnTo>
                  <a:pt x="211283" y="0"/>
                </a:lnTo>
                <a:lnTo>
                  <a:pt x="211283" y="170431"/>
                </a:lnTo>
                <a:lnTo>
                  <a:pt x="0" y="1704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623564" y="5507307"/>
            <a:ext cx="211284" cy="170431"/>
          </a:xfrm>
          <a:custGeom>
            <a:avLst/>
            <a:gdLst/>
            <a:ahLst/>
            <a:cxnLst/>
            <a:rect l="l" t="t" r="r" b="b"/>
            <a:pathLst>
              <a:path w="211284" h="170431">
                <a:moveTo>
                  <a:pt x="0" y="0"/>
                </a:moveTo>
                <a:lnTo>
                  <a:pt x="211283" y="0"/>
                </a:lnTo>
                <a:lnTo>
                  <a:pt x="211283" y="170431"/>
                </a:lnTo>
                <a:lnTo>
                  <a:pt x="0" y="1704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623564" y="6154807"/>
            <a:ext cx="211284" cy="170431"/>
          </a:xfrm>
          <a:custGeom>
            <a:avLst/>
            <a:gdLst/>
            <a:ahLst/>
            <a:cxnLst/>
            <a:rect l="l" t="t" r="r" b="b"/>
            <a:pathLst>
              <a:path w="211284" h="170431">
                <a:moveTo>
                  <a:pt x="0" y="0"/>
                </a:moveTo>
                <a:lnTo>
                  <a:pt x="211283" y="0"/>
                </a:lnTo>
                <a:lnTo>
                  <a:pt x="211283" y="170431"/>
                </a:lnTo>
                <a:lnTo>
                  <a:pt x="0" y="1704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623564" y="6729232"/>
            <a:ext cx="211284" cy="170431"/>
          </a:xfrm>
          <a:custGeom>
            <a:avLst/>
            <a:gdLst/>
            <a:ahLst/>
            <a:cxnLst/>
            <a:rect l="l" t="t" r="r" b="b"/>
            <a:pathLst>
              <a:path w="211284" h="170431">
                <a:moveTo>
                  <a:pt x="0" y="0"/>
                </a:moveTo>
                <a:lnTo>
                  <a:pt x="211283" y="0"/>
                </a:lnTo>
                <a:lnTo>
                  <a:pt x="211283" y="170430"/>
                </a:lnTo>
                <a:lnTo>
                  <a:pt x="0" y="170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0" y="10409291"/>
            <a:ext cx="6119812" cy="390706"/>
          </a:xfrm>
          <a:custGeom>
            <a:avLst/>
            <a:gdLst/>
            <a:ahLst/>
            <a:cxnLst/>
            <a:rect l="l" t="t" r="r" b="b"/>
            <a:pathLst>
              <a:path w="6119812" h="390706">
                <a:moveTo>
                  <a:pt x="0" y="0"/>
                </a:moveTo>
                <a:lnTo>
                  <a:pt x="6119812" y="0"/>
                </a:lnTo>
                <a:lnTo>
                  <a:pt x="6119812" y="390706"/>
                </a:lnTo>
                <a:lnTo>
                  <a:pt x="0" y="390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476631" y="7753350"/>
            <a:ext cx="3524774" cy="501196"/>
          </a:xfrm>
          <a:custGeom>
            <a:avLst/>
            <a:gdLst/>
            <a:ahLst/>
            <a:cxnLst/>
            <a:rect l="l" t="t" r="r" b="b"/>
            <a:pathLst>
              <a:path w="3524774" h="501196">
                <a:moveTo>
                  <a:pt x="0" y="0"/>
                </a:moveTo>
                <a:lnTo>
                  <a:pt x="3524774" y="0"/>
                </a:lnTo>
                <a:lnTo>
                  <a:pt x="3524774" y="501196"/>
                </a:lnTo>
                <a:lnTo>
                  <a:pt x="0" y="501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8786" y="5452024"/>
            <a:ext cx="4741916" cy="197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2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Assédio moral e sexual </a:t>
            </a:r>
          </a:p>
          <a:p>
            <a:pPr algn="l">
              <a:lnSpc>
                <a:spcPts val="2879"/>
              </a:lnSpc>
            </a:pPr>
            <a:r>
              <a:rPr lang="en-US" sz="22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Falta de apoio da liderança Baixo reconhecimento e excesso de competitividade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2047" y="3105417"/>
            <a:ext cx="4278811" cy="111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2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As empresas agora são responsáveis por identiﬁcar e prevenir fatores como: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86" y="4476826"/>
            <a:ext cx="4559522" cy="75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2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Sobrecarga ou baixa demanda de trabalho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2047" y="2130200"/>
            <a:ext cx="5145462" cy="75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2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 NR-1 incluiu oﬁcialmente os riscos psicossociais no GRO.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9340" y="7290073"/>
            <a:ext cx="3294497" cy="99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714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Não</a:t>
            </a:r>
            <a:r>
              <a:rPr lang="en-US" sz="2714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é </a:t>
            </a:r>
            <a:r>
              <a:rPr lang="en-US" sz="2714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tendência</a:t>
            </a:r>
            <a:r>
              <a:rPr lang="en-US" sz="2714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>
              <a:lnSpc>
                <a:spcPts val="3735"/>
              </a:lnSpc>
            </a:pPr>
            <a:r>
              <a:rPr lang="en-US" sz="2714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É </a:t>
            </a:r>
            <a:r>
              <a:rPr lang="en-US" sz="2714" b="1" dirty="0" err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obrigação</a:t>
            </a:r>
            <a:r>
              <a:rPr lang="en-US" sz="2714" b="1" dirty="0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legal.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8368" y="783984"/>
            <a:ext cx="3738791" cy="109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4066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que mudou na NR-1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CA2D9D4B-0692-F5F1-DFA3-486D648A0D54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24" name="Group 7">
            <a:extLst>
              <a:ext uri="{FF2B5EF4-FFF2-40B4-BE49-F238E27FC236}">
                <a16:creationId xmlns:a16="http://schemas.microsoft.com/office/drawing/2014/main" id="{3B7B77A6-8F42-8DAA-2CD9-43F6517F672E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E3BBC749-76CD-905F-3DEC-F6554C3DD391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26" name="TextBox 13">
            <a:extLst>
              <a:ext uri="{FF2B5EF4-FFF2-40B4-BE49-F238E27FC236}">
                <a16:creationId xmlns:a16="http://schemas.microsoft.com/office/drawing/2014/main" id="{D4DF3721-D664-03E7-2378-1BCB5C280BA9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34768"/>
            <a:ext cx="932469" cy="491766"/>
          </a:xfrm>
          <a:custGeom>
            <a:avLst/>
            <a:gdLst/>
            <a:ahLst/>
            <a:cxnLst/>
            <a:rect l="l" t="t" r="r" b="b"/>
            <a:pathLst>
              <a:path w="932469" h="491766">
                <a:moveTo>
                  <a:pt x="0" y="0"/>
                </a:moveTo>
                <a:lnTo>
                  <a:pt x="932469" y="0"/>
                </a:lnTo>
                <a:lnTo>
                  <a:pt x="932469" y="491766"/>
                </a:lnTo>
                <a:lnTo>
                  <a:pt x="0" y="491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0" y="10409291"/>
            <a:ext cx="6119812" cy="390706"/>
          </a:xfrm>
          <a:custGeom>
            <a:avLst/>
            <a:gdLst/>
            <a:ahLst/>
            <a:cxnLst/>
            <a:rect l="l" t="t" r="r" b="b"/>
            <a:pathLst>
              <a:path w="6119812" h="390706">
                <a:moveTo>
                  <a:pt x="0" y="0"/>
                </a:moveTo>
                <a:lnTo>
                  <a:pt x="6119812" y="0"/>
                </a:lnTo>
                <a:lnTo>
                  <a:pt x="6119812" y="390706"/>
                </a:lnTo>
                <a:lnTo>
                  <a:pt x="0" y="390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654615" y="1964446"/>
            <a:ext cx="4501220" cy="2046713"/>
          </a:xfrm>
          <a:custGeom>
            <a:avLst/>
            <a:gdLst/>
            <a:ahLst/>
            <a:cxnLst/>
            <a:rect l="l" t="t" r="r" b="b"/>
            <a:pathLst>
              <a:path w="4501220" h="2046713">
                <a:moveTo>
                  <a:pt x="0" y="0"/>
                </a:moveTo>
                <a:lnTo>
                  <a:pt x="4501220" y="0"/>
                </a:lnTo>
                <a:lnTo>
                  <a:pt x="4501220" y="2046712"/>
                </a:lnTo>
                <a:lnTo>
                  <a:pt x="0" y="2046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654615" y="4326646"/>
            <a:ext cx="4501220" cy="2046722"/>
          </a:xfrm>
          <a:custGeom>
            <a:avLst/>
            <a:gdLst/>
            <a:ahLst/>
            <a:cxnLst/>
            <a:rect l="l" t="t" r="r" b="b"/>
            <a:pathLst>
              <a:path w="4501220" h="2046722">
                <a:moveTo>
                  <a:pt x="0" y="0"/>
                </a:moveTo>
                <a:lnTo>
                  <a:pt x="4501220" y="0"/>
                </a:lnTo>
                <a:lnTo>
                  <a:pt x="4501220" y="2046722"/>
                </a:lnTo>
                <a:lnTo>
                  <a:pt x="0" y="2046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654615" y="6688855"/>
            <a:ext cx="4501220" cy="2229583"/>
          </a:xfrm>
          <a:custGeom>
            <a:avLst/>
            <a:gdLst/>
            <a:ahLst/>
            <a:cxnLst/>
            <a:rect l="l" t="t" r="r" b="b"/>
            <a:pathLst>
              <a:path w="4501220" h="2229583">
                <a:moveTo>
                  <a:pt x="0" y="0"/>
                </a:moveTo>
                <a:lnTo>
                  <a:pt x="4501220" y="0"/>
                </a:lnTo>
                <a:lnTo>
                  <a:pt x="4501220" y="2229583"/>
                </a:lnTo>
                <a:lnTo>
                  <a:pt x="0" y="2229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199483" y="828256"/>
            <a:ext cx="3772510" cy="10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4066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Por que isso é urgente?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1435" y="4709027"/>
            <a:ext cx="2860243" cy="137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9"/>
              </a:lnSpc>
            </a:pPr>
            <a:r>
              <a:rPr lang="en-US" sz="3413" b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546 mil </a:t>
            </a:r>
          </a:p>
          <a:p>
            <a:pPr algn="ctr">
              <a:lnSpc>
                <a:spcPts val="3254"/>
              </a:lnSpc>
            </a:pP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afastamentos</a:t>
            </a:r>
          </a:p>
          <a:p>
            <a:pPr algn="ctr">
              <a:lnSpc>
                <a:spcPts val="3254"/>
              </a:lnSpc>
            </a:pP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por saúde mental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2413" y="7052567"/>
            <a:ext cx="3060716" cy="1716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</a:pPr>
            <a:r>
              <a:rPr lang="en-US" sz="3413" b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Crescimento de 15% </a:t>
            </a:r>
          </a:p>
          <a:p>
            <a:pPr algn="ctr">
              <a:lnSpc>
                <a:spcPts val="3189"/>
              </a:lnSpc>
            </a:pP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relação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ao</a:t>
            </a:r>
          </a:p>
          <a:p>
            <a:pPr algn="ctr">
              <a:lnSpc>
                <a:spcPts val="3189"/>
              </a:lnSpc>
            </a:pP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ano anterior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57312" y="2346693"/>
            <a:ext cx="3329597" cy="138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9"/>
              </a:lnSpc>
            </a:pPr>
            <a:r>
              <a:rPr lang="en-US" sz="3413" b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+ de 4 milhões </a:t>
            </a:r>
          </a:p>
          <a:p>
            <a:pPr algn="ctr">
              <a:lnSpc>
                <a:spcPts val="3254"/>
              </a:lnSpc>
            </a:pP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de afastamentos</a:t>
            </a:r>
          </a:p>
          <a:p>
            <a:pPr algn="ctr">
              <a:lnSpc>
                <a:spcPts val="3254"/>
              </a:lnSpc>
            </a:pPr>
            <a:r>
              <a:rPr lang="en-US" sz="2400">
                <a:solidFill>
                  <a:srgbClr val="373435"/>
                </a:solidFill>
                <a:latin typeface="Poppins"/>
                <a:ea typeface="Poppins"/>
                <a:cs typeface="Poppins"/>
                <a:sym typeface="Poppins"/>
              </a:rPr>
              <a:t>em um ano no Brasil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153C8694-389C-C765-E206-755C1BB1041F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20" name="Group 7">
            <a:extLst>
              <a:ext uri="{FF2B5EF4-FFF2-40B4-BE49-F238E27FC236}">
                <a16:creationId xmlns:a16="http://schemas.microsoft.com/office/drawing/2014/main" id="{A83A30DC-A240-BAAA-B713-F64A8A611B6E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3BBB5D75-5251-1CAF-FE3A-2657F5C7DA61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B69D3C21-3B21-3DD0-4C05-B5E2ECD13814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34768"/>
            <a:ext cx="932469" cy="491766"/>
          </a:xfrm>
          <a:custGeom>
            <a:avLst/>
            <a:gdLst/>
            <a:ahLst/>
            <a:cxnLst/>
            <a:rect l="l" t="t" r="r" b="b"/>
            <a:pathLst>
              <a:path w="932469" h="491766">
                <a:moveTo>
                  <a:pt x="0" y="0"/>
                </a:moveTo>
                <a:lnTo>
                  <a:pt x="932469" y="0"/>
                </a:lnTo>
                <a:lnTo>
                  <a:pt x="932469" y="491766"/>
                </a:lnTo>
                <a:lnTo>
                  <a:pt x="0" y="491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28428" y="2443648"/>
            <a:ext cx="253270" cy="204302"/>
          </a:xfrm>
          <a:custGeom>
            <a:avLst/>
            <a:gdLst/>
            <a:ahLst/>
            <a:cxnLst/>
            <a:rect l="l" t="t" r="r" b="b"/>
            <a:pathLst>
              <a:path w="253270" h="204302">
                <a:moveTo>
                  <a:pt x="0" y="0"/>
                </a:moveTo>
                <a:lnTo>
                  <a:pt x="253270" y="0"/>
                </a:lnTo>
                <a:lnTo>
                  <a:pt x="253270" y="204302"/>
                </a:lnTo>
                <a:lnTo>
                  <a:pt x="0" y="204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528428" y="3714750"/>
            <a:ext cx="253270" cy="204302"/>
          </a:xfrm>
          <a:custGeom>
            <a:avLst/>
            <a:gdLst/>
            <a:ahLst/>
            <a:cxnLst/>
            <a:rect l="l" t="t" r="r" b="b"/>
            <a:pathLst>
              <a:path w="253270" h="204302">
                <a:moveTo>
                  <a:pt x="0" y="0"/>
                </a:moveTo>
                <a:lnTo>
                  <a:pt x="253270" y="0"/>
                </a:lnTo>
                <a:lnTo>
                  <a:pt x="253270" y="204302"/>
                </a:lnTo>
                <a:lnTo>
                  <a:pt x="0" y="204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28428" y="5110648"/>
            <a:ext cx="253270" cy="204302"/>
          </a:xfrm>
          <a:custGeom>
            <a:avLst/>
            <a:gdLst/>
            <a:ahLst/>
            <a:cxnLst/>
            <a:rect l="l" t="t" r="r" b="b"/>
            <a:pathLst>
              <a:path w="253270" h="204302">
                <a:moveTo>
                  <a:pt x="0" y="0"/>
                </a:moveTo>
                <a:lnTo>
                  <a:pt x="253270" y="0"/>
                </a:lnTo>
                <a:lnTo>
                  <a:pt x="253270" y="204302"/>
                </a:lnTo>
                <a:lnTo>
                  <a:pt x="0" y="204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528428" y="6329848"/>
            <a:ext cx="253270" cy="204302"/>
          </a:xfrm>
          <a:custGeom>
            <a:avLst/>
            <a:gdLst/>
            <a:ahLst/>
            <a:cxnLst/>
            <a:rect l="l" t="t" r="r" b="b"/>
            <a:pathLst>
              <a:path w="253270" h="204302">
                <a:moveTo>
                  <a:pt x="0" y="0"/>
                </a:moveTo>
                <a:lnTo>
                  <a:pt x="253270" y="0"/>
                </a:lnTo>
                <a:lnTo>
                  <a:pt x="253270" y="204301"/>
                </a:lnTo>
                <a:lnTo>
                  <a:pt x="0" y="204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-190" y="10409291"/>
            <a:ext cx="6120003" cy="391763"/>
          </a:xfrm>
          <a:custGeom>
            <a:avLst/>
            <a:gdLst/>
            <a:ahLst/>
            <a:cxnLst/>
            <a:rect l="l" t="t" r="r" b="b"/>
            <a:pathLst>
              <a:path w="6120003" h="391763">
                <a:moveTo>
                  <a:pt x="0" y="0"/>
                </a:moveTo>
                <a:lnTo>
                  <a:pt x="6120002" y="0"/>
                </a:lnTo>
                <a:lnTo>
                  <a:pt x="6120002" y="391764"/>
                </a:lnTo>
                <a:lnTo>
                  <a:pt x="0" y="391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0" y="7622206"/>
            <a:ext cx="6119812" cy="1155701"/>
          </a:xfrm>
          <a:custGeom>
            <a:avLst/>
            <a:gdLst/>
            <a:ahLst/>
            <a:cxnLst/>
            <a:rect l="l" t="t" r="r" b="b"/>
            <a:pathLst>
              <a:path w="6119812" h="1808331">
                <a:moveTo>
                  <a:pt x="0" y="0"/>
                </a:moveTo>
                <a:lnTo>
                  <a:pt x="6119812" y="0"/>
                </a:lnTo>
                <a:lnTo>
                  <a:pt x="6119812" y="1808331"/>
                </a:lnTo>
                <a:lnTo>
                  <a:pt x="0" y="1808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1091689" y="781660"/>
            <a:ext cx="4864611" cy="6394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3"/>
              </a:lnSpc>
            </a:pPr>
            <a:r>
              <a:rPr lang="en-US" sz="406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</a:t>
            </a:r>
            <a:r>
              <a:rPr lang="en-US" sz="406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que</a:t>
            </a:r>
            <a:r>
              <a:rPr lang="en-US" sz="406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a NR-1 </a:t>
            </a:r>
            <a:r>
              <a:rPr lang="en-US" sz="406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exige</a:t>
            </a:r>
            <a:r>
              <a:rPr lang="en-US" sz="406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406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na</a:t>
            </a:r>
            <a:r>
              <a:rPr lang="en-US" sz="406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406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prática</a:t>
            </a:r>
            <a:r>
              <a:rPr lang="en-US" sz="406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?</a:t>
            </a:r>
          </a:p>
          <a:p>
            <a:pPr algn="l">
              <a:lnSpc>
                <a:spcPts val="3452"/>
              </a:lnSpc>
            </a:pPr>
            <a:endParaRPr lang="en-US" sz="2637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2"/>
              </a:lnSpc>
            </a:pP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Mapear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fatores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risco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psicossociais</a:t>
            </a:r>
            <a:endParaRPr lang="en-US" sz="2637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2"/>
              </a:lnSpc>
            </a:pPr>
            <a:endParaRPr lang="en-US" sz="2637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2"/>
              </a:lnSpc>
            </a:pP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Analisar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tecnicamente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esses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endParaRPr lang="en-US" sz="2637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2"/>
              </a:lnSpc>
            </a:pPr>
            <a:endParaRPr lang="en-US" sz="2637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2"/>
              </a:lnSpc>
            </a:pP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Documentar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integrar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452"/>
              </a:lnSpc>
            </a:pP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ao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PGR</a:t>
            </a:r>
          </a:p>
          <a:p>
            <a:pPr algn="l">
              <a:lnSpc>
                <a:spcPts val="3452"/>
              </a:lnSpc>
            </a:pPr>
            <a:endParaRPr lang="en-US" sz="2637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2"/>
              </a:lnSpc>
            </a:pP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Comprovar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tecnicamente</a:t>
            </a: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452"/>
              </a:lnSpc>
            </a:pPr>
            <a:r>
              <a:rPr lang="en-US" sz="263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63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avaliação</a:t>
            </a:r>
            <a:endParaRPr lang="en-US" sz="2637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7829" y="7599474"/>
            <a:ext cx="4361069" cy="107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sz="32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 </a:t>
            </a:r>
            <a:r>
              <a:rPr lang="en-US" sz="32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empresa</a:t>
            </a:r>
            <a:r>
              <a:rPr lang="en-US" sz="32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32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precisa</a:t>
            </a:r>
            <a:r>
              <a:rPr lang="en-US" sz="32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32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provar</a:t>
            </a:r>
            <a:r>
              <a:rPr lang="en-US" sz="32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32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que</a:t>
            </a:r>
            <a:r>
              <a:rPr lang="en-US" sz="32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32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avaliou</a:t>
            </a:r>
            <a:r>
              <a:rPr lang="en-US" sz="32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94EE221D-C487-B62C-1B68-39F06EFC598F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5" name="Group 7">
            <a:extLst>
              <a:ext uri="{FF2B5EF4-FFF2-40B4-BE49-F238E27FC236}">
                <a16:creationId xmlns:a16="http://schemas.microsoft.com/office/drawing/2014/main" id="{5C226E41-FC49-7CD6-AECF-04E45D854C31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5FF2F96-5A1B-DDE2-A318-867CE88229B5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17" name="TextBox 13">
            <a:extLst>
              <a:ext uri="{FF2B5EF4-FFF2-40B4-BE49-F238E27FC236}">
                <a16:creationId xmlns:a16="http://schemas.microsoft.com/office/drawing/2014/main" id="{1DA5301E-EB74-D759-1D6D-26F609A7AE49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34768"/>
            <a:ext cx="932469" cy="491766"/>
          </a:xfrm>
          <a:custGeom>
            <a:avLst/>
            <a:gdLst/>
            <a:ahLst/>
            <a:cxnLst/>
            <a:rect l="l" t="t" r="r" b="b"/>
            <a:pathLst>
              <a:path w="932469" h="491766">
                <a:moveTo>
                  <a:pt x="0" y="0"/>
                </a:moveTo>
                <a:lnTo>
                  <a:pt x="932469" y="0"/>
                </a:lnTo>
                <a:lnTo>
                  <a:pt x="932469" y="491766"/>
                </a:lnTo>
                <a:lnTo>
                  <a:pt x="0" y="491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28428" y="2744343"/>
            <a:ext cx="237820" cy="191833"/>
          </a:xfrm>
          <a:custGeom>
            <a:avLst/>
            <a:gdLst/>
            <a:ahLst/>
            <a:cxnLst/>
            <a:rect l="l" t="t" r="r" b="b"/>
            <a:pathLst>
              <a:path w="237820" h="191833">
                <a:moveTo>
                  <a:pt x="0" y="0"/>
                </a:moveTo>
                <a:lnTo>
                  <a:pt x="237820" y="0"/>
                </a:lnTo>
                <a:lnTo>
                  <a:pt x="237820" y="191833"/>
                </a:lnTo>
                <a:lnTo>
                  <a:pt x="0" y="191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528428" y="3980116"/>
            <a:ext cx="237820" cy="191834"/>
          </a:xfrm>
          <a:custGeom>
            <a:avLst/>
            <a:gdLst/>
            <a:ahLst/>
            <a:cxnLst/>
            <a:rect l="l" t="t" r="r" b="b"/>
            <a:pathLst>
              <a:path w="237820" h="191834">
                <a:moveTo>
                  <a:pt x="0" y="0"/>
                </a:moveTo>
                <a:lnTo>
                  <a:pt x="237820" y="0"/>
                </a:lnTo>
                <a:lnTo>
                  <a:pt x="237820" y="191834"/>
                </a:lnTo>
                <a:lnTo>
                  <a:pt x="0" y="1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28428" y="5123116"/>
            <a:ext cx="237820" cy="191834"/>
          </a:xfrm>
          <a:custGeom>
            <a:avLst/>
            <a:gdLst/>
            <a:ahLst/>
            <a:cxnLst/>
            <a:rect l="l" t="t" r="r" b="b"/>
            <a:pathLst>
              <a:path w="237820" h="191834">
                <a:moveTo>
                  <a:pt x="0" y="0"/>
                </a:moveTo>
                <a:lnTo>
                  <a:pt x="237820" y="0"/>
                </a:lnTo>
                <a:lnTo>
                  <a:pt x="237820" y="191833"/>
                </a:lnTo>
                <a:lnTo>
                  <a:pt x="0" y="191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528428" y="6342316"/>
            <a:ext cx="237820" cy="191834"/>
          </a:xfrm>
          <a:custGeom>
            <a:avLst/>
            <a:gdLst/>
            <a:ahLst/>
            <a:cxnLst/>
            <a:rect l="l" t="t" r="r" b="b"/>
            <a:pathLst>
              <a:path w="237820" h="191834">
                <a:moveTo>
                  <a:pt x="0" y="0"/>
                </a:moveTo>
                <a:lnTo>
                  <a:pt x="237820" y="0"/>
                </a:lnTo>
                <a:lnTo>
                  <a:pt x="237820" y="191834"/>
                </a:lnTo>
                <a:lnTo>
                  <a:pt x="0" y="1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0" y="7392324"/>
            <a:ext cx="6119812" cy="1385583"/>
          </a:xfrm>
          <a:custGeom>
            <a:avLst/>
            <a:gdLst/>
            <a:ahLst/>
            <a:cxnLst/>
            <a:rect l="l" t="t" r="r" b="b"/>
            <a:pathLst>
              <a:path w="6119812" h="1808331">
                <a:moveTo>
                  <a:pt x="0" y="0"/>
                </a:moveTo>
                <a:lnTo>
                  <a:pt x="6119812" y="0"/>
                </a:lnTo>
                <a:lnTo>
                  <a:pt x="6119812" y="1808331"/>
                </a:lnTo>
                <a:lnTo>
                  <a:pt x="0" y="1808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0" y="10409291"/>
            <a:ext cx="6119812" cy="390706"/>
          </a:xfrm>
          <a:custGeom>
            <a:avLst/>
            <a:gdLst/>
            <a:ahLst/>
            <a:cxnLst/>
            <a:rect l="l" t="t" r="r" b="b"/>
            <a:pathLst>
              <a:path w="6119812" h="390706">
                <a:moveTo>
                  <a:pt x="0" y="0"/>
                </a:moveTo>
                <a:lnTo>
                  <a:pt x="6119812" y="0"/>
                </a:lnTo>
                <a:lnTo>
                  <a:pt x="6119812" y="390706"/>
                </a:lnTo>
                <a:lnTo>
                  <a:pt x="0" y="390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171708" y="806958"/>
            <a:ext cx="4292470" cy="16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4066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Onde a maioria das empresas </a:t>
            </a:r>
            <a:r>
              <a:rPr lang="en-US" sz="4066" b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falha?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7313" y="2625547"/>
            <a:ext cx="4260275" cy="397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476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Pesquisas genéricas </a:t>
            </a:r>
          </a:p>
          <a:p>
            <a:pPr algn="l">
              <a:lnSpc>
                <a:spcPts val="3241"/>
              </a:lnSpc>
            </a:pPr>
            <a:r>
              <a:rPr lang="en-US" sz="2476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sem base cientíﬁca</a:t>
            </a:r>
          </a:p>
          <a:p>
            <a:pPr algn="l" rtl="1">
              <a:lnSpc>
                <a:spcPts val="3241"/>
              </a:lnSpc>
            </a:pPr>
            <a:endParaRPr lang="en-US" sz="2476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1"/>
              </a:lnSpc>
            </a:pPr>
            <a:r>
              <a:rPr lang="en-US" sz="2476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Ações isoladas sem diagnóstico</a:t>
            </a:r>
          </a:p>
          <a:p>
            <a:pPr algn="l" rtl="1">
              <a:lnSpc>
                <a:spcPts val="3241"/>
              </a:lnSpc>
            </a:pPr>
            <a:endParaRPr lang="en-US" sz="2476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1"/>
              </a:lnSpc>
            </a:pPr>
            <a:r>
              <a:rPr lang="en-US" sz="2476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Confusão entre avaliação ocupacional e clínica</a:t>
            </a:r>
          </a:p>
          <a:p>
            <a:pPr algn="l" rtl="1">
              <a:lnSpc>
                <a:spcPts val="3241"/>
              </a:lnSpc>
            </a:pPr>
            <a:endParaRPr lang="en-US" sz="2476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1"/>
              </a:lnSpc>
            </a:pPr>
            <a:r>
              <a:rPr lang="en-US" sz="2476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Falta de documentação válida para ﬁscalização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6802" y="7544229"/>
            <a:ext cx="3030969" cy="621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3"/>
              </a:lnSpc>
            </a:pPr>
            <a:r>
              <a:rPr lang="en-US" sz="331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Sem </a:t>
            </a:r>
            <a:r>
              <a:rPr lang="en-US" sz="331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método</a:t>
            </a:r>
            <a:r>
              <a:rPr lang="en-US" sz="331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,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680" y="8046006"/>
            <a:ext cx="4926444" cy="621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3"/>
              </a:lnSpc>
            </a:pPr>
            <a:r>
              <a:rPr lang="en-US" sz="331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não</a:t>
            </a:r>
            <a:r>
              <a:rPr lang="en-US" sz="331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331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há</a:t>
            </a:r>
            <a:r>
              <a:rPr lang="en-US" sz="331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3316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conformidade</a:t>
            </a:r>
            <a:r>
              <a:rPr lang="en-US" sz="3316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.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C77139C7-8A4E-2824-CB0A-5E5A9D37BE88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8" name="Group 7">
            <a:extLst>
              <a:ext uri="{FF2B5EF4-FFF2-40B4-BE49-F238E27FC236}">
                <a16:creationId xmlns:a16="http://schemas.microsoft.com/office/drawing/2014/main" id="{8FC88B53-58E4-E5C1-2E42-E8B2AA6D98C2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4B350BBC-2AFE-0833-164C-507FEF9B497B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20" name="TextBox 13">
            <a:extLst>
              <a:ext uri="{FF2B5EF4-FFF2-40B4-BE49-F238E27FC236}">
                <a16:creationId xmlns:a16="http://schemas.microsoft.com/office/drawing/2014/main" id="{96280DAC-145F-951C-681F-2ED767BDD69E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34768"/>
            <a:ext cx="932469" cy="491766"/>
          </a:xfrm>
          <a:custGeom>
            <a:avLst/>
            <a:gdLst/>
            <a:ahLst/>
            <a:cxnLst/>
            <a:rect l="l" t="t" r="r" b="b"/>
            <a:pathLst>
              <a:path w="932469" h="491766">
                <a:moveTo>
                  <a:pt x="0" y="0"/>
                </a:moveTo>
                <a:lnTo>
                  <a:pt x="932469" y="0"/>
                </a:lnTo>
                <a:lnTo>
                  <a:pt x="932469" y="491766"/>
                </a:lnTo>
                <a:lnTo>
                  <a:pt x="0" y="491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91502" y="4031447"/>
            <a:ext cx="259242" cy="209112"/>
          </a:xfrm>
          <a:custGeom>
            <a:avLst/>
            <a:gdLst/>
            <a:ahLst/>
            <a:cxnLst/>
            <a:rect l="l" t="t" r="r" b="b"/>
            <a:pathLst>
              <a:path w="259242" h="209112">
                <a:moveTo>
                  <a:pt x="0" y="0"/>
                </a:moveTo>
                <a:lnTo>
                  <a:pt x="259242" y="0"/>
                </a:lnTo>
                <a:lnTo>
                  <a:pt x="259242" y="209112"/>
                </a:lnTo>
                <a:lnTo>
                  <a:pt x="0" y="2091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591502" y="5165741"/>
            <a:ext cx="259242" cy="209112"/>
          </a:xfrm>
          <a:custGeom>
            <a:avLst/>
            <a:gdLst/>
            <a:ahLst/>
            <a:cxnLst/>
            <a:rect l="l" t="t" r="r" b="b"/>
            <a:pathLst>
              <a:path w="259242" h="209112">
                <a:moveTo>
                  <a:pt x="0" y="0"/>
                </a:moveTo>
                <a:lnTo>
                  <a:pt x="259242" y="0"/>
                </a:lnTo>
                <a:lnTo>
                  <a:pt x="259242" y="209112"/>
                </a:lnTo>
                <a:lnTo>
                  <a:pt x="0" y="2091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91502" y="6264221"/>
            <a:ext cx="259242" cy="209112"/>
          </a:xfrm>
          <a:custGeom>
            <a:avLst/>
            <a:gdLst/>
            <a:ahLst/>
            <a:cxnLst/>
            <a:rect l="l" t="t" r="r" b="b"/>
            <a:pathLst>
              <a:path w="259242" h="209112">
                <a:moveTo>
                  <a:pt x="0" y="0"/>
                </a:moveTo>
                <a:lnTo>
                  <a:pt x="259242" y="0"/>
                </a:lnTo>
                <a:lnTo>
                  <a:pt x="259242" y="209112"/>
                </a:lnTo>
                <a:lnTo>
                  <a:pt x="0" y="2091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591502" y="7847238"/>
            <a:ext cx="259242" cy="209112"/>
          </a:xfrm>
          <a:custGeom>
            <a:avLst/>
            <a:gdLst/>
            <a:ahLst/>
            <a:cxnLst/>
            <a:rect l="l" t="t" r="r" b="b"/>
            <a:pathLst>
              <a:path w="259242" h="209112">
                <a:moveTo>
                  <a:pt x="0" y="0"/>
                </a:moveTo>
                <a:lnTo>
                  <a:pt x="259242" y="0"/>
                </a:lnTo>
                <a:lnTo>
                  <a:pt x="259242" y="209112"/>
                </a:lnTo>
                <a:lnTo>
                  <a:pt x="0" y="2091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-63503" y="10345788"/>
            <a:ext cx="6246809" cy="517712"/>
          </a:xfrm>
          <a:custGeom>
            <a:avLst/>
            <a:gdLst/>
            <a:ahLst/>
            <a:cxnLst/>
            <a:rect l="l" t="t" r="r" b="b"/>
            <a:pathLst>
              <a:path w="6246809" h="517712">
                <a:moveTo>
                  <a:pt x="0" y="0"/>
                </a:moveTo>
                <a:lnTo>
                  <a:pt x="6246809" y="0"/>
                </a:lnTo>
                <a:lnTo>
                  <a:pt x="6246809" y="517713"/>
                </a:lnTo>
                <a:lnTo>
                  <a:pt x="0" y="5177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941566" y="1057"/>
            <a:ext cx="4178246" cy="4949228"/>
          </a:xfrm>
          <a:custGeom>
            <a:avLst/>
            <a:gdLst/>
            <a:ahLst/>
            <a:cxnLst/>
            <a:rect l="l" t="t" r="r" b="b"/>
            <a:pathLst>
              <a:path w="4178246" h="4949228">
                <a:moveTo>
                  <a:pt x="0" y="0"/>
                </a:moveTo>
                <a:lnTo>
                  <a:pt x="4178246" y="0"/>
                </a:lnTo>
                <a:lnTo>
                  <a:pt x="4178246" y="4949228"/>
                </a:lnTo>
                <a:lnTo>
                  <a:pt x="0" y="4949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2133494" y="9346073"/>
            <a:ext cx="2298805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5"/>
              </a:lnSpc>
            </a:pPr>
            <a:r>
              <a:rPr lang="en-US" sz="4332" b="1" dirty="0" err="1">
                <a:solidFill>
                  <a:srgbClr val="37343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4332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4332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158622" y="9496373"/>
            <a:ext cx="479450" cy="411747"/>
          </a:xfrm>
          <a:custGeom>
            <a:avLst/>
            <a:gdLst/>
            <a:ahLst/>
            <a:cxnLst/>
            <a:rect l="l" t="t" r="r" b="b"/>
            <a:pathLst>
              <a:path w="479450" h="411747">
                <a:moveTo>
                  <a:pt x="0" y="0"/>
                </a:moveTo>
                <a:lnTo>
                  <a:pt x="479451" y="0"/>
                </a:lnTo>
                <a:lnTo>
                  <a:pt x="479451" y="411747"/>
                </a:lnTo>
                <a:lnTo>
                  <a:pt x="0" y="411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2070100" y="9889835"/>
            <a:ext cx="2273677" cy="33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1400" spc="-23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7776" y="782193"/>
            <a:ext cx="2520801" cy="119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5"/>
              </a:lnSpc>
            </a:pPr>
            <a:r>
              <a:rPr lang="en-US" sz="4066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que é o QWORK?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3698" y="2108778"/>
            <a:ext cx="5264753" cy="152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815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O QWORK é uma Plataforma Técnica de Avaliação Psicossocial – NR-1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8041" y="3906593"/>
            <a:ext cx="4613862" cy="479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699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Avalia riscos psicossociais no ambiente de trabalho </a:t>
            </a:r>
          </a:p>
          <a:p>
            <a:pPr algn="l" rtl="1">
              <a:lnSpc>
                <a:spcPts val="3533"/>
              </a:lnSpc>
            </a:pPr>
            <a:endParaRPr lang="en-US" sz="2699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33"/>
              </a:lnSpc>
            </a:pPr>
            <a:r>
              <a:rPr lang="en-US" sz="2699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Utiliza questionários cientíﬁcos e estruturados </a:t>
            </a:r>
          </a:p>
          <a:p>
            <a:pPr algn="l" rtl="1">
              <a:lnSpc>
                <a:spcPts val="3533"/>
              </a:lnSpc>
            </a:pPr>
            <a:endParaRPr lang="en-US" sz="2699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33"/>
              </a:lnSpc>
            </a:pPr>
            <a:r>
              <a:rPr lang="en-US" sz="2699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Coleta dados diretos (trabalhador) e indiretos (organização) </a:t>
            </a:r>
          </a:p>
          <a:p>
            <a:pPr algn="l" rtl="1">
              <a:lnSpc>
                <a:spcPts val="3533"/>
              </a:lnSpc>
            </a:pPr>
            <a:endParaRPr lang="en-US" sz="2699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33"/>
              </a:lnSpc>
            </a:pPr>
            <a:r>
              <a:rPr lang="en-US" sz="2699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Realiza análise técnica alinhada à NR-1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34768"/>
            <a:ext cx="932469" cy="491766"/>
          </a:xfrm>
          <a:custGeom>
            <a:avLst/>
            <a:gdLst/>
            <a:ahLst/>
            <a:cxnLst/>
            <a:rect l="l" t="t" r="r" b="b"/>
            <a:pathLst>
              <a:path w="932469" h="491766">
                <a:moveTo>
                  <a:pt x="0" y="0"/>
                </a:moveTo>
                <a:lnTo>
                  <a:pt x="932469" y="0"/>
                </a:lnTo>
                <a:lnTo>
                  <a:pt x="932469" y="491766"/>
                </a:lnTo>
                <a:lnTo>
                  <a:pt x="0" y="491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90331" y="2176520"/>
            <a:ext cx="234715" cy="189328"/>
          </a:xfrm>
          <a:custGeom>
            <a:avLst/>
            <a:gdLst/>
            <a:ahLst/>
            <a:cxnLst/>
            <a:rect l="l" t="t" r="r" b="b"/>
            <a:pathLst>
              <a:path w="234715" h="189328">
                <a:moveTo>
                  <a:pt x="0" y="0"/>
                </a:moveTo>
                <a:lnTo>
                  <a:pt x="234715" y="0"/>
                </a:lnTo>
                <a:lnTo>
                  <a:pt x="234715" y="189328"/>
                </a:lnTo>
                <a:lnTo>
                  <a:pt x="0" y="189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590331" y="3906422"/>
            <a:ext cx="234715" cy="189328"/>
          </a:xfrm>
          <a:custGeom>
            <a:avLst/>
            <a:gdLst/>
            <a:ahLst/>
            <a:cxnLst/>
            <a:rect l="l" t="t" r="r" b="b"/>
            <a:pathLst>
              <a:path w="234715" h="189328">
                <a:moveTo>
                  <a:pt x="0" y="0"/>
                </a:moveTo>
                <a:lnTo>
                  <a:pt x="234715" y="0"/>
                </a:lnTo>
                <a:lnTo>
                  <a:pt x="234715" y="189328"/>
                </a:lnTo>
                <a:lnTo>
                  <a:pt x="0" y="189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90330" y="5583408"/>
            <a:ext cx="234715" cy="189328"/>
          </a:xfrm>
          <a:custGeom>
            <a:avLst/>
            <a:gdLst/>
            <a:ahLst/>
            <a:cxnLst/>
            <a:rect l="l" t="t" r="r" b="b"/>
            <a:pathLst>
              <a:path w="234715" h="189328">
                <a:moveTo>
                  <a:pt x="0" y="0"/>
                </a:moveTo>
                <a:lnTo>
                  <a:pt x="234715" y="0"/>
                </a:lnTo>
                <a:lnTo>
                  <a:pt x="234715" y="189329"/>
                </a:lnTo>
                <a:lnTo>
                  <a:pt x="0" y="189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590331" y="7716422"/>
            <a:ext cx="234715" cy="189328"/>
          </a:xfrm>
          <a:custGeom>
            <a:avLst/>
            <a:gdLst/>
            <a:ahLst/>
            <a:cxnLst/>
            <a:rect l="l" t="t" r="r" b="b"/>
            <a:pathLst>
              <a:path w="234715" h="189328">
                <a:moveTo>
                  <a:pt x="0" y="0"/>
                </a:moveTo>
                <a:lnTo>
                  <a:pt x="234715" y="0"/>
                </a:lnTo>
                <a:lnTo>
                  <a:pt x="234715" y="189328"/>
                </a:lnTo>
                <a:lnTo>
                  <a:pt x="0" y="189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-190" y="10409291"/>
            <a:ext cx="6120003" cy="391763"/>
          </a:xfrm>
          <a:custGeom>
            <a:avLst/>
            <a:gdLst/>
            <a:ahLst/>
            <a:cxnLst/>
            <a:rect l="l" t="t" r="r" b="b"/>
            <a:pathLst>
              <a:path w="6120003" h="391763">
                <a:moveTo>
                  <a:pt x="0" y="0"/>
                </a:moveTo>
                <a:lnTo>
                  <a:pt x="6120002" y="0"/>
                </a:lnTo>
                <a:lnTo>
                  <a:pt x="6120002" y="391764"/>
                </a:lnTo>
                <a:lnTo>
                  <a:pt x="0" y="391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112806" y="2112074"/>
            <a:ext cx="4482455" cy="704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Identiﬁcação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dos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fatores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698"/>
              </a:lnSpc>
            </a:pP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risco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psicossociais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698"/>
              </a:lnSpc>
            </a:pP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meio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questionários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cientíﬁcos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estruturados</a:t>
            </a:r>
            <a:endParaRPr lang="en-US" sz="2201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rtl="1">
              <a:lnSpc>
                <a:spcPts val="2698"/>
              </a:lnSpc>
            </a:pPr>
            <a:endParaRPr lang="en-US" sz="2201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98"/>
              </a:lnSpc>
            </a:pP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Questionários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cientíﬁcos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baseados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no COPSOQ,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referência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internacional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698"/>
              </a:lnSpc>
            </a:pP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avaliação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psicossocial</a:t>
            </a:r>
            <a:endParaRPr lang="en-US" sz="2201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rtl="1">
              <a:lnSpc>
                <a:spcPts val="2698"/>
              </a:lnSpc>
            </a:pPr>
            <a:endParaRPr lang="en-US" sz="2201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98"/>
              </a:lnSpc>
            </a:pP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Análise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técnica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conforme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698"/>
              </a:lnSpc>
            </a:pP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NR-1 / GRO</a:t>
            </a:r>
          </a:p>
          <a:p>
            <a:pPr algn="l" rtl="1">
              <a:lnSpc>
                <a:spcPts val="2698"/>
              </a:lnSpc>
            </a:pPr>
            <a:endParaRPr lang="en-US" sz="2201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98"/>
              </a:lnSpc>
            </a:pP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Classiﬁcação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objetiva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dos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r>
              <a:rPr lang="en-US" sz="2201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1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psicossociais</a:t>
            </a:r>
            <a:endParaRPr lang="en-US" sz="2201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860"/>
              </a:lnSpc>
            </a:pPr>
            <a:endParaRPr lang="en-US" sz="2333" b="1" dirty="0">
              <a:solidFill>
                <a:srgbClr val="FEFEF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860"/>
              </a:lnSpc>
            </a:pPr>
            <a:r>
              <a:rPr lang="en-US" sz="2333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Emissão</a:t>
            </a:r>
            <a:r>
              <a:rPr lang="en-US" sz="2333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do </a:t>
            </a:r>
            <a:r>
              <a:rPr lang="en-US" sz="2333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Laudo</a:t>
            </a:r>
            <a:r>
              <a:rPr lang="en-US" sz="2333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2333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Identiﬁcação</a:t>
            </a:r>
            <a:r>
              <a:rPr lang="en-US" sz="2333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333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eMapeamento</a:t>
            </a:r>
            <a:r>
              <a:rPr lang="en-US" sz="2333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2333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Riscos</a:t>
            </a:r>
            <a:r>
              <a:rPr lang="en-US" sz="2333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333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Psicossociais</a:t>
            </a:r>
            <a:r>
              <a:rPr lang="en-US" sz="2333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(NR-1 /GRO)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0968" y="804072"/>
            <a:ext cx="4323559" cy="114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4066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que o QWORK entrega?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63B361C-DC2C-AA93-DB72-CE9813473F05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77420BC8-C7FA-0A52-9ED1-97D8CB74BE5B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3300638-3A04-F412-02D4-4E5BCE42C815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18" name="TextBox 13">
            <a:extLst>
              <a:ext uri="{FF2B5EF4-FFF2-40B4-BE49-F238E27FC236}">
                <a16:creationId xmlns:a16="http://schemas.microsoft.com/office/drawing/2014/main" id="{367B7174-CB90-C717-6130-20E0E438D649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94E6933E-2FA1-8CA5-D36B-EEAD74CF5AB3}"/>
              </a:ext>
            </a:extLst>
          </p:cNvPr>
          <p:cNvSpPr/>
          <p:nvPr/>
        </p:nvSpPr>
        <p:spPr>
          <a:xfrm>
            <a:off x="590331" y="6602583"/>
            <a:ext cx="234715" cy="189328"/>
          </a:xfrm>
          <a:custGeom>
            <a:avLst/>
            <a:gdLst/>
            <a:ahLst/>
            <a:cxnLst/>
            <a:rect l="l" t="t" r="r" b="b"/>
            <a:pathLst>
              <a:path w="234715" h="189328">
                <a:moveTo>
                  <a:pt x="0" y="0"/>
                </a:moveTo>
                <a:lnTo>
                  <a:pt x="234715" y="0"/>
                </a:lnTo>
                <a:lnTo>
                  <a:pt x="234715" y="189329"/>
                </a:lnTo>
                <a:lnTo>
                  <a:pt x="0" y="189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" y="10409291"/>
            <a:ext cx="6120003" cy="391763"/>
          </a:xfrm>
          <a:custGeom>
            <a:avLst/>
            <a:gdLst/>
            <a:ahLst/>
            <a:cxnLst/>
            <a:rect l="l" t="t" r="r" b="b"/>
            <a:pathLst>
              <a:path w="6120003" h="391763">
                <a:moveTo>
                  <a:pt x="0" y="0"/>
                </a:moveTo>
                <a:lnTo>
                  <a:pt x="6120002" y="0"/>
                </a:lnTo>
                <a:lnTo>
                  <a:pt x="6120002" y="391764"/>
                </a:lnTo>
                <a:lnTo>
                  <a:pt x="0" y="391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169279" y="1533773"/>
            <a:ext cx="3781063" cy="5341915"/>
            <a:chOff x="0" y="0"/>
            <a:chExt cx="5041417" cy="7122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1392" cy="7122541"/>
            </a:xfrm>
            <a:custGeom>
              <a:avLst/>
              <a:gdLst/>
              <a:ahLst/>
              <a:cxnLst/>
              <a:rect l="l" t="t" r="r" b="b"/>
              <a:pathLst>
                <a:path w="5041392" h="7122541">
                  <a:moveTo>
                    <a:pt x="0" y="0"/>
                  </a:moveTo>
                  <a:lnTo>
                    <a:pt x="5041392" y="0"/>
                  </a:lnTo>
                  <a:lnTo>
                    <a:pt x="5041392" y="7122541"/>
                  </a:lnTo>
                  <a:lnTo>
                    <a:pt x="0" y="7122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 rot="-531780">
            <a:off x="549964" y="4921158"/>
            <a:ext cx="2779643" cy="3926062"/>
            <a:chOff x="0" y="0"/>
            <a:chExt cx="3706190" cy="52347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06241" cy="5234686"/>
            </a:xfrm>
            <a:custGeom>
              <a:avLst/>
              <a:gdLst/>
              <a:ahLst/>
              <a:cxnLst/>
              <a:rect l="l" t="t" r="r" b="b"/>
              <a:pathLst>
                <a:path w="3706241" h="5234686">
                  <a:moveTo>
                    <a:pt x="3706241" y="1397"/>
                  </a:moveTo>
                  <a:lnTo>
                    <a:pt x="2032" y="0"/>
                  </a:lnTo>
                  <a:lnTo>
                    <a:pt x="0" y="5233289"/>
                  </a:lnTo>
                  <a:lnTo>
                    <a:pt x="3704209" y="5234686"/>
                  </a:lnTo>
                  <a:lnTo>
                    <a:pt x="3706241" y="1397"/>
                  </a:lnTo>
                  <a:close/>
                </a:path>
              </a:pathLst>
            </a:custGeom>
            <a:blipFill>
              <a:blip r:embed="rId4"/>
              <a:stretch>
                <a:fillRect r="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86061" y="4921682"/>
            <a:ext cx="2778166" cy="3925014"/>
            <a:chOff x="0" y="0"/>
            <a:chExt cx="3704222" cy="52333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4209" cy="5233289"/>
            </a:xfrm>
            <a:custGeom>
              <a:avLst/>
              <a:gdLst/>
              <a:ahLst/>
              <a:cxnLst/>
              <a:rect l="l" t="t" r="r" b="b"/>
              <a:pathLst>
                <a:path w="3704209" h="5233289">
                  <a:moveTo>
                    <a:pt x="0" y="0"/>
                  </a:moveTo>
                  <a:lnTo>
                    <a:pt x="3704209" y="0"/>
                  </a:lnTo>
                  <a:lnTo>
                    <a:pt x="3704209" y="5233289"/>
                  </a:lnTo>
                  <a:lnTo>
                    <a:pt x="0" y="5233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86061" y="8274825"/>
            <a:ext cx="2778166" cy="446503"/>
            <a:chOff x="0" y="0"/>
            <a:chExt cx="3704222" cy="5953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04209" cy="595376"/>
            </a:xfrm>
            <a:custGeom>
              <a:avLst/>
              <a:gdLst/>
              <a:ahLst/>
              <a:cxnLst/>
              <a:rect l="l" t="t" r="r" b="b"/>
              <a:pathLst>
                <a:path w="3704209" h="595376">
                  <a:moveTo>
                    <a:pt x="0" y="0"/>
                  </a:moveTo>
                  <a:lnTo>
                    <a:pt x="3704209" y="0"/>
                  </a:lnTo>
                  <a:lnTo>
                    <a:pt x="3704209" y="595376"/>
                  </a:lnTo>
                  <a:lnTo>
                    <a:pt x="0" y="595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11" b="-49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 rot="254760">
            <a:off x="2934367" y="4921425"/>
            <a:ext cx="2778881" cy="3925519"/>
            <a:chOff x="0" y="0"/>
            <a:chExt cx="3705174" cy="52340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05225" cy="5234051"/>
            </a:xfrm>
            <a:custGeom>
              <a:avLst/>
              <a:gdLst/>
              <a:ahLst/>
              <a:cxnLst/>
              <a:rect l="l" t="t" r="r" b="b"/>
              <a:pathLst>
                <a:path w="3705225" h="5234051">
                  <a:moveTo>
                    <a:pt x="0" y="635"/>
                  </a:moveTo>
                  <a:lnTo>
                    <a:pt x="1016" y="5234051"/>
                  </a:lnTo>
                  <a:lnTo>
                    <a:pt x="3705225" y="5233416"/>
                  </a:lnTo>
                  <a:lnTo>
                    <a:pt x="3704209" y="0"/>
                  </a:lnTo>
                  <a:lnTo>
                    <a:pt x="0" y="635"/>
                  </a:lnTo>
                  <a:close/>
                </a:path>
              </a:pathLst>
            </a:custGeom>
            <a:blipFill>
              <a:blip r:embed="rId7"/>
              <a:stretch>
                <a:fillRect r="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95970" y="764629"/>
            <a:ext cx="3114866" cy="51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780" b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Laudo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14C4756F-B34E-59F2-C869-BD6789E8AD6A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9" name="Group 7">
            <a:extLst>
              <a:ext uri="{FF2B5EF4-FFF2-40B4-BE49-F238E27FC236}">
                <a16:creationId xmlns:a16="http://schemas.microsoft.com/office/drawing/2014/main" id="{67B3521C-052C-65C4-2E27-80C02659A903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F715915C-EBF6-B4ED-E768-F05948F04E5D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21" name="TextBox 13">
            <a:extLst>
              <a:ext uri="{FF2B5EF4-FFF2-40B4-BE49-F238E27FC236}">
                <a16:creationId xmlns:a16="http://schemas.microsoft.com/office/drawing/2014/main" id="{0D3A1097-FDE0-019E-E6AD-558DBCE5B746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0331" y="4248150"/>
            <a:ext cx="207721" cy="167554"/>
          </a:xfrm>
          <a:custGeom>
            <a:avLst/>
            <a:gdLst/>
            <a:ahLst/>
            <a:cxnLst/>
            <a:rect l="l" t="t" r="r" b="b"/>
            <a:pathLst>
              <a:path w="207721" h="167554">
                <a:moveTo>
                  <a:pt x="0" y="0"/>
                </a:moveTo>
                <a:lnTo>
                  <a:pt x="207721" y="0"/>
                </a:lnTo>
                <a:lnTo>
                  <a:pt x="207721" y="167554"/>
                </a:lnTo>
                <a:lnTo>
                  <a:pt x="0" y="167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90331" y="5086350"/>
            <a:ext cx="207721" cy="167554"/>
          </a:xfrm>
          <a:custGeom>
            <a:avLst/>
            <a:gdLst/>
            <a:ahLst/>
            <a:cxnLst/>
            <a:rect l="l" t="t" r="r" b="b"/>
            <a:pathLst>
              <a:path w="207721" h="167554">
                <a:moveTo>
                  <a:pt x="0" y="0"/>
                </a:moveTo>
                <a:lnTo>
                  <a:pt x="207721" y="0"/>
                </a:lnTo>
                <a:lnTo>
                  <a:pt x="207721" y="167554"/>
                </a:lnTo>
                <a:lnTo>
                  <a:pt x="0" y="167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590331" y="5982300"/>
            <a:ext cx="207721" cy="167554"/>
          </a:xfrm>
          <a:custGeom>
            <a:avLst/>
            <a:gdLst/>
            <a:ahLst/>
            <a:cxnLst/>
            <a:rect l="l" t="t" r="r" b="b"/>
            <a:pathLst>
              <a:path w="207721" h="167554">
                <a:moveTo>
                  <a:pt x="0" y="0"/>
                </a:moveTo>
                <a:lnTo>
                  <a:pt x="207721" y="0"/>
                </a:lnTo>
                <a:lnTo>
                  <a:pt x="207721" y="167554"/>
                </a:lnTo>
                <a:lnTo>
                  <a:pt x="0" y="167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90331" y="6823796"/>
            <a:ext cx="207721" cy="167554"/>
          </a:xfrm>
          <a:custGeom>
            <a:avLst/>
            <a:gdLst/>
            <a:ahLst/>
            <a:cxnLst/>
            <a:rect l="l" t="t" r="r" b="b"/>
            <a:pathLst>
              <a:path w="207721" h="167554">
                <a:moveTo>
                  <a:pt x="0" y="0"/>
                </a:moveTo>
                <a:lnTo>
                  <a:pt x="207721" y="0"/>
                </a:lnTo>
                <a:lnTo>
                  <a:pt x="207721" y="167554"/>
                </a:lnTo>
                <a:lnTo>
                  <a:pt x="0" y="167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590331" y="7585796"/>
            <a:ext cx="207721" cy="167554"/>
          </a:xfrm>
          <a:custGeom>
            <a:avLst/>
            <a:gdLst/>
            <a:ahLst/>
            <a:cxnLst/>
            <a:rect l="l" t="t" r="r" b="b"/>
            <a:pathLst>
              <a:path w="207721" h="167554">
                <a:moveTo>
                  <a:pt x="0" y="0"/>
                </a:moveTo>
                <a:lnTo>
                  <a:pt x="207721" y="0"/>
                </a:lnTo>
                <a:lnTo>
                  <a:pt x="207721" y="167554"/>
                </a:lnTo>
                <a:lnTo>
                  <a:pt x="0" y="167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590331" y="8500196"/>
            <a:ext cx="207721" cy="167554"/>
          </a:xfrm>
          <a:custGeom>
            <a:avLst/>
            <a:gdLst/>
            <a:ahLst/>
            <a:cxnLst/>
            <a:rect l="l" t="t" r="r" b="b"/>
            <a:pathLst>
              <a:path w="207721" h="167554">
                <a:moveTo>
                  <a:pt x="0" y="0"/>
                </a:moveTo>
                <a:lnTo>
                  <a:pt x="207721" y="0"/>
                </a:lnTo>
                <a:lnTo>
                  <a:pt x="207721" y="167554"/>
                </a:lnTo>
                <a:lnTo>
                  <a:pt x="0" y="167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-190" y="10409291"/>
            <a:ext cx="6120003" cy="391763"/>
          </a:xfrm>
          <a:custGeom>
            <a:avLst/>
            <a:gdLst/>
            <a:ahLst/>
            <a:cxnLst/>
            <a:rect l="l" t="t" r="r" b="b"/>
            <a:pathLst>
              <a:path w="6120003" h="391763">
                <a:moveTo>
                  <a:pt x="0" y="0"/>
                </a:moveTo>
                <a:lnTo>
                  <a:pt x="6120002" y="0"/>
                </a:lnTo>
                <a:lnTo>
                  <a:pt x="6120002" y="391764"/>
                </a:lnTo>
                <a:lnTo>
                  <a:pt x="0" y="391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578434" y="514350"/>
            <a:ext cx="5266620" cy="353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3"/>
              </a:lnSpc>
            </a:pPr>
            <a:r>
              <a:rPr lang="en-US" sz="28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Segurança</a:t>
            </a:r>
            <a:r>
              <a:rPr lang="en-US" sz="28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, </a:t>
            </a:r>
            <a:r>
              <a:rPr lang="en-US" sz="28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rastreabilidade</a:t>
            </a:r>
            <a:r>
              <a:rPr lang="en-US" sz="28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e </a:t>
            </a:r>
            <a:r>
              <a:rPr lang="en-US" sz="28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validade</a:t>
            </a:r>
            <a:r>
              <a:rPr lang="en-US" sz="28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28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em</a:t>
            </a:r>
            <a:r>
              <a:rPr lang="en-US" sz="28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28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cada</a:t>
            </a:r>
            <a:r>
              <a:rPr lang="en-US" sz="28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  <a:r>
              <a:rPr lang="en-US" sz="28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etapa</a:t>
            </a:r>
            <a:r>
              <a:rPr lang="en-US" sz="2800" b="1" dirty="0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dos dados</a:t>
            </a:r>
          </a:p>
          <a:p>
            <a:pPr algn="l">
              <a:lnSpc>
                <a:spcPts val="2607"/>
              </a:lnSpc>
            </a:pP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Cada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informação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gerada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607"/>
              </a:lnSpc>
            </a:pPr>
            <a:r>
              <a:rPr lang="en-US" sz="2127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QWork</a:t>
            </a:r>
            <a:r>
              <a:rPr lang="en-US" sz="2127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é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protegida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um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cadeia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custódia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com hash,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garantindo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autenticidade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impossibilidade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alteração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607"/>
              </a:lnSpc>
            </a:pP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sem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7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rastreio</a:t>
            </a:r>
            <a:r>
              <a:rPr lang="en-US" sz="2127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255" y="4248150"/>
            <a:ext cx="4803124" cy="416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Registro de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todas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etapas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cadeia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custódia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estruturada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 rtl="1">
              <a:lnSpc>
                <a:spcPts val="2212"/>
              </a:lnSpc>
            </a:pPr>
            <a:endParaRPr lang="en-US" sz="1800" b="1" dirty="0">
              <a:solidFill>
                <a:srgbClr val="FEFEF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212"/>
              </a:lnSpc>
            </a:pP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Geração de 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hash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único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dado/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laudo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 rtl="1">
              <a:lnSpc>
                <a:spcPts val="2212"/>
              </a:lnSpc>
            </a:pPr>
            <a:endParaRPr lang="en-US" sz="1800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12"/>
              </a:lnSpc>
            </a:pP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integridade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qualquer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alteração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é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identiﬁcável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 rtl="1">
              <a:lnSpc>
                <a:spcPts val="2212"/>
              </a:lnSpc>
            </a:pPr>
            <a:endParaRPr lang="en-US" sz="1800" b="1" dirty="0">
              <a:solidFill>
                <a:srgbClr val="FEFEF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212"/>
              </a:lnSpc>
            </a:pP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Comprovação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autenticidade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e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originalidade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das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informações</a:t>
            </a:r>
            <a:endParaRPr lang="en-US" sz="1800" b="1" dirty="0">
              <a:solidFill>
                <a:srgbClr val="FEFEF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 rtl="1">
              <a:lnSpc>
                <a:spcPts val="2212"/>
              </a:lnSpc>
            </a:pPr>
            <a:endParaRPr lang="en-US" sz="1800" b="1" dirty="0">
              <a:solidFill>
                <a:srgbClr val="FEFEF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212"/>
              </a:lnSpc>
            </a:pP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Segurança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reforçada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auditorias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,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perícias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e </a:t>
            </a:r>
            <a:r>
              <a:rPr lang="en-US" sz="1800" b="1" dirty="0" err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ﬁscalizações</a:t>
            </a:r>
            <a:r>
              <a:rPr lang="en-US" sz="18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 rtl="1">
              <a:lnSpc>
                <a:spcPts val="2212"/>
              </a:lnSpc>
            </a:pPr>
            <a:endParaRPr lang="en-US" sz="1800" b="1" dirty="0">
              <a:solidFill>
                <a:srgbClr val="FEFEF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212"/>
              </a:lnSpc>
            </a:pP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Maior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respaldo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jurídico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empresas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clínicas</a:t>
            </a:r>
            <a:r>
              <a:rPr lang="en-US" sz="1800" dirty="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ocupacionais</a:t>
            </a:r>
            <a:endParaRPr lang="en-US" sz="1800" dirty="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298B256-91BE-4D69-768B-6D844400AE01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D5BC3B05-A6C7-C61F-04D8-688E372DDE53}"/>
              </a:ext>
            </a:extLst>
          </p:cNvPr>
          <p:cNvGrpSpPr/>
          <p:nvPr/>
        </p:nvGrpSpPr>
        <p:grpSpPr>
          <a:xfrm>
            <a:off x="1878281" y="9185729"/>
            <a:ext cx="496619" cy="417923"/>
            <a:chOff x="-403989" y="-321124"/>
            <a:chExt cx="3239878" cy="261750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3D9DDE61-CBA6-BC17-C9C4-70F8DDC0CD74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18" name="TextBox 13">
            <a:extLst>
              <a:ext uri="{FF2B5EF4-FFF2-40B4-BE49-F238E27FC236}">
                <a16:creationId xmlns:a16="http://schemas.microsoft.com/office/drawing/2014/main" id="{36E8FF25-4456-26DD-B52F-5AE7347A1B88}"/>
              </a:ext>
            </a:extLst>
          </p:cNvPr>
          <p:cNvSpPr txBox="1"/>
          <p:nvPr/>
        </p:nvSpPr>
        <p:spPr>
          <a:xfrm>
            <a:off x="1792515" y="96638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" y="10409291"/>
            <a:ext cx="6120003" cy="391763"/>
          </a:xfrm>
          <a:custGeom>
            <a:avLst/>
            <a:gdLst/>
            <a:ahLst/>
            <a:cxnLst/>
            <a:rect l="l" t="t" r="r" b="b"/>
            <a:pathLst>
              <a:path w="6120003" h="391763">
                <a:moveTo>
                  <a:pt x="0" y="0"/>
                </a:moveTo>
                <a:lnTo>
                  <a:pt x="6120002" y="0"/>
                </a:lnTo>
                <a:lnTo>
                  <a:pt x="6120002" y="391764"/>
                </a:lnTo>
                <a:lnTo>
                  <a:pt x="0" y="391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75053" y="1527048"/>
            <a:ext cx="4969507" cy="7028297"/>
            <a:chOff x="0" y="0"/>
            <a:chExt cx="6626009" cy="93710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5971" cy="9371076"/>
            </a:xfrm>
            <a:custGeom>
              <a:avLst/>
              <a:gdLst/>
              <a:ahLst/>
              <a:cxnLst/>
              <a:rect l="l" t="t" r="r" b="b"/>
              <a:pathLst>
                <a:path w="6625971" h="9371076">
                  <a:moveTo>
                    <a:pt x="0" y="0"/>
                  </a:moveTo>
                  <a:lnTo>
                    <a:pt x="6625971" y="0"/>
                  </a:lnTo>
                  <a:lnTo>
                    <a:pt x="6625971" y="9371076"/>
                  </a:lnTo>
                  <a:lnTo>
                    <a:pt x="0" y="9371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" t="-20" r="-6" b="-2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95970" y="764629"/>
            <a:ext cx="5083854" cy="51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780" b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Cadeia de Custódia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C656B8E-2F25-DAF3-3127-ECE8A48C33A0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C462B231-5F7A-2CB9-BB53-F5C8B528FA22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385B7F46-3F18-FF25-6F4E-B9FE770CB737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61F7D19E-ECAE-857A-F3E2-AF3358C74A6F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409291"/>
            <a:ext cx="6119812" cy="390706"/>
          </a:xfrm>
          <a:custGeom>
            <a:avLst/>
            <a:gdLst/>
            <a:ahLst/>
            <a:cxnLst/>
            <a:rect l="l" t="t" r="r" b="b"/>
            <a:pathLst>
              <a:path w="6119812" h="390706">
                <a:moveTo>
                  <a:pt x="0" y="0"/>
                </a:moveTo>
                <a:lnTo>
                  <a:pt x="6119812" y="0"/>
                </a:lnTo>
                <a:lnTo>
                  <a:pt x="6119812" y="390706"/>
                </a:lnTo>
                <a:lnTo>
                  <a:pt x="0" y="390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60280" y="2235203"/>
            <a:ext cx="5024476" cy="5817089"/>
          </a:xfrm>
          <a:custGeom>
            <a:avLst/>
            <a:gdLst/>
            <a:ahLst/>
            <a:cxnLst/>
            <a:rect l="l" t="t" r="r" b="b"/>
            <a:pathLst>
              <a:path w="5024476" h="5817089">
                <a:moveTo>
                  <a:pt x="0" y="0"/>
                </a:moveTo>
                <a:lnTo>
                  <a:pt x="5024475" y="0"/>
                </a:lnTo>
                <a:lnTo>
                  <a:pt x="5024475" y="5817089"/>
                </a:lnTo>
                <a:lnTo>
                  <a:pt x="0" y="5817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640766" y="3208258"/>
            <a:ext cx="5050507" cy="426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</a:pPr>
            <a:r>
              <a:rPr lang="en-US" sz="4250" b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QWORK não é um </a:t>
            </a:r>
            <a:r>
              <a:rPr lang="en-US" sz="4250" b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questionário. </a:t>
            </a:r>
          </a:p>
          <a:p>
            <a:pPr algn="ctr">
              <a:lnSpc>
                <a:spcPts val="5206"/>
              </a:lnSpc>
            </a:pPr>
            <a:r>
              <a:rPr lang="en-US" sz="3534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É a ferramenta para cumprir a NR-1 com método, clareza e segurança jurídica.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4FC43AE-1BF9-6194-D6D8-004F2C94F987}"/>
              </a:ext>
            </a:extLst>
          </p:cNvPr>
          <p:cNvSpPr txBox="1"/>
          <p:nvPr/>
        </p:nvSpPr>
        <p:spPr>
          <a:xfrm>
            <a:off x="1792515" y="8775471"/>
            <a:ext cx="3401785" cy="115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54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54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54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02E63629-FE5B-FBFD-E72B-91C32160B76F}"/>
              </a:ext>
            </a:extLst>
          </p:cNvPr>
          <p:cNvGrpSpPr/>
          <p:nvPr/>
        </p:nvGrpSpPr>
        <p:grpSpPr>
          <a:xfrm>
            <a:off x="1878281" y="9109529"/>
            <a:ext cx="496619" cy="417923"/>
            <a:chOff x="-403989" y="-321124"/>
            <a:chExt cx="3239878" cy="2617506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113F9CCC-8078-8457-F03E-C4D55DE60AF4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 sz="1200"/>
            </a:p>
          </p:txBody>
        </p:sp>
      </p:grpSp>
      <p:sp>
        <p:nvSpPr>
          <p:cNvPr id="12" name="TextBox 13">
            <a:extLst>
              <a:ext uri="{FF2B5EF4-FFF2-40B4-BE49-F238E27FC236}">
                <a16:creationId xmlns:a16="http://schemas.microsoft.com/office/drawing/2014/main" id="{CDB0E105-C248-DF23-FCC9-CA5CB4425893}"/>
              </a:ext>
            </a:extLst>
          </p:cNvPr>
          <p:cNvSpPr txBox="1"/>
          <p:nvPr/>
        </p:nvSpPr>
        <p:spPr>
          <a:xfrm>
            <a:off x="1792515" y="9587649"/>
            <a:ext cx="2447966" cy="52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16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" y="1057"/>
            <a:ext cx="6120003" cy="10799997"/>
            <a:chOff x="0" y="0"/>
            <a:chExt cx="6120003" cy="10800004"/>
          </a:xfrm>
        </p:grpSpPr>
        <p:sp>
          <p:nvSpPr>
            <p:cNvPr id="3" name="Freeform 3"/>
            <p:cNvSpPr/>
            <p:nvPr/>
          </p:nvSpPr>
          <p:spPr>
            <a:xfrm>
              <a:off x="127" y="0"/>
              <a:ext cx="6119880" cy="10798941"/>
            </a:xfrm>
            <a:custGeom>
              <a:avLst/>
              <a:gdLst/>
              <a:ahLst/>
              <a:cxnLst/>
              <a:rect l="l" t="t" r="r" b="b"/>
              <a:pathLst>
                <a:path w="6119880" h="10798941">
                  <a:moveTo>
                    <a:pt x="6116324" y="3556"/>
                  </a:moveTo>
                  <a:lnTo>
                    <a:pt x="6116324" y="10796401"/>
                  </a:lnTo>
                  <a:lnTo>
                    <a:pt x="3429" y="10796401"/>
                  </a:lnTo>
                  <a:lnTo>
                    <a:pt x="3429" y="3556"/>
                  </a:lnTo>
                  <a:close/>
                  <a:moveTo>
                    <a:pt x="0" y="0"/>
                  </a:moveTo>
                  <a:lnTo>
                    <a:pt x="0" y="10798941"/>
                  </a:lnTo>
                  <a:lnTo>
                    <a:pt x="6119880" y="10798941"/>
                  </a:lnTo>
                  <a:lnTo>
                    <a:pt x="6119880" y="0"/>
                  </a:lnTo>
                  <a:close/>
                </a:path>
              </a:pathLst>
            </a:custGeom>
            <a:solidFill>
              <a:srgbClr val="37343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57"/>
            <a:ext cx="6119812" cy="10798940"/>
            <a:chOff x="0" y="0"/>
            <a:chExt cx="8159750" cy="14398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59750" cy="14398625"/>
            </a:xfrm>
            <a:custGeom>
              <a:avLst/>
              <a:gdLst/>
              <a:ahLst/>
              <a:cxnLst/>
              <a:rect l="l" t="t" r="r" b="b"/>
              <a:pathLst>
                <a:path w="8159750" h="14398625">
                  <a:moveTo>
                    <a:pt x="0" y="0"/>
                  </a:moveTo>
                  <a:lnTo>
                    <a:pt x="8159750" y="0"/>
                  </a:lnTo>
                  <a:lnTo>
                    <a:pt x="8159750" y="14398625"/>
                  </a:lnTo>
                  <a:lnTo>
                    <a:pt x="0" y="1439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r="-37" b="-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-67294" y="-66046"/>
            <a:ext cx="6254201" cy="10934195"/>
          </a:xfrm>
          <a:custGeom>
            <a:avLst/>
            <a:gdLst/>
            <a:ahLst/>
            <a:cxnLst/>
            <a:rect l="l" t="t" r="r" b="b"/>
            <a:pathLst>
              <a:path w="6254201" h="10934195">
                <a:moveTo>
                  <a:pt x="0" y="0"/>
                </a:moveTo>
                <a:lnTo>
                  <a:pt x="6254201" y="0"/>
                </a:lnTo>
                <a:lnTo>
                  <a:pt x="6254201" y="10934195"/>
                </a:lnTo>
                <a:lnTo>
                  <a:pt x="0" y="10934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814330" y="3056915"/>
            <a:ext cx="4564370" cy="110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</a:pPr>
            <a:r>
              <a:rPr lang="en-US" sz="3972" b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Entre em contato agora mesmo: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AFC8772-5E54-E70B-84C2-D4445A8B5C44}"/>
              </a:ext>
            </a:extLst>
          </p:cNvPr>
          <p:cNvSpPr/>
          <p:nvPr/>
        </p:nvSpPr>
        <p:spPr>
          <a:xfrm>
            <a:off x="1231900" y="6762750"/>
            <a:ext cx="2286000" cy="1828800"/>
          </a:xfrm>
          <a:prstGeom prst="rect">
            <a:avLst/>
          </a:prstGeom>
          <a:solidFill>
            <a:srgbClr val="373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6D2C30F3-C4DE-0A40-A969-3F8BB59FA372}"/>
              </a:ext>
            </a:extLst>
          </p:cNvPr>
          <p:cNvSpPr txBox="1"/>
          <p:nvPr/>
        </p:nvSpPr>
        <p:spPr>
          <a:xfrm>
            <a:off x="1417071" y="6791291"/>
            <a:ext cx="3401785" cy="1220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7200" b="1" dirty="0" err="1">
                <a:solidFill>
                  <a:srgbClr val="A8CF4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Q</a:t>
            </a:r>
            <a:r>
              <a:rPr lang="en-US" sz="7200" b="1" dirty="0" err="1">
                <a:solidFill>
                  <a:srgbClr val="FEFEF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</a:t>
            </a:r>
            <a:endParaRPr lang="en-US" sz="7200" b="1" dirty="0">
              <a:solidFill>
                <a:srgbClr val="FEFEFE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7" name="Group 7">
            <a:extLst>
              <a:ext uri="{FF2B5EF4-FFF2-40B4-BE49-F238E27FC236}">
                <a16:creationId xmlns:a16="http://schemas.microsoft.com/office/drawing/2014/main" id="{4FCB36D2-2517-F237-D140-DF2175049A3F}"/>
              </a:ext>
            </a:extLst>
          </p:cNvPr>
          <p:cNvGrpSpPr/>
          <p:nvPr/>
        </p:nvGrpSpPr>
        <p:grpSpPr>
          <a:xfrm>
            <a:off x="1573481" y="7067550"/>
            <a:ext cx="496619" cy="417923"/>
            <a:chOff x="-403989" y="-321124"/>
            <a:chExt cx="3239878" cy="2617506"/>
          </a:xfrm>
        </p:grpSpPr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561CF3CF-0D81-0580-FFCE-333FFF2032DE}"/>
                </a:ext>
              </a:extLst>
            </p:cNvPr>
            <p:cNvSpPr/>
            <p:nvPr/>
          </p:nvSpPr>
          <p:spPr>
            <a:xfrm>
              <a:off x="-403989" y="-321124"/>
              <a:ext cx="3239878" cy="2617506"/>
            </a:xfrm>
            <a:custGeom>
              <a:avLst/>
              <a:gdLst/>
              <a:ahLst/>
              <a:cxnLst/>
              <a:rect l="l" t="t" r="r" b="b"/>
              <a:pathLst>
                <a:path w="3239879" h="2617505">
                  <a:moveTo>
                    <a:pt x="1163786" y="1682364"/>
                  </a:moveTo>
                  <a:cubicBezTo>
                    <a:pt x="1134284" y="1667584"/>
                    <a:pt x="1000324" y="1520960"/>
                    <a:pt x="961208" y="1485846"/>
                  </a:cubicBezTo>
                  <a:cubicBezTo>
                    <a:pt x="809977" y="1350146"/>
                    <a:pt x="373452" y="979942"/>
                    <a:pt x="167687" y="1116668"/>
                  </a:cubicBezTo>
                  <a:cubicBezTo>
                    <a:pt x="49373" y="1195296"/>
                    <a:pt x="-41406" y="1433738"/>
                    <a:pt x="19491" y="1537446"/>
                  </a:cubicBezTo>
                  <a:cubicBezTo>
                    <a:pt x="46250" y="1583000"/>
                    <a:pt x="94929" y="1598571"/>
                    <a:pt x="137473" y="1624213"/>
                  </a:cubicBezTo>
                  <a:cubicBezTo>
                    <a:pt x="489212" y="1836404"/>
                    <a:pt x="786825" y="2212375"/>
                    <a:pt x="1039808" y="2529264"/>
                  </a:cubicBezTo>
                  <a:cubicBezTo>
                    <a:pt x="1068053" y="2564673"/>
                    <a:pt x="1098673" y="2603331"/>
                    <a:pt x="1158655" y="2614456"/>
                  </a:cubicBezTo>
                  <a:cubicBezTo>
                    <a:pt x="1288487" y="2638510"/>
                    <a:pt x="1330372" y="2514952"/>
                    <a:pt x="1371825" y="2429150"/>
                  </a:cubicBezTo>
                  <a:cubicBezTo>
                    <a:pt x="1506343" y="2150689"/>
                    <a:pt x="1775227" y="1665968"/>
                    <a:pt x="1963212" y="1404945"/>
                  </a:cubicBezTo>
                  <a:cubicBezTo>
                    <a:pt x="2235170" y="1027313"/>
                    <a:pt x="2387291" y="846046"/>
                    <a:pt x="2701553" y="534068"/>
                  </a:cubicBezTo>
                  <a:cubicBezTo>
                    <a:pt x="2808957" y="427452"/>
                    <a:pt x="3017884" y="250529"/>
                    <a:pt x="3134204" y="165604"/>
                  </a:cubicBezTo>
                  <a:cubicBezTo>
                    <a:pt x="3166944" y="141689"/>
                    <a:pt x="3220347" y="110156"/>
                    <a:pt x="3234610" y="67052"/>
                  </a:cubicBezTo>
                  <a:cubicBezTo>
                    <a:pt x="3262423" y="-17033"/>
                    <a:pt x="3173422" y="-4550"/>
                    <a:pt x="3124564" y="12125"/>
                  </a:cubicBezTo>
                  <a:cubicBezTo>
                    <a:pt x="2860189" y="102346"/>
                    <a:pt x="2557649" y="273070"/>
                    <a:pt x="2339107" y="432127"/>
                  </a:cubicBezTo>
                  <a:cubicBezTo>
                    <a:pt x="2251986" y="495550"/>
                    <a:pt x="2189209" y="545054"/>
                    <a:pt x="2111917" y="608783"/>
                  </a:cubicBezTo>
                  <a:cubicBezTo>
                    <a:pt x="1923525" y="764104"/>
                    <a:pt x="1669195" y="1022739"/>
                    <a:pt x="1511474" y="1220250"/>
                  </a:cubicBezTo>
                  <a:cubicBezTo>
                    <a:pt x="1407169" y="1350831"/>
                    <a:pt x="1306064" y="1483992"/>
                    <a:pt x="1212185" y="1625788"/>
                  </a:cubicBezTo>
                  <a:cubicBezTo>
                    <a:pt x="1187243" y="1663469"/>
                    <a:pt x="1189833" y="1670070"/>
                    <a:pt x="1163786" y="1682364"/>
                  </a:cubicBez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" name="TextBox 13">
            <a:extLst>
              <a:ext uri="{FF2B5EF4-FFF2-40B4-BE49-F238E27FC236}">
                <a16:creationId xmlns:a16="http://schemas.microsoft.com/office/drawing/2014/main" id="{420FAA0C-0A2D-91E3-FD82-097EB17464C4}"/>
              </a:ext>
            </a:extLst>
          </p:cNvPr>
          <p:cNvSpPr txBox="1"/>
          <p:nvPr/>
        </p:nvSpPr>
        <p:spPr>
          <a:xfrm>
            <a:off x="1264671" y="7745640"/>
            <a:ext cx="3777229" cy="541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2000" spc="-37" dirty="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AVALIE. PREVINA. PROTEJA.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491</Words>
  <Application>Microsoft Office PowerPoint</Application>
  <PresentationFormat>Personalizar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Poppins Ultra-Bold</vt:lpstr>
      <vt:lpstr>Poppins Bold</vt:lpstr>
      <vt:lpstr>Arial</vt:lpstr>
      <vt:lpstr>Open Sans 1</vt:lpstr>
      <vt:lpstr>Calibri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Pitch_QWork.pdf</dc:title>
  <dc:creator>Emmanuel Huergo</dc:creator>
  <cp:lastModifiedBy>Emmanuel Huergo</cp:lastModifiedBy>
  <cp:revision>2</cp:revision>
  <dcterms:created xsi:type="dcterms:W3CDTF">2006-08-16T00:00:00Z</dcterms:created>
  <dcterms:modified xsi:type="dcterms:W3CDTF">2026-07-12T15:51:32Z</dcterms:modified>
  <dc:identifier>DAHPL_eR2g4</dc:identifier>
</cp:coreProperties>
</file>