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Red Hat Display" panose="020B0604020202020204" charset="0"/>
      <p:regular r:id="rId12"/>
    </p:embeddedFont>
    <p:embeddedFont>
      <p:font typeface="Red Hat Display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svg"/><Relationship Id="rId7" Type="http://schemas.openxmlformats.org/officeDocument/2006/relationships/image" Target="../media/image1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-3172" y="-3172"/>
            <a:ext cx="18294353" cy="10293353"/>
            <a:chOff x="0" y="0"/>
            <a:chExt cx="24392471" cy="137244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92510" cy="13724510"/>
            </a:xfrm>
            <a:custGeom>
              <a:avLst/>
              <a:gdLst/>
              <a:ahLst/>
              <a:cxnLst/>
              <a:rect l="l" t="t" r="r" b="b"/>
              <a:pathLst>
                <a:path w="24392510" h="13724510">
                  <a:moveTo>
                    <a:pt x="0" y="0"/>
                  </a:moveTo>
                  <a:lnTo>
                    <a:pt x="24392510" y="0"/>
                  </a:lnTo>
                  <a:lnTo>
                    <a:pt x="24392510" y="13724510"/>
                  </a:lnTo>
                  <a:lnTo>
                    <a:pt x="0" y="13724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Freeform 6"/>
          <p:cNvSpPr/>
          <p:nvPr/>
        </p:nvSpPr>
        <p:spPr>
          <a:xfrm>
            <a:off x="-222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7" name="Group 7"/>
          <p:cNvGrpSpPr/>
          <p:nvPr/>
        </p:nvGrpSpPr>
        <p:grpSpPr>
          <a:xfrm>
            <a:off x="3363268" y="3432791"/>
            <a:ext cx="11556997" cy="3124200"/>
            <a:chOff x="0" y="0"/>
            <a:chExt cx="15409329" cy="4165600"/>
          </a:xfrm>
        </p:grpSpPr>
        <p:sp>
          <p:nvSpPr>
            <p:cNvPr id="8" name="Freeform 8"/>
            <p:cNvSpPr/>
            <p:nvPr/>
          </p:nvSpPr>
          <p:spPr>
            <a:xfrm>
              <a:off x="2121" y="0"/>
              <a:ext cx="15405100" cy="4165600"/>
            </a:xfrm>
            <a:custGeom>
              <a:avLst/>
              <a:gdLst/>
              <a:ahLst/>
              <a:cxnLst/>
              <a:rect l="l" t="t" r="r" b="b"/>
              <a:pathLst>
                <a:path w="15405100" h="4165600">
                  <a:moveTo>
                    <a:pt x="0" y="0"/>
                  </a:moveTo>
                  <a:lnTo>
                    <a:pt x="15405100" y="0"/>
                  </a:lnTo>
                  <a:lnTo>
                    <a:pt x="15405100" y="4165600"/>
                  </a:lnTo>
                  <a:lnTo>
                    <a:pt x="0" y="416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" r="-13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557609" y="6700571"/>
            <a:ext cx="7315991" cy="84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A8CF45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RISCOS PSICOSSOCIAIS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4324" y="0"/>
            <a:ext cx="6936219" cy="10287000"/>
          </a:xfrm>
          <a:custGeom>
            <a:avLst/>
            <a:gdLst/>
            <a:ahLst/>
            <a:cxnLst/>
            <a:rect l="l" t="t" r="r" b="b"/>
            <a:pathLst>
              <a:path w="6936219" h="10287000">
                <a:moveTo>
                  <a:pt x="0" y="0"/>
                </a:moveTo>
                <a:lnTo>
                  <a:pt x="6936219" y="0"/>
                </a:lnTo>
                <a:lnTo>
                  <a:pt x="693621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8794375" y="4745993"/>
            <a:ext cx="209550" cy="209550"/>
            <a:chOff x="0" y="0"/>
            <a:chExt cx="209550" cy="2095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9677" cy="209677"/>
            </a:xfrm>
            <a:custGeom>
              <a:avLst/>
              <a:gdLst/>
              <a:ahLst/>
              <a:cxnLst/>
              <a:rect l="l" t="t" r="r" b="b"/>
              <a:pathLst>
                <a:path w="209677" h="209677">
                  <a:moveTo>
                    <a:pt x="209550" y="104775"/>
                  </a:moveTo>
                  <a:cubicBezTo>
                    <a:pt x="209550" y="111633"/>
                    <a:pt x="208915" y="118491"/>
                    <a:pt x="207518" y="125222"/>
                  </a:cubicBezTo>
                  <a:cubicBezTo>
                    <a:pt x="206121" y="131953"/>
                    <a:pt x="204216" y="138557"/>
                    <a:pt x="201549" y="144907"/>
                  </a:cubicBezTo>
                  <a:cubicBezTo>
                    <a:pt x="198882" y="151257"/>
                    <a:pt x="195707" y="157353"/>
                    <a:pt x="191897" y="163068"/>
                  </a:cubicBezTo>
                  <a:cubicBezTo>
                    <a:pt x="188087" y="168783"/>
                    <a:pt x="183769" y="174117"/>
                    <a:pt x="178816" y="178943"/>
                  </a:cubicBezTo>
                  <a:cubicBezTo>
                    <a:pt x="173863" y="183769"/>
                    <a:pt x="168656" y="188214"/>
                    <a:pt x="162941" y="192024"/>
                  </a:cubicBezTo>
                  <a:cubicBezTo>
                    <a:pt x="157226" y="195834"/>
                    <a:pt x="151130" y="199136"/>
                    <a:pt x="144780" y="201676"/>
                  </a:cubicBezTo>
                  <a:cubicBezTo>
                    <a:pt x="138430" y="204216"/>
                    <a:pt x="131826" y="206248"/>
                    <a:pt x="125095" y="207645"/>
                  </a:cubicBezTo>
                  <a:cubicBezTo>
                    <a:pt x="118364" y="209042"/>
                    <a:pt x="111506" y="209677"/>
                    <a:pt x="104648" y="209677"/>
                  </a:cubicBezTo>
                  <a:cubicBezTo>
                    <a:pt x="97790" y="209677"/>
                    <a:pt x="90932" y="209042"/>
                    <a:pt x="84201" y="207645"/>
                  </a:cubicBezTo>
                  <a:cubicBezTo>
                    <a:pt x="77470" y="206248"/>
                    <a:pt x="70866" y="204343"/>
                    <a:pt x="64516" y="201676"/>
                  </a:cubicBezTo>
                  <a:cubicBezTo>
                    <a:pt x="58166" y="199009"/>
                    <a:pt x="52070" y="195834"/>
                    <a:pt x="46355" y="192024"/>
                  </a:cubicBezTo>
                  <a:cubicBezTo>
                    <a:pt x="40640" y="188214"/>
                    <a:pt x="35306" y="183896"/>
                    <a:pt x="30480" y="178943"/>
                  </a:cubicBezTo>
                  <a:cubicBezTo>
                    <a:pt x="25654" y="173990"/>
                    <a:pt x="21209" y="168783"/>
                    <a:pt x="17399" y="163068"/>
                  </a:cubicBezTo>
                  <a:cubicBezTo>
                    <a:pt x="13589" y="157353"/>
                    <a:pt x="10287" y="151257"/>
                    <a:pt x="7747" y="144907"/>
                  </a:cubicBezTo>
                  <a:cubicBezTo>
                    <a:pt x="5207" y="138557"/>
                    <a:pt x="3302" y="131953"/>
                    <a:pt x="2032" y="125222"/>
                  </a:cubicBezTo>
                  <a:cubicBezTo>
                    <a:pt x="762" y="118491"/>
                    <a:pt x="0" y="111633"/>
                    <a:pt x="0" y="104775"/>
                  </a:cubicBezTo>
                  <a:cubicBezTo>
                    <a:pt x="0" y="97917"/>
                    <a:pt x="635" y="91059"/>
                    <a:pt x="2032" y="84328"/>
                  </a:cubicBezTo>
                  <a:cubicBezTo>
                    <a:pt x="3429" y="77597"/>
                    <a:pt x="5334" y="70993"/>
                    <a:pt x="8001" y="64643"/>
                  </a:cubicBezTo>
                  <a:cubicBezTo>
                    <a:pt x="10668" y="58293"/>
                    <a:pt x="13843" y="52197"/>
                    <a:pt x="17653" y="46482"/>
                  </a:cubicBezTo>
                  <a:cubicBezTo>
                    <a:pt x="21463" y="40767"/>
                    <a:pt x="25781" y="35433"/>
                    <a:pt x="30734" y="30607"/>
                  </a:cubicBezTo>
                  <a:cubicBezTo>
                    <a:pt x="35687" y="25781"/>
                    <a:pt x="40894" y="21336"/>
                    <a:pt x="46609" y="17526"/>
                  </a:cubicBezTo>
                  <a:cubicBezTo>
                    <a:pt x="52324" y="13716"/>
                    <a:pt x="58293" y="10668"/>
                    <a:pt x="64643" y="8001"/>
                  </a:cubicBezTo>
                  <a:cubicBezTo>
                    <a:pt x="70993" y="5334"/>
                    <a:pt x="77597" y="3302"/>
                    <a:pt x="84328" y="2032"/>
                  </a:cubicBezTo>
                  <a:cubicBezTo>
                    <a:pt x="91059" y="762"/>
                    <a:pt x="97917" y="0"/>
                    <a:pt x="104775" y="0"/>
                  </a:cubicBezTo>
                  <a:cubicBezTo>
                    <a:pt x="111633" y="0"/>
                    <a:pt x="118491" y="635"/>
                    <a:pt x="125222" y="2032"/>
                  </a:cubicBezTo>
                  <a:cubicBezTo>
                    <a:pt x="131953" y="3429"/>
                    <a:pt x="138557" y="5334"/>
                    <a:pt x="144907" y="8001"/>
                  </a:cubicBezTo>
                  <a:cubicBezTo>
                    <a:pt x="151257" y="10668"/>
                    <a:pt x="157353" y="13843"/>
                    <a:pt x="163068" y="17653"/>
                  </a:cubicBezTo>
                  <a:cubicBezTo>
                    <a:pt x="168783" y="21463"/>
                    <a:pt x="174117" y="25781"/>
                    <a:pt x="178943" y="30734"/>
                  </a:cubicBezTo>
                  <a:cubicBezTo>
                    <a:pt x="183769" y="35687"/>
                    <a:pt x="188214" y="40894"/>
                    <a:pt x="192024" y="46609"/>
                  </a:cubicBezTo>
                  <a:cubicBezTo>
                    <a:pt x="195834" y="52324"/>
                    <a:pt x="199136" y="58420"/>
                    <a:pt x="201676" y="64770"/>
                  </a:cubicBezTo>
                  <a:cubicBezTo>
                    <a:pt x="204216" y="71120"/>
                    <a:pt x="206248" y="77724"/>
                    <a:pt x="207645" y="84455"/>
                  </a:cubicBezTo>
                  <a:cubicBezTo>
                    <a:pt x="209042" y="91186"/>
                    <a:pt x="209677" y="98044"/>
                    <a:pt x="209677" y="104902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794375" y="5798506"/>
            <a:ext cx="209550" cy="209550"/>
            <a:chOff x="0" y="0"/>
            <a:chExt cx="209550" cy="2095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9677" cy="209677"/>
            </a:xfrm>
            <a:custGeom>
              <a:avLst/>
              <a:gdLst/>
              <a:ahLst/>
              <a:cxnLst/>
              <a:rect l="l" t="t" r="r" b="b"/>
              <a:pathLst>
                <a:path w="209677" h="209677">
                  <a:moveTo>
                    <a:pt x="209550" y="104775"/>
                  </a:moveTo>
                  <a:cubicBezTo>
                    <a:pt x="209550" y="111633"/>
                    <a:pt x="208915" y="118491"/>
                    <a:pt x="207518" y="125222"/>
                  </a:cubicBezTo>
                  <a:cubicBezTo>
                    <a:pt x="206121" y="131953"/>
                    <a:pt x="204216" y="138557"/>
                    <a:pt x="201549" y="144907"/>
                  </a:cubicBezTo>
                  <a:cubicBezTo>
                    <a:pt x="198882" y="151257"/>
                    <a:pt x="195707" y="157353"/>
                    <a:pt x="191897" y="163068"/>
                  </a:cubicBezTo>
                  <a:cubicBezTo>
                    <a:pt x="188087" y="168783"/>
                    <a:pt x="183769" y="174117"/>
                    <a:pt x="178816" y="178943"/>
                  </a:cubicBezTo>
                  <a:cubicBezTo>
                    <a:pt x="173863" y="183769"/>
                    <a:pt x="168656" y="188087"/>
                    <a:pt x="162941" y="192024"/>
                  </a:cubicBezTo>
                  <a:cubicBezTo>
                    <a:pt x="157226" y="195961"/>
                    <a:pt x="151130" y="199136"/>
                    <a:pt x="144780" y="201676"/>
                  </a:cubicBezTo>
                  <a:cubicBezTo>
                    <a:pt x="138430" y="204216"/>
                    <a:pt x="131826" y="206248"/>
                    <a:pt x="125095" y="207645"/>
                  </a:cubicBezTo>
                  <a:cubicBezTo>
                    <a:pt x="118364" y="209042"/>
                    <a:pt x="111506" y="209677"/>
                    <a:pt x="104648" y="209677"/>
                  </a:cubicBezTo>
                  <a:cubicBezTo>
                    <a:pt x="97790" y="209677"/>
                    <a:pt x="90932" y="209042"/>
                    <a:pt x="84201" y="207645"/>
                  </a:cubicBezTo>
                  <a:cubicBezTo>
                    <a:pt x="77470" y="206248"/>
                    <a:pt x="70866" y="204343"/>
                    <a:pt x="64516" y="201676"/>
                  </a:cubicBezTo>
                  <a:cubicBezTo>
                    <a:pt x="58166" y="199009"/>
                    <a:pt x="52070" y="195834"/>
                    <a:pt x="46355" y="192024"/>
                  </a:cubicBezTo>
                  <a:cubicBezTo>
                    <a:pt x="40640" y="188214"/>
                    <a:pt x="35306" y="183896"/>
                    <a:pt x="30480" y="178943"/>
                  </a:cubicBezTo>
                  <a:cubicBezTo>
                    <a:pt x="25654" y="173990"/>
                    <a:pt x="21209" y="168783"/>
                    <a:pt x="17399" y="163068"/>
                  </a:cubicBezTo>
                  <a:cubicBezTo>
                    <a:pt x="13589" y="157353"/>
                    <a:pt x="10287" y="151257"/>
                    <a:pt x="7747" y="144907"/>
                  </a:cubicBezTo>
                  <a:cubicBezTo>
                    <a:pt x="5207" y="138557"/>
                    <a:pt x="3302" y="131953"/>
                    <a:pt x="2032" y="125222"/>
                  </a:cubicBezTo>
                  <a:cubicBezTo>
                    <a:pt x="762" y="118491"/>
                    <a:pt x="0" y="111633"/>
                    <a:pt x="0" y="104775"/>
                  </a:cubicBezTo>
                  <a:cubicBezTo>
                    <a:pt x="0" y="97917"/>
                    <a:pt x="635" y="91059"/>
                    <a:pt x="2032" y="84328"/>
                  </a:cubicBezTo>
                  <a:cubicBezTo>
                    <a:pt x="3429" y="77597"/>
                    <a:pt x="5334" y="70993"/>
                    <a:pt x="8001" y="64643"/>
                  </a:cubicBezTo>
                  <a:cubicBezTo>
                    <a:pt x="10668" y="58293"/>
                    <a:pt x="13843" y="52197"/>
                    <a:pt x="17653" y="46482"/>
                  </a:cubicBezTo>
                  <a:cubicBezTo>
                    <a:pt x="21463" y="40767"/>
                    <a:pt x="25781" y="35433"/>
                    <a:pt x="30734" y="30607"/>
                  </a:cubicBezTo>
                  <a:cubicBezTo>
                    <a:pt x="35687" y="25781"/>
                    <a:pt x="40894" y="21336"/>
                    <a:pt x="46609" y="17526"/>
                  </a:cubicBezTo>
                  <a:cubicBezTo>
                    <a:pt x="52324" y="13716"/>
                    <a:pt x="58293" y="10668"/>
                    <a:pt x="64643" y="8001"/>
                  </a:cubicBezTo>
                  <a:cubicBezTo>
                    <a:pt x="70993" y="5334"/>
                    <a:pt x="77597" y="3302"/>
                    <a:pt x="84328" y="2032"/>
                  </a:cubicBezTo>
                  <a:cubicBezTo>
                    <a:pt x="91059" y="762"/>
                    <a:pt x="97917" y="0"/>
                    <a:pt x="104775" y="0"/>
                  </a:cubicBezTo>
                  <a:cubicBezTo>
                    <a:pt x="111633" y="0"/>
                    <a:pt x="118491" y="635"/>
                    <a:pt x="125222" y="2032"/>
                  </a:cubicBezTo>
                  <a:cubicBezTo>
                    <a:pt x="131953" y="3429"/>
                    <a:pt x="138557" y="5334"/>
                    <a:pt x="144907" y="8001"/>
                  </a:cubicBezTo>
                  <a:cubicBezTo>
                    <a:pt x="151257" y="10668"/>
                    <a:pt x="157353" y="13843"/>
                    <a:pt x="163068" y="17653"/>
                  </a:cubicBezTo>
                  <a:cubicBezTo>
                    <a:pt x="168783" y="21463"/>
                    <a:pt x="174117" y="25781"/>
                    <a:pt x="178943" y="30734"/>
                  </a:cubicBezTo>
                  <a:cubicBezTo>
                    <a:pt x="183769" y="35687"/>
                    <a:pt x="188214" y="40894"/>
                    <a:pt x="192024" y="46609"/>
                  </a:cubicBezTo>
                  <a:cubicBezTo>
                    <a:pt x="195834" y="52324"/>
                    <a:pt x="199136" y="58420"/>
                    <a:pt x="201676" y="64770"/>
                  </a:cubicBezTo>
                  <a:cubicBezTo>
                    <a:pt x="204216" y="71120"/>
                    <a:pt x="206248" y="77724"/>
                    <a:pt x="207645" y="84455"/>
                  </a:cubicBezTo>
                  <a:cubicBezTo>
                    <a:pt x="209042" y="91186"/>
                    <a:pt x="209677" y="98044"/>
                    <a:pt x="209677" y="104902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794375" y="6370006"/>
            <a:ext cx="209550" cy="209550"/>
            <a:chOff x="0" y="0"/>
            <a:chExt cx="209550" cy="2095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9677" cy="209677"/>
            </a:xfrm>
            <a:custGeom>
              <a:avLst/>
              <a:gdLst/>
              <a:ahLst/>
              <a:cxnLst/>
              <a:rect l="l" t="t" r="r" b="b"/>
              <a:pathLst>
                <a:path w="209677" h="209677">
                  <a:moveTo>
                    <a:pt x="209550" y="104775"/>
                  </a:moveTo>
                  <a:cubicBezTo>
                    <a:pt x="209550" y="111633"/>
                    <a:pt x="208915" y="118491"/>
                    <a:pt x="207518" y="125222"/>
                  </a:cubicBezTo>
                  <a:cubicBezTo>
                    <a:pt x="206121" y="131953"/>
                    <a:pt x="204216" y="138557"/>
                    <a:pt x="201549" y="144907"/>
                  </a:cubicBezTo>
                  <a:cubicBezTo>
                    <a:pt x="198882" y="151257"/>
                    <a:pt x="195707" y="157353"/>
                    <a:pt x="191897" y="163068"/>
                  </a:cubicBezTo>
                  <a:cubicBezTo>
                    <a:pt x="188087" y="168783"/>
                    <a:pt x="183769" y="174117"/>
                    <a:pt x="178816" y="178943"/>
                  </a:cubicBezTo>
                  <a:cubicBezTo>
                    <a:pt x="173863" y="183769"/>
                    <a:pt x="168656" y="188087"/>
                    <a:pt x="162941" y="192024"/>
                  </a:cubicBezTo>
                  <a:cubicBezTo>
                    <a:pt x="157226" y="195961"/>
                    <a:pt x="151130" y="199136"/>
                    <a:pt x="144780" y="201676"/>
                  </a:cubicBezTo>
                  <a:cubicBezTo>
                    <a:pt x="138430" y="204216"/>
                    <a:pt x="131826" y="206248"/>
                    <a:pt x="125095" y="207645"/>
                  </a:cubicBezTo>
                  <a:cubicBezTo>
                    <a:pt x="118364" y="209042"/>
                    <a:pt x="111506" y="209677"/>
                    <a:pt x="104648" y="209677"/>
                  </a:cubicBezTo>
                  <a:cubicBezTo>
                    <a:pt x="97790" y="209677"/>
                    <a:pt x="90932" y="209042"/>
                    <a:pt x="84201" y="207645"/>
                  </a:cubicBezTo>
                  <a:cubicBezTo>
                    <a:pt x="77470" y="206248"/>
                    <a:pt x="70866" y="204343"/>
                    <a:pt x="64516" y="201676"/>
                  </a:cubicBezTo>
                  <a:cubicBezTo>
                    <a:pt x="58166" y="199009"/>
                    <a:pt x="52070" y="195834"/>
                    <a:pt x="46355" y="192024"/>
                  </a:cubicBezTo>
                  <a:cubicBezTo>
                    <a:pt x="40640" y="188214"/>
                    <a:pt x="35306" y="183896"/>
                    <a:pt x="30480" y="178943"/>
                  </a:cubicBezTo>
                  <a:cubicBezTo>
                    <a:pt x="25654" y="173990"/>
                    <a:pt x="21209" y="168783"/>
                    <a:pt x="17399" y="163068"/>
                  </a:cubicBezTo>
                  <a:cubicBezTo>
                    <a:pt x="13589" y="157353"/>
                    <a:pt x="10287" y="151257"/>
                    <a:pt x="7747" y="144907"/>
                  </a:cubicBezTo>
                  <a:cubicBezTo>
                    <a:pt x="5207" y="138557"/>
                    <a:pt x="3302" y="131953"/>
                    <a:pt x="2032" y="125222"/>
                  </a:cubicBezTo>
                  <a:cubicBezTo>
                    <a:pt x="762" y="118491"/>
                    <a:pt x="0" y="111633"/>
                    <a:pt x="0" y="104775"/>
                  </a:cubicBezTo>
                  <a:cubicBezTo>
                    <a:pt x="0" y="97917"/>
                    <a:pt x="635" y="91059"/>
                    <a:pt x="2032" y="84328"/>
                  </a:cubicBezTo>
                  <a:cubicBezTo>
                    <a:pt x="3429" y="77597"/>
                    <a:pt x="5334" y="70993"/>
                    <a:pt x="8001" y="64643"/>
                  </a:cubicBezTo>
                  <a:cubicBezTo>
                    <a:pt x="10668" y="58293"/>
                    <a:pt x="13843" y="52197"/>
                    <a:pt x="17653" y="46482"/>
                  </a:cubicBezTo>
                  <a:cubicBezTo>
                    <a:pt x="21463" y="40767"/>
                    <a:pt x="25781" y="35433"/>
                    <a:pt x="30734" y="30607"/>
                  </a:cubicBezTo>
                  <a:cubicBezTo>
                    <a:pt x="35687" y="25781"/>
                    <a:pt x="40894" y="21336"/>
                    <a:pt x="46609" y="17526"/>
                  </a:cubicBezTo>
                  <a:cubicBezTo>
                    <a:pt x="52324" y="13716"/>
                    <a:pt x="58293" y="10668"/>
                    <a:pt x="64643" y="8001"/>
                  </a:cubicBezTo>
                  <a:cubicBezTo>
                    <a:pt x="70993" y="5334"/>
                    <a:pt x="77597" y="3302"/>
                    <a:pt x="84328" y="2032"/>
                  </a:cubicBezTo>
                  <a:cubicBezTo>
                    <a:pt x="91059" y="762"/>
                    <a:pt x="97917" y="0"/>
                    <a:pt x="104775" y="0"/>
                  </a:cubicBezTo>
                  <a:cubicBezTo>
                    <a:pt x="111633" y="0"/>
                    <a:pt x="118491" y="635"/>
                    <a:pt x="125222" y="2032"/>
                  </a:cubicBezTo>
                  <a:cubicBezTo>
                    <a:pt x="131953" y="3429"/>
                    <a:pt x="138557" y="5334"/>
                    <a:pt x="144907" y="8001"/>
                  </a:cubicBezTo>
                  <a:cubicBezTo>
                    <a:pt x="151257" y="10668"/>
                    <a:pt x="157353" y="13843"/>
                    <a:pt x="163068" y="17653"/>
                  </a:cubicBezTo>
                  <a:cubicBezTo>
                    <a:pt x="168783" y="21463"/>
                    <a:pt x="174117" y="25781"/>
                    <a:pt x="178943" y="30734"/>
                  </a:cubicBezTo>
                  <a:cubicBezTo>
                    <a:pt x="183769" y="35687"/>
                    <a:pt x="188214" y="40894"/>
                    <a:pt x="192024" y="46609"/>
                  </a:cubicBezTo>
                  <a:cubicBezTo>
                    <a:pt x="195834" y="52324"/>
                    <a:pt x="199136" y="58420"/>
                    <a:pt x="201676" y="64770"/>
                  </a:cubicBezTo>
                  <a:cubicBezTo>
                    <a:pt x="204216" y="71120"/>
                    <a:pt x="206248" y="77724"/>
                    <a:pt x="207645" y="84455"/>
                  </a:cubicBezTo>
                  <a:cubicBezTo>
                    <a:pt x="209042" y="91186"/>
                    <a:pt x="209677" y="98044"/>
                    <a:pt x="209677" y="104902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794375" y="6974843"/>
            <a:ext cx="209550" cy="209550"/>
            <a:chOff x="0" y="0"/>
            <a:chExt cx="209550" cy="2095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9677" cy="209677"/>
            </a:xfrm>
            <a:custGeom>
              <a:avLst/>
              <a:gdLst/>
              <a:ahLst/>
              <a:cxnLst/>
              <a:rect l="l" t="t" r="r" b="b"/>
              <a:pathLst>
                <a:path w="209677" h="209677">
                  <a:moveTo>
                    <a:pt x="209550" y="104775"/>
                  </a:moveTo>
                  <a:cubicBezTo>
                    <a:pt x="209550" y="111633"/>
                    <a:pt x="208915" y="118491"/>
                    <a:pt x="207518" y="125222"/>
                  </a:cubicBezTo>
                  <a:cubicBezTo>
                    <a:pt x="206121" y="131953"/>
                    <a:pt x="204216" y="138557"/>
                    <a:pt x="201549" y="144907"/>
                  </a:cubicBezTo>
                  <a:cubicBezTo>
                    <a:pt x="198882" y="151257"/>
                    <a:pt x="195707" y="157353"/>
                    <a:pt x="191897" y="163068"/>
                  </a:cubicBezTo>
                  <a:cubicBezTo>
                    <a:pt x="188087" y="168783"/>
                    <a:pt x="183769" y="174117"/>
                    <a:pt x="178816" y="178943"/>
                  </a:cubicBezTo>
                  <a:cubicBezTo>
                    <a:pt x="173863" y="183769"/>
                    <a:pt x="168656" y="188087"/>
                    <a:pt x="162941" y="192024"/>
                  </a:cubicBezTo>
                  <a:cubicBezTo>
                    <a:pt x="157226" y="195961"/>
                    <a:pt x="151130" y="199136"/>
                    <a:pt x="144780" y="201676"/>
                  </a:cubicBezTo>
                  <a:cubicBezTo>
                    <a:pt x="138430" y="204216"/>
                    <a:pt x="131826" y="206248"/>
                    <a:pt x="125095" y="207645"/>
                  </a:cubicBezTo>
                  <a:cubicBezTo>
                    <a:pt x="118364" y="209042"/>
                    <a:pt x="111506" y="209677"/>
                    <a:pt x="104648" y="209677"/>
                  </a:cubicBezTo>
                  <a:cubicBezTo>
                    <a:pt x="97790" y="209677"/>
                    <a:pt x="90932" y="209042"/>
                    <a:pt x="84201" y="207645"/>
                  </a:cubicBezTo>
                  <a:cubicBezTo>
                    <a:pt x="77470" y="206248"/>
                    <a:pt x="70866" y="204343"/>
                    <a:pt x="64516" y="201676"/>
                  </a:cubicBezTo>
                  <a:cubicBezTo>
                    <a:pt x="58166" y="199009"/>
                    <a:pt x="52070" y="195834"/>
                    <a:pt x="46355" y="192024"/>
                  </a:cubicBezTo>
                  <a:cubicBezTo>
                    <a:pt x="40640" y="188214"/>
                    <a:pt x="35306" y="183896"/>
                    <a:pt x="30480" y="178943"/>
                  </a:cubicBezTo>
                  <a:cubicBezTo>
                    <a:pt x="25654" y="173990"/>
                    <a:pt x="21209" y="168783"/>
                    <a:pt x="17399" y="163068"/>
                  </a:cubicBezTo>
                  <a:cubicBezTo>
                    <a:pt x="13589" y="157353"/>
                    <a:pt x="10287" y="151257"/>
                    <a:pt x="7747" y="144907"/>
                  </a:cubicBezTo>
                  <a:cubicBezTo>
                    <a:pt x="5207" y="138557"/>
                    <a:pt x="3302" y="131953"/>
                    <a:pt x="2032" y="125222"/>
                  </a:cubicBezTo>
                  <a:cubicBezTo>
                    <a:pt x="762" y="118491"/>
                    <a:pt x="0" y="111633"/>
                    <a:pt x="0" y="104775"/>
                  </a:cubicBezTo>
                  <a:cubicBezTo>
                    <a:pt x="0" y="97917"/>
                    <a:pt x="635" y="91059"/>
                    <a:pt x="2032" y="84328"/>
                  </a:cubicBezTo>
                  <a:cubicBezTo>
                    <a:pt x="3429" y="77597"/>
                    <a:pt x="5334" y="70993"/>
                    <a:pt x="8001" y="64643"/>
                  </a:cubicBezTo>
                  <a:cubicBezTo>
                    <a:pt x="10668" y="58293"/>
                    <a:pt x="13843" y="52197"/>
                    <a:pt x="17653" y="46482"/>
                  </a:cubicBezTo>
                  <a:cubicBezTo>
                    <a:pt x="21463" y="40767"/>
                    <a:pt x="25781" y="35433"/>
                    <a:pt x="30734" y="30607"/>
                  </a:cubicBezTo>
                  <a:cubicBezTo>
                    <a:pt x="35687" y="25781"/>
                    <a:pt x="40894" y="21336"/>
                    <a:pt x="46609" y="17526"/>
                  </a:cubicBezTo>
                  <a:cubicBezTo>
                    <a:pt x="52324" y="13716"/>
                    <a:pt x="58293" y="10668"/>
                    <a:pt x="64643" y="8001"/>
                  </a:cubicBezTo>
                  <a:cubicBezTo>
                    <a:pt x="70993" y="5334"/>
                    <a:pt x="77597" y="3302"/>
                    <a:pt x="84328" y="2032"/>
                  </a:cubicBezTo>
                  <a:cubicBezTo>
                    <a:pt x="91059" y="762"/>
                    <a:pt x="97917" y="0"/>
                    <a:pt x="104775" y="0"/>
                  </a:cubicBezTo>
                  <a:cubicBezTo>
                    <a:pt x="111633" y="0"/>
                    <a:pt x="118491" y="635"/>
                    <a:pt x="125222" y="2032"/>
                  </a:cubicBezTo>
                  <a:cubicBezTo>
                    <a:pt x="131953" y="3429"/>
                    <a:pt x="138557" y="5334"/>
                    <a:pt x="144907" y="8001"/>
                  </a:cubicBezTo>
                  <a:cubicBezTo>
                    <a:pt x="151257" y="10668"/>
                    <a:pt x="157353" y="13843"/>
                    <a:pt x="163068" y="17653"/>
                  </a:cubicBezTo>
                  <a:cubicBezTo>
                    <a:pt x="168783" y="21463"/>
                    <a:pt x="174117" y="25781"/>
                    <a:pt x="178943" y="30734"/>
                  </a:cubicBezTo>
                  <a:cubicBezTo>
                    <a:pt x="183769" y="35687"/>
                    <a:pt x="188214" y="40894"/>
                    <a:pt x="192024" y="46609"/>
                  </a:cubicBezTo>
                  <a:cubicBezTo>
                    <a:pt x="195834" y="52324"/>
                    <a:pt x="199136" y="58420"/>
                    <a:pt x="201676" y="64770"/>
                  </a:cubicBezTo>
                  <a:cubicBezTo>
                    <a:pt x="204216" y="71120"/>
                    <a:pt x="206248" y="77724"/>
                    <a:pt x="207645" y="84455"/>
                  </a:cubicBezTo>
                  <a:cubicBezTo>
                    <a:pt x="209042" y="91186"/>
                    <a:pt x="209677" y="98044"/>
                    <a:pt x="209677" y="104902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232400" y="804320"/>
            <a:ext cx="8136226" cy="349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2"/>
              </a:lnSpc>
            </a:pPr>
            <a:r>
              <a:rPr lang="en-US" sz="48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NR-1 incluiu oficialmente os </a:t>
            </a:r>
            <a:r>
              <a:rPr lang="en-US" sz="48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riscos psicossociais </a:t>
            </a:r>
            <a:r>
              <a:rPr lang="en-US" sz="48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 GRO.</a:t>
            </a:r>
          </a:p>
          <a:p>
            <a:pPr algn="l" rtl="1">
              <a:lnSpc>
                <a:spcPts val="4502"/>
              </a:lnSpc>
            </a:pPr>
            <a:endParaRPr lang="en-US" sz="4800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502"/>
              </a:lnSpc>
            </a:pPr>
            <a:r>
              <a:rPr lang="en-US" sz="48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As empresas agora são responsáveis por identificar e prevenir fatores como: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68692" y="4555493"/>
            <a:ext cx="8315830" cy="3356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8"/>
              </a:lnSpc>
            </a:pPr>
            <a:r>
              <a:rPr lang="en-US" sz="47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Sobrecarga ou baixa demanda de trabalho</a:t>
            </a:r>
          </a:p>
          <a:p>
            <a:pPr algn="l">
              <a:lnSpc>
                <a:spcPts val="4408"/>
              </a:lnSpc>
            </a:pPr>
            <a:r>
              <a:rPr lang="en-US" sz="47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Assédio moral e sexual</a:t>
            </a:r>
          </a:p>
          <a:p>
            <a:pPr algn="l">
              <a:lnSpc>
                <a:spcPts val="4408"/>
              </a:lnSpc>
            </a:pPr>
            <a:r>
              <a:rPr lang="en-US" sz="47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Falta de apoio da liderança Baixo reconhecimento e excesso de competitividade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32400" y="8247231"/>
            <a:ext cx="8525380" cy="1207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2"/>
              </a:lnSpc>
            </a:pPr>
            <a:r>
              <a:rPr lang="en-US" sz="48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Não é tendência. É obrigação legal.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3377146"/>
            <a:ext cx="6371282" cy="3650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7"/>
              </a:lnSpc>
            </a:pPr>
            <a:r>
              <a:rPr lang="en-US" sz="6051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NR-1 mudou.</a:t>
            </a:r>
          </a:p>
          <a:p>
            <a:pPr algn="l" rtl="1">
              <a:lnSpc>
                <a:spcPts val="5627"/>
              </a:lnSpc>
            </a:pPr>
            <a:endParaRPr lang="en-US" sz="6051" b="1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  <a:p>
            <a:pPr algn="l">
              <a:lnSpc>
                <a:spcPts val="5627"/>
              </a:lnSpc>
            </a:pPr>
            <a:r>
              <a:rPr lang="en-US" sz="6051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Sua responsabilidade também.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2220049" y="918213"/>
            <a:ext cx="14195441" cy="1633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4"/>
              </a:lnSpc>
            </a:pPr>
            <a:r>
              <a:rPr lang="en-US" sz="9270" b="1">
                <a:solidFill>
                  <a:srgbClr val="A8CF45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Por que isso é urgente?</a:t>
            </a:r>
          </a:p>
          <a:p>
            <a:pPr algn="ctr">
              <a:lnSpc>
                <a:spcPts val="4351"/>
              </a:lnSpc>
            </a:pPr>
            <a:endParaRPr lang="en-US" sz="9270" b="1">
              <a:solidFill>
                <a:srgbClr val="A8CF45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344013" y="5194173"/>
            <a:ext cx="3671630" cy="2254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1"/>
              </a:lnSpc>
            </a:pPr>
            <a:r>
              <a:rPr lang="en-US" sz="4698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546 mil </a:t>
            </a:r>
            <a:r>
              <a:rPr lang="en-US" sz="4698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afastamentos por saúde mental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007245" y="5194173"/>
            <a:ext cx="3689899" cy="2254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1"/>
              </a:lnSpc>
            </a:pPr>
            <a:r>
              <a:rPr lang="en-US" sz="4698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Crescimento de 15% </a:t>
            </a:r>
            <a:r>
              <a:rPr lang="en-US" sz="4698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em relação ao ano anterior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6788" y="4927473"/>
            <a:ext cx="4106975" cy="3354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1"/>
              </a:lnSpc>
            </a:pPr>
            <a:r>
              <a:rPr lang="en-US" sz="4698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+ de 4</a:t>
            </a:r>
          </a:p>
          <a:p>
            <a:pPr algn="ctr">
              <a:lnSpc>
                <a:spcPts val="4351"/>
              </a:lnSpc>
            </a:pPr>
            <a:r>
              <a:rPr lang="en-US" sz="4698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milhões de</a:t>
            </a:r>
          </a:p>
          <a:p>
            <a:pPr algn="ctr">
              <a:lnSpc>
                <a:spcPts val="4351"/>
              </a:lnSpc>
            </a:pPr>
            <a:r>
              <a:rPr lang="en-US" sz="4698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afastamentos</a:t>
            </a:r>
          </a:p>
          <a:p>
            <a:pPr algn="ctr">
              <a:lnSpc>
                <a:spcPts val="4351"/>
              </a:lnSpc>
            </a:pPr>
            <a:r>
              <a:rPr lang="en-US" sz="4698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em um ano</a:t>
            </a:r>
          </a:p>
          <a:p>
            <a:pPr algn="ctr">
              <a:lnSpc>
                <a:spcPts val="4351"/>
              </a:lnSpc>
            </a:pPr>
            <a:r>
              <a:rPr lang="en-US" sz="4698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no Brasil</a:t>
            </a:r>
          </a:p>
          <a:p>
            <a:pPr algn="ctr">
              <a:lnSpc>
                <a:spcPts val="4351"/>
              </a:lnSpc>
            </a:pPr>
            <a:endParaRPr lang="en-US" sz="4698" b="1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816593" cy="2690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4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4000"/>
              </a:blip>
              <a:stretch>
                <a:fillRect l="-211" r="-21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8" name="Group 8"/>
          <p:cNvGrpSpPr/>
          <p:nvPr/>
        </p:nvGrpSpPr>
        <p:grpSpPr>
          <a:xfrm>
            <a:off x="1852489" y="4495524"/>
            <a:ext cx="735149" cy="1128065"/>
            <a:chOff x="0" y="0"/>
            <a:chExt cx="735140" cy="1128065"/>
          </a:xfrm>
        </p:grpSpPr>
        <p:sp>
          <p:nvSpPr>
            <p:cNvPr id="9" name="Freeform 9"/>
            <p:cNvSpPr/>
            <p:nvPr/>
          </p:nvSpPr>
          <p:spPr>
            <a:xfrm>
              <a:off x="88042" y="73057"/>
              <a:ext cx="569813" cy="981521"/>
            </a:xfrm>
            <a:custGeom>
              <a:avLst/>
              <a:gdLst/>
              <a:ahLst/>
              <a:cxnLst/>
              <a:rect l="l" t="t" r="r" b="b"/>
              <a:pathLst>
                <a:path w="569813" h="981521">
                  <a:moveTo>
                    <a:pt x="527903" y="389605"/>
                  </a:moveTo>
                  <a:cubicBezTo>
                    <a:pt x="583782" y="445485"/>
                    <a:pt x="583782" y="536036"/>
                    <a:pt x="527903" y="591789"/>
                  </a:cubicBezTo>
                  <a:lnTo>
                    <a:pt x="490692" y="629000"/>
                  </a:lnTo>
                  <a:lnTo>
                    <a:pt x="166972" y="952851"/>
                  </a:lnTo>
                  <a:cubicBezTo>
                    <a:pt x="128745" y="991078"/>
                    <a:pt x="66897" y="991078"/>
                    <a:pt x="28670" y="952851"/>
                  </a:cubicBezTo>
                  <a:cubicBezTo>
                    <a:pt x="-9557" y="914624"/>
                    <a:pt x="-9430" y="852775"/>
                    <a:pt x="28670" y="814547"/>
                  </a:cubicBezTo>
                  <a:lnTo>
                    <a:pt x="301464" y="541624"/>
                  </a:lnTo>
                  <a:cubicBezTo>
                    <a:pt x="329531" y="513557"/>
                    <a:pt x="329531" y="467964"/>
                    <a:pt x="301464" y="439897"/>
                  </a:cubicBezTo>
                  <a:lnTo>
                    <a:pt x="28670" y="166973"/>
                  </a:lnTo>
                  <a:cubicBezTo>
                    <a:pt x="-9557" y="128746"/>
                    <a:pt x="-9557" y="66897"/>
                    <a:pt x="28670" y="28670"/>
                  </a:cubicBezTo>
                  <a:cubicBezTo>
                    <a:pt x="66897" y="-9557"/>
                    <a:pt x="128745" y="-9557"/>
                    <a:pt x="166972" y="28670"/>
                  </a:cubicBezTo>
                  <a:lnTo>
                    <a:pt x="490692" y="352394"/>
                  </a:lnTo>
                  <a:lnTo>
                    <a:pt x="527903" y="389605"/>
                  </a:lnTo>
                  <a:lnTo>
                    <a:pt x="527903" y="3894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3626" y="347902"/>
              <a:ext cx="273714" cy="431678"/>
            </a:xfrm>
            <a:custGeom>
              <a:avLst/>
              <a:gdLst/>
              <a:ahLst/>
              <a:cxnLst/>
              <a:rect l="l" t="t" r="r" b="b"/>
              <a:pathLst>
                <a:path w="273714" h="431678">
                  <a:moveTo>
                    <a:pt x="261237" y="246078"/>
                  </a:moveTo>
                  <a:lnTo>
                    <a:pt x="91440" y="415877"/>
                  </a:lnTo>
                  <a:cubicBezTo>
                    <a:pt x="57785" y="449659"/>
                    <a:pt x="0" y="425656"/>
                    <a:pt x="0" y="378031"/>
                  </a:cubicBezTo>
                  <a:lnTo>
                    <a:pt x="0" y="53673"/>
                  </a:lnTo>
                  <a:cubicBezTo>
                    <a:pt x="0" y="5921"/>
                    <a:pt x="57658" y="-17955"/>
                    <a:pt x="91440" y="15827"/>
                  </a:cubicBezTo>
                  <a:lnTo>
                    <a:pt x="261237" y="185626"/>
                  </a:lnTo>
                  <a:cubicBezTo>
                    <a:pt x="277874" y="202263"/>
                    <a:pt x="277874" y="229314"/>
                    <a:pt x="261237" y="245951"/>
                  </a:cubicBezTo>
                  <a:close/>
                </a:path>
              </a:pathLst>
            </a:custGeom>
            <a:solidFill>
              <a:srgbClr val="A8CF4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63499" y="63500"/>
              <a:ext cx="608198" cy="1001016"/>
            </a:xfrm>
            <a:custGeom>
              <a:avLst/>
              <a:gdLst/>
              <a:ahLst/>
              <a:cxnLst/>
              <a:rect l="l" t="t" r="r" b="b"/>
              <a:pathLst>
                <a:path w="608198" h="1001016">
                  <a:moveTo>
                    <a:pt x="0" y="1001016"/>
                  </a:moveTo>
                  <a:lnTo>
                    <a:pt x="608198" y="1001016"/>
                  </a:lnTo>
                  <a:lnTo>
                    <a:pt x="6081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52489" y="5688816"/>
            <a:ext cx="735149" cy="1128065"/>
            <a:chOff x="0" y="0"/>
            <a:chExt cx="735140" cy="1128065"/>
          </a:xfrm>
        </p:grpSpPr>
        <p:sp>
          <p:nvSpPr>
            <p:cNvPr id="13" name="Freeform 13"/>
            <p:cNvSpPr/>
            <p:nvPr/>
          </p:nvSpPr>
          <p:spPr>
            <a:xfrm>
              <a:off x="88042" y="73057"/>
              <a:ext cx="569813" cy="981521"/>
            </a:xfrm>
            <a:custGeom>
              <a:avLst/>
              <a:gdLst/>
              <a:ahLst/>
              <a:cxnLst/>
              <a:rect l="l" t="t" r="r" b="b"/>
              <a:pathLst>
                <a:path w="569813" h="981521">
                  <a:moveTo>
                    <a:pt x="527903" y="389605"/>
                  </a:moveTo>
                  <a:cubicBezTo>
                    <a:pt x="583782" y="445485"/>
                    <a:pt x="583782" y="536036"/>
                    <a:pt x="527903" y="591789"/>
                  </a:cubicBezTo>
                  <a:lnTo>
                    <a:pt x="490692" y="629000"/>
                  </a:lnTo>
                  <a:lnTo>
                    <a:pt x="166972" y="952851"/>
                  </a:lnTo>
                  <a:cubicBezTo>
                    <a:pt x="128745" y="991078"/>
                    <a:pt x="66897" y="991078"/>
                    <a:pt x="28670" y="952851"/>
                  </a:cubicBezTo>
                  <a:cubicBezTo>
                    <a:pt x="-9557" y="914624"/>
                    <a:pt x="-9430" y="852775"/>
                    <a:pt x="28670" y="814547"/>
                  </a:cubicBezTo>
                  <a:lnTo>
                    <a:pt x="301464" y="541624"/>
                  </a:lnTo>
                  <a:cubicBezTo>
                    <a:pt x="329531" y="513557"/>
                    <a:pt x="329531" y="467964"/>
                    <a:pt x="301464" y="439897"/>
                  </a:cubicBezTo>
                  <a:lnTo>
                    <a:pt x="28670" y="166973"/>
                  </a:lnTo>
                  <a:cubicBezTo>
                    <a:pt x="-9557" y="128746"/>
                    <a:pt x="-9557" y="66897"/>
                    <a:pt x="28670" y="28670"/>
                  </a:cubicBezTo>
                  <a:cubicBezTo>
                    <a:pt x="66897" y="-9557"/>
                    <a:pt x="128745" y="-9557"/>
                    <a:pt x="166972" y="28670"/>
                  </a:cubicBezTo>
                  <a:lnTo>
                    <a:pt x="490692" y="352394"/>
                  </a:lnTo>
                  <a:lnTo>
                    <a:pt x="527903" y="389605"/>
                  </a:lnTo>
                  <a:lnTo>
                    <a:pt x="527903" y="3894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626" y="347902"/>
              <a:ext cx="273714" cy="431678"/>
            </a:xfrm>
            <a:custGeom>
              <a:avLst/>
              <a:gdLst/>
              <a:ahLst/>
              <a:cxnLst/>
              <a:rect l="l" t="t" r="r" b="b"/>
              <a:pathLst>
                <a:path w="273714" h="431678">
                  <a:moveTo>
                    <a:pt x="261237" y="246078"/>
                  </a:moveTo>
                  <a:lnTo>
                    <a:pt x="91440" y="415877"/>
                  </a:lnTo>
                  <a:cubicBezTo>
                    <a:pt x="57785" y="449659"/>
                    <a:pt x="0" y="425656"/>
                    <a:pt x="0" y="378031"/>
                  </a:cubicBezTo>
                  <a:lnTo>
                    <a:pt x="0" y="53673"/>
                  </a:lnTo>
                  <a:cubicBezTo>
                    <a:pt x="0" y="5921"/>
                    <a:pt x="57658" y="-17955"/>
                    <a:pt x="91440" y="15827"/>
                  </a:cubicBezTo>
                  <a:lnTo>
                    <a:pt x="261237" y="185626"/>
                  </a:lnTo>
                  <a:cubicBezTo>
                    <a:pt x="277874" y="202263"/>
                    <a:pt x="277874" y="229314"/>
                    <a:pt x="261237" y="245951"/>
                  </a:cubicBezTo>
                  <a:close/>
                </a:path>
              </a:pathLst>
            </a:custGeom>
            <a:solidFill>
              <a:srgbClr val="A8CF4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3499" y="63500"/>
              <a:ext cx="608198" cy="1001016"/>
            </a:xfrm>
            <a:custGeom>
              <a:avLst/>
              <a:gdLst/>
              <a:ahLst/>
              <a:cxnLst/>
              <a:rect l="l" t="t" r="r" b="b"/>
              <a:pathLst>
                <a:path w="608198" h="1001016">
                  <a:moveTo>
                    <a:pt x="0" y="1001016"/>
                  </a:moveTo>
                  <a:lnTo>
                    <a:pt x="608198" y="1001016"/>
                  </a:lnTo>
                  <a:lnTo>
                    <a:pt x="6081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852489" y="6880374"/>
            <a:ext cx="735149" cy="1128065"/>
            <a:chOff x="0" y="0"/>
            <a:chExt cx="735140" cy="1128065"/>
          </a:xfrm>
        </p:grpSpPr>
        <p:sp>
          <p:nvSpPr>
            <p:cNvPr id="17" name="Freeform 17"/>
            <p:cNvSpPr/>
            <p:nvPr/>
          </p:nvSpPr>
          <p:spPr>
            <a:xfrm>
              <a:off x="88042" y="73057"/>
              <a:ext cx="569813" cy="981521"/>
            </a:xfrm>
            <a:custGeom>
              <a:avLst/>
              <a:gdLst/>
              <a:ahLst/>
              <a:cxnLst/>
              <a:rect l="l" t="t" r="r" b="b"/>
              <a:pathLst>
                <a:path w="569813" h="981521">
                  <a:moveTo>
                    <a:pt x="527903" y="389605"/>
                  </a:moveTo>
                  <a:cubicBezTo>
                    <a:pt x="583782" y="445485"/>
                    <a:pt x="583782" y="536036"/>
                    <a:pt x="527903" y="591789"/>
                  </a:cubicBezTo>
                  <a:lnTo>
                    <a:pt x="490692" y="629000"/>
                  </a:lnTo>
                  <a:lnTo>
                    <a:pt x="166972" y="952851"/>
                  </a:lnTo>
                  <a:cubicBezTo>
                    <a:pt x="128745" y="991078"/>
                    <a:pt x="66897" y="991078"/>
                    <a:pt x="28670" y="952851"/>
                  </a:cubicBezTo>
                  <a:cubicBezTo>
                    <a:pt x="-9557" y="914624"/>
                    <a:pt x="-9430" y="852775"/>
                    <a:pt x="28670" y="814547"/>
                  </a:cubicBezTo>
                  <a:lnTo>
                    <a:pt x="301464" y="541624"/>
                  </a:lnTo>
                  <a:cubicBezTo>
                    <a:pt x="329531" y="513557"/>
                    <a:pt x="329531" y="467964"/>
                    <a:pt x="301464" y="439897"/>
                  </a:cubicBezTo>
                  <a:lnTo>
                    <a:pt x="28670" y="166973"/>
                  </a:lnTo>
                  <a:cubicBezTo>
                    <a:pt x="-9557" y="128746"/>
                    <a:pt x="-9557" y="66897"/>
                    <a:pt x="28670" y="28670"/>
                  </a:cubicBezTo>
                  <a:cubicBezTo>
                    <a:pt x="66897" y="-9557"/>
                    <a:pt x="128745" y="-9557"/>
                    <a:pt x="166972" y="28670"/>
                  </a:cubicBezTo>
                  <a:lnTo>
                    <a:pt x="490692" y="352394"/>
                  </a:lnTo>
                  <a:lnTo>
                    <a:pt x="527903" y="389605"/>
                  </a:lnTo>
                  <a:lnTo>
                    <a:pt x="527903" y="3894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63626" y="347902"/>
              <a:ext cx="273714" cy="431678"/>
            </a:xfrm>
            <a:custGeom>
              <a:avLst/>
              <a:gdLst/>
              <a:ahLst/>
              <a:cxnLst/>
              <a:rect l="l" t="t" r="r" b="b"/>
              <a:pathLst>
                <a:path w="273714" h="431678">
                  <a:moveTo>
                    <a:pt x="261237" y="246078"/>
                  </a:moveTo>
                  <a:lnTo>
                    <a:pt x="91440" y="415877"/>
                  </a:lnTo>
                  <a:cubicBezTo>
                    <a:pt x="57785" y="449659"/>
                    <a:pt x="0" y="425656"/>
                    <a:pt x="0" y="378031"/>
                  </a:cubicBezTo>
                  <a:lnTo>
                    <a:pt x="0" y="53673"/>
                  </a:lnTo>
                  <a:cubicBezTo>
                    <a:pt x="0" y="5921"/>
                    <a:pt x="57658" y="-17955"/>
                    <a:pt x="91440" y="15827"/>
                  </a:cubicBezTo>
                  <a:lnTo>
                    <a:pt x="261237" y="185626"/>
                  </a:lnTo>
                  <a:cubicBezTo>
                    <a:pt x="277874" y="202263"/>
                    <a:pt x="277874" y="229314"/>
                    <a:pt x="261237" y="245951"/>
                  </a:cubicBezTo>
                  <a:close/>
                </a:path>
              </a:pathLst>
            </a:custGeom>
            <a:solidFill>
              <a:srgbClr val="A8CF4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499" y="63500"/>
              <a:ext cx="608198" cy="1001016"/>
            </a:xfrm>
            <a:custGeom>
              <a:avLst/>
              <a:gdLst/>
              <a:ahLst/>
              <a:cxnLst/>
              <a:rect l="l" t="t" r="r" b="b"/>
              <a:pathLst>
                <a:path w="608198" h="1001016">
                  <a:moveTo>
                    <a:pt x="0" y="1001016"/>
                  </a:moveTo>
                  <a:lnTo>
                    <a:pt x="608198" y="1001016"/>
                  </a:lnTo>
                  <a:lnTo>
                    <a:pt x="6081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852489" y="8071942"/>
            <a:ext cx="735149" cy="1128065"/>
            <a:chOff x="0" y="0"/>
            <a:chExt cx="735140" cy="1128065"/>
          </a:xfrm>
        </p:grpSpPr>
        <p:sp>
          <p:nvSpPr>
            <p:cNvPr id="21" name="Freeform 21"/>
            <p:cNvSpPr/>
            <p:nvPr/>
          </p:nvSpPr>
          <p:spPr>
            <a:xfrm>
              <a:off x="88042" y="73057"/>
              <a:ext cx="569813" cy="981521"/>
            </a:xfrm>
            <a:custGeom>
              <a:avLst/>
              <a:gdLst/>
              <a:ahLst/>
              <a:cxnLst/>
              <a:rect l="l" t="t" r="r" b="b"/>
              <a:pathLst>
                <a:path w="569813" h="981521">
                  <a:moveTo>
                    <a:pt x="527903" y="389605"/>
                  </a:moveTo>
                  <a:cubicBezTo>
                    <a:pt x="583782" y="445485"/>
                    <a:pt x="583782" y="536036"/>
                    <a:pt x="527903" y="591789"/>
                  </a:cubicBezTo>
                  <a:lnTo>
                    <a:pt x="490692" y="629000"/>
                  </a:lnTo>
                  <a:lnTo>
                    <a:pt x="166972" y="952851"/>
                  </a:lnTo>
                  <a:cubicBezTo>
                    <a:pt x="128745" y="991078"/>
                    <a:pt x="66897" y="991078"/>
                    <a:pt x="28670" y="952851"/>
                  </a:cubicBezTo>
                  <a:cubicBezTo>
                    <a:pt x="-9557" y="914624"/>
                    <a:pt x="-9430" y="852775"/>
                    <a:pt x="28670" y="814547"/>
                  </a:cubicBezTo>
                  <a:lnTo>
                    <a:pt x="301464" y="541624"/>
                  </a:lnTo>
                  <a:cubicBezTo>
                    <a:pt x="329531" y="513557"/>
                    <a:pt x="329531" y="467964"/>
                    <a:pt x="301464" y="439897"/>
                  </a:cubicBezTo>
                  <a:lnTo>
                    <a:pt x="28670" y="166973"/>
                  </a:lnTo>
                  <a:cubicBezTo>
                    <a:pt x="-9557" y="128746"/>
                    <a:pt x="-9557" y="66897"/>
                    <a:pt x="28670" y="28670"/>
                  </a:cubicBezTo>
                  <a:cubicBezTo>
                    <a:pt x="66897" y="-9557"/>
                    <a:pt x="128745" y="-9557"/>
                    <a:pt x="166972" y="28670"/>
                  </a:cubicBezTo>
                  <a:lnTo>
                    <a:pt x="490692" y="352394"/>
                  </a:lnTo>
                  <a:lnTo>
                    <a:pt x="527903" y="389605"/>
                  </a:lnTo>
                  <a:lnTo>
                    <a:pt x="527903" y="3894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63626" y="347902"/>
              <a:ext cx="273714" cy="431678"/>
            </a:xfrm>
            <a:custGeom>
              <a:avLst/>
              <a:gdLst/>
              <a:ahLst/>
              <a:cxnLst/>
              <a:rect l="l" t="t" r="r" b="b"/>
              <a:pathLst>
                <a:path w="273714" h="431678">
                  <a:moveTo>
                    <a:pt x="261237" y="246078"/>
                  </a:moveTo>
                  <a:lnTo>
                    <a:pt x="91440" y="415877"/>
                  </a:lnTo>
                  <a:cubicBezTo>
                    <a:pt x="57785" y="449659"/>
                    <a:pt x="0" y="425656"/>
                    <a:pt x="0" y="378031"/>
                  </a:cubicBezTo>
                  <a:lnTo>
                    <a:pt x="0" y="53673"/>
                  </a:lnTo>
                  <a:cubicBezTo>
                    <a:pt x="0" y="5921"/>
                    <a:pt x="57658" y="-17955"/>
                    <a:pt x="91440" y="15827"/>
                  </a:cubicBezTo>
                  <a:lnTo>
                    <a:pt x="261237" y="185626"/>
                  </a:lnTo>
                  <a:cubicBezTo>
                    <a:pt x="277874" y="202263"/>
                    <a:pt x="277874" y="229314"/>
                    <a:pt x="261237" y="245951"/>
                  </a:cubicBezTo>
                  <a:close/>
                </a:path>
              </a:pathLst>
            </a:custGeom>
            <a:solidFill>
              <a:srgbClr val="A8CF4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63499" y="63500"/>
              <a:ext cx="608198" cy="1001016"/>
            </a:xfrm>
            <a:custGeom>
              <a:avLst/>
              <a:gdLst/>
              <a:ahLst/>
              <a:cxnLst/>
              <a:rect l="l" t="t" r="r" b="b"/>
              <a:pathLst>
                <a:path w="608198" h="1001016">
                  <a:moveTo>
                    <a:pt x="0" y="1001016"/>
                  </a:moveTo>
                  <a:lnTo>
                    <a:pt x="608198" y="1001016"/>
                  </a:lnTo>
                  <a:lnTo>
                    <a:pt x="6081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4" name="Freeform 24"/>
          <p:cNvSpPr/>
          <p:nvPr/>
        </p:nvSpPr>
        <p:spPr>
          <a:xfrm>
            <a:off x="11588496" y="3685032"/>
            <a:ext cx="4584192" cy="4355592"/>
          </a:xfrm>
          <a:custGeom>
            <a:avLst/>
            <a:gdLst/>
            <a:ahLst/>
            <a:cxnLst/>
            <a:rect l="l" t="t" r="r" b="b"/>
            <a:pathLst>
              <a:path w="4584192" h="4355592">
                <a:moveTo>
                  <a:pt x="0" y="0"/>
                </a:moveTo>
                <a:lnTo>
                  <a:pt x="4584192" y="0"/>
                </a:lnTo>
                <a:lnTo>
                  <a:pt x="4584192" y="4355592"/>
                </a:lnTo>
                <a:lnTo>
                  <a:pt x="0" y="4355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5" name="TextBox 25"/>
          <p:cNvSpPr txBox="1"/>
          <p:nvPr/>
        </p:nvSpPr>
        <p:spPr>
          <a:xfrm>
            <a:off x="1915992" y="1346597"/>
            <a:ext cx="14501193" cy="2315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95"/>
              </a:lnSpc>
            </a:pPr>
            <a:r>
              <a:rPr lang="en-US" sz="9270" b="1">
                <a:solidFill>
                  <a:srgbClr val="A8CF45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As empresas estão sendo pressionadas por:</a:t>
            </a:r>
          </a:p>
        </p:txBody>
      </p:sp>
      <p:sp>
        <p:nvSpPr>
          <p:cNvPr id="26" name="TextBox 26"/>
          <p:cNvSpPr txBox="1"/>
          <p:nvPr/>
        </p:nvSpPr>
        <p:spPr>
          <a:xfrm rot="355200">
            <a:off x="12515487" y="4767593"/>
            <a:ext cx="2784548" cy="2197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5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QUEM JÁ ATUA COM SST PRECISA ESTAR PREPARADO PARA ATENDER ESSA DEMANDA.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62396" y="4308853"/>
            <a:ext cx="10027091" cy="4669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87"/>
              </a:lnSpc>
            </a:pPr>
            <a:r>
              <a:rPr lang="en-US" sz="479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Fiscalizações</a:t>
            </a:r>
          </a:p>
          <a:p>
            <a:pPr algn="l">
              <a:lnSpc>
                <a:spcPts val="9387"/>
              </a:lnSpc>
            </a:pPr>
            <a:r>
              <a:rPr lang="en-US" sz="479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Jurídico</a:t>
            </a:r>
          </a:p>
          <a:p>
            <a:pPr algn="l">
              <a:lnSpc>
                <a:spcPts val="9387"/>
              </a:lnSpc>
            </a:pPr>
            <a:r>
              <a:rPr lang="en-US" sz="479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Auditorias</a:t>
            </a:r>
          </a:p>
          <a:p>
            <a:pPr algn="l">
              <a:lnSpc>
                <a:spcPts val="9387"/>
              </a:lnSpc>
            </a:pPr>
            <a:r>
              <a:rPr lang="en-US" sz="479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Exigências de conformidade no PGR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C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5197" y="5360260"/>
            <a:ext cx="446799" cy="653425"/>
            <a:chOff x="0" y="0"/>
            <a:chExt cx="446799" cy="653428"/>
          </a:xfrm>
        </p:grpSpPr>
        <p:sp>
          <p:nvSpPr>
            <p:cNvPr id="3" name="Freeform 3"/>
            <p:cNvSpPr/>
            <p:nvPr/>
          </p:nvSpPr>
          <p:spPr>
            <a:xfrm>
              <a:off x="76390" y="68469"/>
              <a:ext cx="299685" cy="515924"/>
            </a:xfrm>
            <a:custGeom>
              <a:avLst/>
              <a:gdLst/>
              <a:ahLst/>
              <a:cxnLst/>
              <a:rect l="l" t="t" r="r" b="b"/>
              <a:pathLst>
                <a:path w="299685" h="515924">
                  <a:moveTo>
                    <a:pt x="277683" y="204836"/>
                  </a:moveTo>
                  <a:cubicBezTo>
                    <a:pt x="307019" y="234173"/>
                    <a:pt x="307019" y="281799"/>
                    <a:pt x="277683" y="311136"/>
                  </a:cubicBezTo>
                  <a:lnTo>
                    <a:pt x="258125" y="330694"/>
                  </a:lnTo>
                  <a:lnTo>
                    <a:pt x="87946" y="500874"/>
                  </a:lnTo>
                  <a:cubicBezTo>
                    <a:pt x="67881" y="520941"/>
                    <a:pt x="35242" y="520941"/>
                    <a:pt x="15176" y="500874"/>
                  </a:cubicBezTo>
                  <a:cubicBezTo>
                    <a:pt x="-4890" y="480808"/>
                    <a:pt x="-4890" y="448296"/>
                    <a:pt x="15176" y="428103"/>
                  </a:cubicBezTo>
                  <a:lnTo>
                    <a:pt x="158685" y="284593"/>
                  </a:lnTo>
                  <a:cubicBezTo>
                    <a:pt x="173417" y="269860"/>
                    <a:pt x="173417" y="245857"/>
                    <a:pt x="158685" y="231125"/>
                  </a:cubicBezTo>
                  <a:lnTo>
                    <a:pt x="15049" y="87869"/>
                  </a:lnTo>
                  <a:cubicBezTo>
                    <a:pt x="-5017" y="67803"/>
                    <a:pt x="-5017" y="35290"/>
                    <a:pt x="15049" y="15097"/>
                  </a:cubicBezTo>
                  <a:cubicBezTo>
                    <a:pt x="35115" y="-5096"/>
                    <a:pt x="67754" y="-4969"/>
                    <a:pt x="87819" y="15097"/>
                  </a:cubicBezTo>
                  <a:lnTo>
                    <a:pt x="257998" y="185278"/>
                  </a:lnTo>
                  <a:lnTo>
                    <a:pt x="277556" y="2048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626" y="213090"/>
              <a:ext cx="143858" cy="226912"/>
            </a:xfrm>
            <a:custGeom>
              <a:avLst/>
              <a:gdLst/>
              <a:ahLst/>
              <a:cxnLst/>
              <a:rect l="l" t="t" r="r" b="b"/>
              <a:pathLst>
                <a:path w="143858" h="226912">
                  <a:moveTo>
                    <a:pt x="137286" y="129303"/>
                  </a:moveTo>
                  <a:lnTo>
                    <a:pt x="48006" y="218585"/>
                  </a:lnTo>
                  <a:cubicBezTo>
                    <a:pt x="30226" y="236365"/>
                    <a:pt x="0" y="223792"/>
                    <a:pt x="0" y="198646"/>
                  </a:cubicBezTo>
                  <a:lnTo>
                    <a:pt x="0" y="28211"/>
                  </a:lnTo>
                  <a:cubicBezTo>
                    <a:pt x="0" y="3065"/>
                    <a:pt x="30353" y="-9381"/>
                    <a:pt x="48006" y="8272"/>
                  </a:cubicBezTo>
                  <a:lnTo>
                    <a:pt x="137286" y="97553"/>
                  </a:lnTo>
                  <a:cubicBezTo>
                    <a:pt x="146049" y="106316"/>
                    <a:pt x="146049" y="120540"/>
                    <a:pt x="137286" y="12930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Freeform 5"/>
            <p:cNvSpPr/>
            <p:nvPr/>
          </p:nvSpPr>
          <p:spPr>
            <a:xfrm>
              <a:off x="63499" y="63500"/>
              <a:ext cx="319783" cy="526417"/>
            </a:xfrm>
            <a:custGeom>
              <a:avLst/>
              <a:gdLst/>
              <a:ahLst/>
              <a:cxnLst/>
              <a:rect l="l" t="t" r="r" b="b"/>
              <a:pathLst>
                <a:path w="319783" h="526417">
                  <a:moveTo>
                    <a:pt x="0" y="526418"/>
                  </a:moveTo>
                  <a:lnTo>
                    <a:pt x="319783" y="526418"/>
                  </a:lnTo>
                  <a:lnTo>
                    <a:pt x="3197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5197" y="6083522"/>
            <a:ext cx="446799" cy="653425"/>
            <a:chOff x="0" y="0"/>
            <a:chExt cx="446799" cy="653428"/>
          </a:xfrm>
        </p:grpSpPr>
        <p:sp>
          <p:nvSpPr>
            <p:cNvPr id="7" name="Freeform 7"/>
            <p:cNvSpPr/>
            <p:nvPr/>
          </p:nvSpPr>
          <p:spPr>
            <a:xfrm>
              <a:off x="76390" y="68469"/>
              <a:ext cx="299685" cy="515924"/>
            </a:xfrm>
            <a:custGeom>
              <a:avLst/>
              <a:gdLst/>
              <a:ahLst/>
              <a:cxnLst/>
              <a:rect l="l" t="t" r="r" b="b"/>
              <a:pathLst>
                <a:path w="299685" h="515924">
                  <a:moveTo>
                    <a:pt x="277683" y="204836"/>
                  </a:moveTo>
                  <a:cubicBezTo>
                    <a:pt x="307019" y="234173"/>
                    <a:pt x="307019" y="281799"/>
                    <a:pt x="277683" y="311136"/>
                  </a:cubicBezTo>
                  <a:lnTo>
                    <a:pt x="258125" y="330694"/>
                  </a:lnTo>
                  <a:lnTo>
                    <a:pt x="87946" y="500874"/>
                  </a:lnTo>
                  <a:cubicBezTo>
                    <a:pt x="67881" y="520941"/>
                    <a:pt x="35242" y="520941"/>
                    <a:pt x="15176" y="500874"/>
                  </a:cubicBezTo>
                  <a:cubicBezTo>
                    <a:pt x="-4890" y="480808"/>
                    <a:pt x="-4890" y="448296"/>
                    <a:pt x="15176" y="428103"/>
                  </a:cubicBezTo>
                  <a:lnTo>
                    <a:pt x="158685" y="284593"/>
                  </a:lnTo>
                  <a:cubicBezTo>
                    <a:pt x="173417" y="269860"/>
                    <a:pt x="173417" y="245857"/>
                    <a:pt x="158685" y="231125"/>
                  </a:cubicBezTo>
                  <a:lnTo>
                    <a:pt x="15049" y="87869"/>
                  </a:lnTo>
                  <a:cubicBezTo>
                    <a:pt x="-5017" y="67803"/>
                    <a:pt x="-5017" y="35290"/>
                    <a:pt x="15049" y="15097"/>
                  </a:cubicBezTo>
                  <a:cubicBezTo>
                    <a:pt x="35115" y="-5096"/>
                    <a:pt x="67754" y="-4969"/>
                    <a:pt x="87819" y="15097"/>
                  </a:cubicBezTo>
                  <a:lnTo>
                    <a:pt x="257998" y="185278"/>
                  </a:lnTo>
                  <a:lnTo>
                    <a:pt x="277556" y="2048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Freeform 8"/>
            <p:cNvSpPr/>
            <p:nvPr/>
          </p:nvSpPr>
          <p:spPr>
            <a:xfrm>
              <a:off x="63626" y="213090"/>
              <a:ext cx="143858" cy="226912"/>
            </a:xfrm>
            <a:custGeom>
              <a:avLst/>
              <a:gdLst/>
              <a:ahLst/>
              <a:cxnLst/>
              <a:rect l="l" t="t" r="r" b="b"/>
              <a:pathLst>
                <a:path w="143858" h="226912">
                  <a:moveTo>
                    <a:pt x="137286" y="129303"/>
                  </a:moveTo>
                  <a:lnTo>
                    <a:pt x="48006" y="218585"/>
                  </a:lnTo>
                  <a:cubicBezTo>
                    <a:pt x="30226" y="236365"/>
                    <a:pt x="0" y="223792"/>
                    <a:pt x="0" y="198646"/>
                  </a:cubicBezTo>
                  <a:lnTo>
                    <a:pt x="0" y="28211"/>
                  </a:lnTo>
                  <a:cubicBezTo>
                    <a:pt x="0" y="3065"/>
                    <a:pt x="30353" y="-9381"/>
                    <a:pt x="48006" y="8272"/>
                  </a:cubicBezTo>
                  <a:lnTo>
                    <a:pt x="137286" y="97553"/>
                  </a:lnTo>
                  <a:cubicBezTo>
                    <a:pt x="146049" y="106316"/>
                    <a:pt x="146049" y="120540"/>
                    <a:pt x="137286" y="12930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reeform 9"/>
            <p:cNvSpPr/>
            <p:nvPr/>
          </p:nvSpPr>
          <p:spPr>
            <a:xfrm>
              <a:off x="63499" y="63500"/>
              <a:ext cx="319783" cy="526417"/>
            </a:xfrm>
            <a:custGeom>
              <a:avLst/>
              <a:gdLst/>
              <a:ahLst/>
              <a:cxnLst/>
              <a:rect l="l" t="t" r="r" b="b"/>
              <a:pathLst>
                <a:path w="319783" h="526417">
                  <a:moveTo>
                    <a:pt x="0" y="526418"/>
                  </a:moveTo>
                  <a:lnTo>
                    <a:pt x="319783" y="526418"/>
                  </a:lnTo>
                  <a:lnTo>
                    <a:pt x="3197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65197" y="6769160"/>
            <a:ext cx="446799" cy="653425"/>
            <a:chOff x="0" y="0"/>
            <a:chExt cx="446799" cy="653428"/>
          </a:xfrm>
        </p:grpSpPr>
        <p:sp>
          <p:nvSpPr>
            <p:cNvPr id="11" name="Freeform 11"/>
            <p:cNvSpPr/>
            <p:nvPr/>
          </p:nvSpPr>
          <p:spPr>
            <a:xfrm>
              <a:off x="76390" y="68469"/>
              <a:ext cx="299685" cy="515924"/>
            </a:xfrm>
            <a:custGeom>
              <a:avLst/>
              <a:gdLst/>
              <a:ahLst/>
              <a:cxnLst/>
              <a:rect l="l" t="t" r="r" b="b"/>
              <a:pathLst>
                <a:path w="299685" h="515924">
                  <a:moveTo>
                    <a:pt x="277683" y="204836"/>
                  </a:moveTo>
                  <a:cubicBezTo>
                    <a:pt x="307019" y="234173"/>
                    <a:pt x="307019" y="281799"/>
                    <a:pt x="277683" y="311136"/>
                  </a:cubicBezTo>
                  <a:lnTo>
                    <a:pt x="258125" y="330694"/>
                  </a:lnTo>
                  <a:lnTo>
                    <a:pt x="87946" y="500874"/>
                  </a:lnTo>
                  <a:cubicBezTo>
                    <a:pt x="67881" y="520941"/>
                    <a:pt x="35242" y="520941"/>
                    <a:pt x="15176" y="500874"/>
                  </a:cubicBezTo>
                  <a:cubicBezTo>
                    <a:pt x="-4890" y="480808"/>
                    <a:pt x="-4890" y="448296"/>
                    <a:pt x="15176" y="428103"/>
                  </a:cubicBezTo>
                  <a:lnTo>
                    <a:pt x="158685" y="284593"/>
                  </a:lnTo>
                  <a:cubicBezTo>
                    <a:pt x="173417" y="269860"/>
                    <a:pt x="173417" y="245857"/>
                    <a:pt x="158685" y="231125"/>
                  </a:cubicBezTo>
                  <a:lnTo>
                    <a:pt x="15049" y="87869"/>
                  </a:lnTo>
                  <a:cubicBezTo>
                    <a:pt x="-5017" y="67803"/>
                    <a:pt x="-5017" y="35290"/>
                    <a:pt x="15049" y="15097"/>
                  </a:cubicBezTo>
                  <a:cubicBezTo>
                    <a:pt x="35115" y="-5096"/>
                    <a:pt x="67754" y="-4969"/>
                    <a:pt x="87819" y="15097"/>
                  </a:cubicBezTo>
                  <a:lnTo>
                    <a:pt x="257998" y="185278"/>
                  </a:lnTo>
                  <a:lnTo>
                    <a:pt x="277556" y="2048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3626" y="213090"/>
              <a:ext cx="143858" cy="226912"/>
            </a:xfrm>
            <a:custGeom>
              <a:avLst/>
              <a:gdLst/>
              <a:ahLst/>
              <a:cxnLst/>
              <a:rect l="l" t="t" r="r" b="b"/>
              <a:pathLst>
                <a:path w="143858" h="226912">
                  <a:moveTo>
                    <a:pt x="137286" y="129303"/>
                  </a:moveTo>
                  <a:lnTo>
                    <a:pt x="48006" y="218585"/>
                  </a:lnTo>
                  <a:cubicBezTo>
                    <a:pt x="30226" y="236365"/>
                    <a:pt x="0" y="223792"/>
                    <a:pt x="0" y="198646"/>
                  </a:cubicBezTo>
                  <a:lnTo>
                    <a:pt x="0" y="28211"/>
                  </a:lnTo>
                  <a:cubicBezTo>
                    <a:pt x="0" y="3065"/>
                    <a:pt x="30353" y="-9381"/>
                    <a:pt x="48006" y="8272"/>
                  </a:cubicBezTo>
                  <a:lnTo>
                    <a:pt x="137286" y="97553"/>
                  </a:lnTo>
                  <a:cubicBezTo>
                    <a:pt x="146049" y="106316"/>
                    <a:pt x="146049" y="120540"/>
                    <a:pt x="137286" y="12930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63499" y="63500"/>
              <a:ext cx="319783" cy="526417"/>
            </a:xfrm>
            <a:custGeom>
              <a:avLst/>
              <a:gdLst/>
              <a:ahLst/>
              <a:cxnLst/>
              <a:rect l="l" t="t" r="r" b="b"/>
              <a:pathLst>
                <a:path w="319783" h="526417">
                  <a:moveTo>
                    <a:pt x="0" y="526418"/>
                  </a:moveTo>
                  <a:lnTo>
                    <a:pt x="319783" y="526418"/>
                  </a:lnTo>
                  <a:lnTo>
                    <a:pt x="3197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65197" y="7492422"/>
            <a:ext cx="446799" cy="653425"/>
            <a:chOff x="0" y="0"/>
            <a:chExt cx="446799" cy="653428"/>
          </a:xfrm>
        </p:grpSpPr>
        <p:sp>
          <p:nvSpPr>
            <p:cNvPr id="15" name="Freeform 15"/>
            <p:cNvSpPr/>
            <p:nvPr/>
          </p:nvSpPr>
          <p:spPr>
            <a:xfrm>
              <a:off x="76390" y="68469"/>
              <a:ext cx="299685" cy="515924"/>
            </a:xfrm>
            <a:custGeom>
              <a:avLst/>
              <a:gdLst/>
              <a:ahLst/>
              <a:cxnLst/>
              <a:rect l="l" t="t" r="r" b="b"/>
              <a:pathLst>
                <a:path w="299685" h="515924">
                  <a:moveTo>
                    <a:pt x="277683" y="204836"/>
                  </a:moveTo>
                  <a:cubicBezTo>
                    <a:pt x="307019" y="234173"/>
                    <a:pt x="307019" y="281799"/>
                    <a:pt x="277683" y="311136"/>
                  </a:cubicBezTo>
                  <a:lnTo>
                    <a:pt x="258125" y="330694"/>
                  </a:lnTo>
                  <a:lnTo>
                    <a:pt x="87946" y="500875"/>
                  </a:lnTo>
                  <a:cubicBezTo>
                    <a:pt x="67881" y="520941"/>
                    <a:pt x="35242" y="520941"/>
                    <a:pt x="15176" y="500875"/>
                  </a:cubicBezTo>
                  <a:cubicBezTo>
                    <a:pt x="-4890" y="480809"/>
                    <a:pt x="-4890" y="448296"/>
                    <a:pt x="15176" y="428103"/>
                  </a:cubicBezTo>
                  <a:lnTo>
                    <a:pt x="158685" y="284593"/>
                  </a:lnTo>
                  <a:cubicBezTo>
                    <a:pt x="173417" y="269861"/>
                    <a:pt x="173417" y="245857"/>
                    <a:pt x="158685" y="231125"/>
                  </a:cubicBezTo>
                  <a:lnTo>
                    <a:pt x="15049" y="87869"/>
                  </a:lnTo>
                  <a:cubicBezTo>
                    <a:pt x="-5017" y="67803"/>
                    <a:pt x="-5017" y="35290"/>
                    <a:pt x="15049" y="15097"/>
                  </a:cubicBezTo>
                  <a:cubicBezTo>
                    <a:pt x="35115" y="-5096"/>
                    <a:pt x="67754" y="-4969"/>
                    <a:pt x="87819" y="15097"/>
                  </a:cubicBezTo>
                  <a:lnTo>
                    <a:pt x="257998" y="185278"/>
                  </a:lnTo>
                  <a:lnTo>
                    <a:pt x="277556" y="2048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626" y="213091"/>
              <a:ext cx="143858" cy="226912"/>
            </a:xfrm>
            <a:custGeom>
              <a:avLst/>
              <a:gdLst/>
              <a:ahLst/>
              <a:cxnLst/>
              <a:rect l="l" t="t" r="r" b="b"/>
              <a:pathLst>
                <a:path w="143858" h="226912">
                  <a:moveTo>
                    <a:pt x="137286" y="129303"/>
                  </a:moveTo>
                  <a:lnTo>
                    <a:pt x="48006" y="218584"/>
                  </a:lnTo>
                  <a:cubicBezTo>
                    <a:pt x="30226" y="236364"/>
                    <a:pt x="0" y="223791"/>
                    <a:pt x="0" y="198645"/>
                  </a:cubicBezTo>
                  <a:lnTo>
                    <a:pt x="0" y="28210"/>
                  </a:lnTo>
                  <a:cubicBezTo>
                    <a:pt x="0" y="3064"/>
                    <a:pt x="30353" y="-9382"/>
                    <a:pt x="48006" y="8271"/>
                  </a:cubicBezTo>
                  <a:lnTo>
                    <a:pt x="137286" y="97552"/>
                  </a:lnTo>
                  <a:cubicBezTo>
                    <a:pt x="146049" y="106315"/>
                    <a:pt x="146049" y="120540"/>
                    <a:pt x="137286" y="129303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499" y="63500"/>
              <a:ext cx="319783" cy="526417"/>
            </a:xfrm>
            <a:custGeom>
              <a:avLst/>
              <a:gdLst/>
              <a:ahLst/>
              <a:cxnLst/>
              <a:rect l="l" t="t" r="r" b="b"/>
              <a:pathLst>
                <a:path w="319783" h="526417">
                  <a:moveTo>
                    <a:pt x="0" y="526418"/>
                  </a:moveTo>
                  <a:lnTo>
                    <a:pt x="319783" y="526418"/>
                  </a:lnTo>
                  <a:lnTo>
                    <a:pt x="3197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0323081" y="0"/>
            <a:ext cx="6936219" cy="10287000"/>
          </a:xfrm>
          <a:custGeom>
            <a:avLst/>
            <a:gdLst/>
            <a:ahLst/>
            <a:cxnLst/>
            <a:rect l="l" t="t" r="r" b="b"/>
            <a:pathLst>
              <a:path w="6936219" h="10287000">
                <a:moveTo>
                  <a:pt x="0" y="0"/>
                </a:moveTo>
                <a:lnTo>
                  <a:pt x="6936219" y="0"/>
                </a:lnTo>
                <a:lnTo>
                  <a:pt x="693621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9" name="TextBox 19"/>
          <p:cNvSpPr txBox="1"/>
          <p:nvPr/>
        </p:nvSpPr>
        <p:spPr>
          <a:xfrm>
            <a:off x="1028700" y="2400748"/>
            <a:ext cx="8915676" cy="2315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95"/>
              </a:lnSpc>
            </a:pPr>
            <a:r>
              <a:rPr lang="en-US" sz="927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 que a NR-1 exige na prática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39454" y="5299720"/>
            <a:ext cx="109518" cy="690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5"/>
              </a:lnSpc>
            </a:pPr>
            <a:r>
              <a:rPr lang="en-US" sz="39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08465" y="5299720"/>
            <a:ext cx="8289455" cy="690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5"/>
              </a:lnSpc>
            </a:pPr>
            <a:r>
              <a:rPr lang="en-US" sz="39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Mapear fatores derisco psicossociais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08465" y="6004570"/>
            <a:ext cx="8293541" cy="2071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73"/>
              </a:lnSpc>
            </a:pPr>
            <a:r>
              <a:rPr lang="en-US" sz="3932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Analisar tecnicamente esses riscos Documentar e integrar ao PGR Comprovar tecnicamente a avaliação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06458" y="3475720"/>
            <a:ext cx="5498182" cy="4023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9"/>
              </a:lnSpc>
            </a:pPr>
            <a:r>
              <a:rPr lang="en-US" sz="8219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 empresa precisa provar que avaliou.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3157" y="1938061"/>
            <a:ext cx="3434858" cy="3622224"/>
          </a:xfrm>
          <a:custGeom>
            <a:avLst/>
            <a:gdLst/>
            <a:ahLst/>
            <a:cxnLst/>
            <a:rect l="l" t="t" r="r" b="b"/>
            <a:pathLst>
              <a:path w="3434858" h="3622224">
                <a:moveTo>
                  <a:pt x="0" y="0"/>
                </a:moveTo>
                <a:lnTo>
                  <a:pt x="3434858" y="0"/>
                </a:lnTo>
                <a:lnTo>
                  <a:pt x="3434858" y="3622224"/>
                </a:lnTo>
                <a:lnTo>
                  <a:pt x="0" y="3622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3331207" y="5592489"/>
            <a:ext cx="446799" cy="653425"/>
            <a:chOff x="0" y="0"/>
            <a:chExt cx="446799" cy="653428"/>
          </a:xfrm>
        </p:grpSpPr>
        <p:sp>
          <p:nvSpPr>
            <p:cNvPr id="4" name="Freeform 4"/>
            <p:cNvSpPr/>
            <p:nvPr/>
          </p:nvSpPr>
          <p:spPr>
            <a:xfrm>
              <a:off x="76342" y="68771"/>
              <a:ext cx="299606" cy="515749"/>
            </a:xfrm>
            <a:custGeom>
              <a:avLst/>
              <a:gdLst/>
              <a:ahLst/>
              <a:cxnLst/>
              <a:rect l="l" t="t" r="r" b="b"/>
              <a:pathLst>
                <a:path w="299606" h="515749">
                  <a:moveTo>
                    <a:pt x="277604" y="204661"/>
                  </a:moveTo>
                  <a:cubicBezTo>
                    <a:pt x="306940" y="233998"/>
                    <a:pt x="306940" y="281624"/>
                    <a:pt x="277604" y="310961"/>
                  </a:cubicBezTo>
                  <a:lnTo>
                    <a:pt x="258046" y="330519"/>
                  </a:lnTo>
                  <a:lnTo>
                    <a:pt x="87867" y="500699"/>
                  </a:lnTo>
                  <a:cubicBezTo>
                    <a:pt x="67802" y="520766"/>
                    <a:pt x="35290" y="520766"/>
                    <a:pt x="15097" y="500699"/>
                  </a:cubicBezTo>
                  <a:cubicBezTo>
                    <a:pt x="-5096" y="480633"/>
                    <a:pt x="-4969" y="448121"/>
                    <a:pt x="15097" y="428055"/>
                  </a:cubicBezTo>
                  <a:lnTo>
                    <a:pt x="158479" y="284545"/>
                  </a:lnTo>
                  <a:cubicBezTo>
                    <a:pt x="173211" y="269812"/>
                    <a:pt x="173211" y="245809"/>
                    <a:pt x="158479" y="231077"/>
                  </a:cubicBezTo>
                  <a:lnTo>
                    <a:pt x="15097" y="87694"/>
                  </a:lnTo>
                  <a:cubicBezTo>
                    <a:pt x="-4969" y="67628"/>
                    <a:pt x="-4969" y="35115"/>
                    <a:pt x="15097" y="15049"/>
                  </a:cubicBezTo>
                  <a:cubicBezTo>
                    <a:pt x="35163" y="-5017"/>
                    <a:pt x="67675" y="-5017"/>
                    <a:pt x="87867" y="15049"/>
                  </a:cubicBezTo>
                  <a:lnTo>
                    <a:pt x="258046" y="185230"/>
                  </a:lnTo>
                  <a:lnTo>
                    <a:pt x="277604" y="204788"/>
                  </a:lnTo>
                  <a:close/>
                </a:path>
              </a:pathLst>
            </a:custGeom>
            <a:solidFill>
              <a:srgbClr val="A8CF4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Freeform 5"/>
            <p:cNvSpPr/>
            <p:nvPr/>
          </p:nvSpPr>
          <p:spPr>
            <a:xfrm>
              <a:off x="63626" y="213117"/>
              <a:ext cx="143858" cy="226885"/>
            </a:xfrm>
            <a:custGeom>
              <a:avLst/>
              <a:gdLst/>
              <a:ahLst/>
              <a:cxnLst/>
              <a:rect l="l" t="t" r="r" b="b"/>
              <a:pathLst>
                <a:path w="143858" h="226885">
                  <a:moveTo>
                    <a:pt x="137286" y="129276"/>
                  </a:moveTo>
                  <a:lnTo>
                    <a:pt x="48006" y="218558"/>
                  </a:lnTo>
                  <a:cubicBezTo>
                    <a:pt x="30226" y="236338"/>
                    <a:pt x="0" y="223765"/>
                    <a:pt x="0" y="198619"/>
                  </a:cubicBezTo>
                  <a:lnTo>
                    <a:pt x="0" y="28184"/>
                  </a:lnTo>
                  <a:cubicBezTo>
                    <a:pt x="0" y="3165"/>
                    <a:pt x="30353" y="-9408"/>
                    <a:pt x="48006" y="8245"/>
                  </a:cubicBezTo>
                  <a:lnTo>
                    <a:pt x="137286" y="97526"/>
                  </a:lnTo>
                  <a:cubicBezTo>
                    <a:pt x="146049" y="106289"/>
                    <a:pt x="146049" y="120513"/>
                    <a:pt x="137286" y="129277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/>
            <p:cNvSpPr/>
            <p:nvPr/>
          </p:nvSpPr>
          <p:spPr>
            <a:xfrm>
              <a:off x="63499" y="63500"/>
              <a:ext cx="319783" cy="526417"/>
            </a:xfrm>
            <a:custGeom>
              <a:avLst/>
              <a:gdLst/>
              <a:ahLst/>
              <a:cxnLst/>
              <a:rect l="l" t="t" r="r" b="b"/>
              <a:pathLst>
                <a:path w="319783" h="526417">
                  <a:moveTo>
                    <a:pt x="0" y="526418"/>
                  </a:moveTo>
                  <a:lnTo>
                    <a:pt x="319783" y="526418"/>
                  </a:lnTo>
                  <a:lnTo>
                    <a:pt x="3197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331207" y="6315751"/>
            <a:ext cx="446799" cy="653425"/>
            <a:chOff x="0" y="0"/>
            <a:chExt cx="446799" cy="653428"/>
          </a:xfrm>
        </p:grpSpPr>
        <p:sp>
          <p:nvSpPr>
            <p:cNvPr id="8" name="Freeform 8"/>
            <p:cNvSpPr/>
            <p:nvPr/>
          </p:nvSpPr>
          <p:spPr>
            <a:xfrm>
              <a:off x="76342" y="68771"/>
              <a:ext cx="299606" cy="515749"/>
            </a:xfrm>
            <a:custGeom>
              <a:avLst/>
              <a:gdLst/>
              <a:ahLst/>
              <a:cxnLst/>
              <a:rect l="l" t="t" r="r" b="b"/>
              <a:pathLst>
                <a:path w="299606" h="515749">
                  <a:moveTo>
                    <a:pt x="277604" y="204661"/>
                  </a:moveTo>
                  <a:cubicBezTo>
                    <a:pt x="306940" y="233998"/>
                    <a:pt x="306940" y="281624"/>
                    <a:pt x="277604" y="310961"/>
                  </a:cubicBezTo>
                  <a:lnTo>
                    <a:pt x="258046" y="330519"/>
                  </a:lnTo>
                  <a:lnTo>
                    <a:pt x="87867" y="500699"/>
                  </a:lnTo>
                  <a:cubicBezTo>
                    <a:pt x="67802" y="520766"/>
                    <a:pt x="35290" y="520766"/>
                    <a:pt x="15097" y="500699"/>
                  </a:cubicBezTo>
                  <a:cubicBezTo>
                    <a:pt x="-5096" y="480633"/>
                    <a:pt x="-4969" y="448121"/>
                    <a:pt x="15097" y="428055"/>
                  </a:cubicBezTo>
                  <a:lnTo>
                    <a:pt x="158479" y="284545"/>
                  </a:lnTo>
                  <a:cubicBezTo>
                    <a:pt x="173211" y="269812"/>
                    <a:pt x="173211" y="245809"/>
                    <a:pt x="158479" y="231077"/>
                  </a:cubicBezTo>
                  <a:lnTo>
                    <a:pt x="15097" y="87694"/>
                  </a:lnTo>
                  <a:cubicBezTo>
                    <a:pt x="-4969" y="67628"/>
                    <a:pt x="-4969" y="35115"/>
                    <a:pt x="15097" y="15049"/>
                  </a:cubicBezTo>
                  <a:cubicBezTo>
                    <a:pt x="35163" y="-5017"/>
                    <a:pt x="67675" y="-5017"/>
                    <a:pt x="87867" y="15049"/>
                  </a:cubicBezTo>
                  <a:lnTo>
                    <a:pt x="258046" y="185230"/>
                  </a:lnTo>
                  <a:lnTo>
                    <a:pt x="277604" y="204788"/>
                  </a:lnTo>
                  <a:close/>
                </a:path>
              </a:pathLst>
            </a:custGeom>
            <a:solidFill>
              <a:srgbClr val="A8CF45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reeform 9"/>
            <p:cNvSpPr/>
            <p:nvPr/>
          </p:nvSpPr>
          <p:spPr>
            <a:xfrm>
              <a:off x="63626" y="213117"/>
              <a:ext cx="143858" cy="226885"/>
            </a:xfrm>
            <a:custGeom>
              <a:avLst/>
              <a:gdLst/>
              <a:ahLst/>
              <a:cxnLst/>
              <a:rect l="l" t="t" r="r" b="b"/>
              <a:pathLst>
                <a:path w="143858" h="226885">
                  <a:moveTo>
                    <a:pt x="137286" y="129276"/>
                  </a:moveTo>
                  <a:lnTo>
                    <a:pt x="48006" y="218558"/>
                  </a:lnTo>
                  <a:cubicBezTo>
                    <a:pt x="30226" y="236338"/>
                    <a:pt x="0" y="223765"/>
                    <a:pt x="0" y="198619"/>
                  </a:cubicBezTo>
                  <a:lnTo>
                    <a:pt x="0" y="28184"/>
                  </a:lnTo>
                  <a:cubicBezTo>
                    <a:pt x="0" y="3165"/>
                    <a:pt x="30353" y="-9408"/>
                    <a:pt x="48006" y="8245"/>
                  </a:cubicBezTo>
                  <a:lnTo>
                    <a:pt x="137286" y="97526"/>
                  </a:lnTo>
                  <a:cubicBezTo>
                    <a:pt x="146049" y="106289"/>
                    <a:pt x="146049" y="120513"/>
                    <a:pt x="137286" y="129277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3499" y="63500"/>
              <a:ext cx="319783" cy="526417"/>
            </a:xfrm>
            <a:custGeom>
              <a:avLst/>
              <a:gdLst/>
              <a:ahLst/>
              <a:cxnLst/>
              <a:rect l="l" t="t" r="r" b="b"/>
              <a:pathLst>
                <a:path w="319783" h="526417">
                  <a:moveTo>
                    <a:pt x="0" y="526418"/>
                  </a:moveTo>
                  <a:lnTo>
                    <a:pt x="319783" y="526418"/>
                  </a:lnTo>
                  <a:lnTo>
                    <a:pt x="3197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886550" y="7592197"/>
            <a:ext cx="14517614" cy="2694803"/>
          </a:xfrm>
          <a:custGeom>
            <a:avLst/>
            <a:gdLst/>
            <a:ahLst/>
            <a:cxnLst/>
            <a:rect l="l" t="t" r="r" b="b"/>
            <a:pathLst>
              <a:path w="14517614" h="2694803">
                <a:moveTo>
                  <a:pt x="0" y="0"/>
                </a:moveTo>
                <a:lnTo>
                  <a:pt x="14517615" y="0"/>
                </a:lnTo>
                <a:lnTo>
                  <a:pt x="14517615" y="2694803"/>
                </a:lnTo>
                <a:lnTo>
                  <a:pt x="0" y="26948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Freeform 12"/>
          <p:cNvSpPr/>
          <p:nvPr/>
        </p:nvSpPr>
        <p:spPr>
          <a:xfrm>
            <a:off x="13852503" y="2420007"/>
            <a:ext cx="3892877" cy="4022750"/>
          </a:xfrm>
          <a:custGeom>
            <a:avLst/>
            <a:gdLst/>
            <a:ahLst/>
            <a:cxnLst/>
            <a:rect l="l" t="t" r="r" b="b"/>
            <a:pathLst>
              <a:path w="3892877" h="4022750">
                <a:moveTo>
                  <a:pt x="0" y="0"/>
                </a:moveTo>
                <a:lnTo>
                  <a:pt x="3892877" y="0"/>
                </a:lnTo>
                <a:lnTo>
                  <a:pt x="3892877" y="4022751"/>
                </a:lnTo>
                <a:lnTo>
                  <a:pt x="0" y="4022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3616757" y="1224801"/>
            <a:ext cx="10792730" cy="2315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95"/>
              </a:lnSpc>
            </a:pPr>
            <a:r>
              <a:rPr lang="en-US" sz="927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Onde a maioria das empresas </a:t>
            </a:r>
            <a:r>
              <a:rPr lang="en-US" sz="9270" b="1">
                <a:solidFill>
                  <a:srgbClr val="A8CF45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falha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23525" y="4117305"/>
            <a:ext cx="109538" cy="69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6"/>
              </a:lnSpc>
            </a:pPr>
            <a:r>
              <a:rPr lang="en-US" sz="3932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74475" y="4117305"/>
            <a:ext cx="8915390" cy="69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6"/>
              </a:lnSpc>
            </a:pPr>
            <a:r>
              <a:rPr lang="en-US" sz="3932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Pesquisas genéricas sem basecientífica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74475" y="4820431"/>
            <a:ext cx="10488901" cy="206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2"/>
              </a:lnSpc>
            </a:pPr>
            <a:r>
              <a:rPr lang="en-US" sz="3932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Ações isoladas sem diagnóstico</a:t>
            </a:r>
          </a:p>
          <a:p>
            <a:pPr algn="l">
              <a:lnSpc>
                <a:spcPts val="5462"/>
              </a:lnSpc>
            </a:pPr>
            <a:r>
              <a:rPr lang="en-US" sz="3932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Confusão entre avaliação ocupacional e clínica Falta de documentação válida para fiscalização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61949" y="8257432"/>
            <a:ext cx="6899396" cy="1550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5532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Sem método, não há conformidade.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858679" y="1964788"/>
            <a:ext cx="11352676" cy="1258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1">
                <a:solidFill>
                  <a:srgbClr val="A8CF45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 que o QWORK entrega?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14716" y="3638912"/>
            <a:ext cx="100241" cy="6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8"/>
              </a:lnSpc>
            </a:pPr>
            <a:r>
              <a:rPr lang="en-US" sz="359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66723" y="3638912"/>
            <a:ext cx="10349941" cy="6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8"/>
              </a:lnSpc>
            </a:pPr>
            <a:r>
              <a:rPr lang="en-US" sz="359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Identificação dosfatoresderisco psicossociaispor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6723" y="4267562"/>
            <a:ext cx="10080946" cy="4592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59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meio de questionário científico e estruturado Questionário científico baseado no COPSOQ, referência internacional em avaliação psicossocial Análise técnica conforme NR-1 / GRO Classificação objetiva dos riscos psicossociais </a:t>
            </a:r>
            <a:r>
              <a:rPr lang="en-US" sz="3599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Emissão do Laudo de Identificação e Mapeamento de Riscos Psicossociais (NR-1 / GRO)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8414997" cy="10413997"/>
          </a:xfrm>
          <a:custGeom>
            <a:avLst/>
            <a:gdLst/>
            <a:ahLst/>
            <a:cxnLst/>
            <a:rect l="l" t="t" r="r" b="b"/>
            <a:pathLst>
              <a:path w="18414997" h="10413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297838" y="2363781"/>
            <a:ext cx="9616945" cy="1801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3"/>
              </a:lnSpc>
            </a:pPr>
            <a:r>
              <a:rPr lang="en-US" sz="7200" b="1">
                <a:solidFill>
                  <a:srgbClr val="A8CF45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Além disso, para a empresa ocupacional: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96833" y="4555446"/>
            <a:ext cx="100241" cy="6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8"/>
              </a:lnSpc>
            </a:pPr>
            <a:r>
              <a:rPr lang="en-US" sz="359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05883" y="4555446"/>
            <a:ext cx="8163039" cy="6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8"/>
              </a:lnSpc>
            </a:pPr>
            <a:r>
              <a:rPr lang="en-US" sz="359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Gestão completadasempresasclientes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05883" y="5184096"/>
            <a:ext cx="6164485" cy="2867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59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Gestão de funcionários Gestão de pagamentos Gestão e emissão de laudos Organização documental para auditorias e fiscalizações</a:t>
            </a:r>
          </a:p>
        </p:txBody>
      </p:sp>
      <p:sp>
        <p:nvSpPr>
          <p:cNvPr id="7" name="TextBox 7"/>
          <p:cNvSpPr txBox="1"/>
          <p:nvPr/>
        </p:nvSpPr>
        <p:spPr>
          <a:xfrm rot="355200">
            <a:off x="12769789" y="3547129"/>
            <a:ext cx="3081271" cy="3166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5"/>
              </a:lnSpc>
            </a:pPr>
            <a:r>
              <a:rPr lang="en-US" sz="31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NÃO É DIAGNÓSTICO CLÍNICO.</a:t>
            </a:r>
          </a:p>
          <a:p>
            <a:pPr algn="ctr">
              <a:lnSpc>
                <a:spcPts val="3525"/>
              </a:lnSpc>
            </a:pPr>
            <a:r>
              <a:rPr lang="en-US" sz="31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É GESTÃO DE RISCO OCUPACIONAL EM ESCALA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C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6767" y="5278212"/>
            <a:ext cx="349996" cy="494071"/>
            <a:chOff x="0" y="0"/>
            <a:chExt cx="349999" cy="494068"/>
          </a:xfrm>
        </p:grpSpPr>
        <p:sp>
          <p:nvSpPr>
            <p:cNvPr id="3" name="Freeform 3"/>
            <p:cNvSpPr/>
            <p:nvPr/>
          </p:nvSpPr>
          <p:spPr>
            <a:xfrm>
              <a:off x="72581" y="67119"/>
              <a:ext cx="208822" cy="359662"/>
            </a:xfrm>
            <a:custGeom>
              <a:avLst/>
              <a:gdLst/>
              <a:ahLst/>
              <a:cxnLst/>
              <a:rect l="l" t="t" r="r" b="b"/>
              <a:pathLst>
                <a:path w="208822" h="359662">
                  <a:moveTo>
                    <a:pt x="193487" y="142684"/>
                  </a:moveTo>
                  <a:cubicBezTo>
                    <a:pt x="213934" y="163130"/>
                    <a:pt x="213934" y="196404"/>
                    <a:pt x="193487" y="216851"/>
                  </a:cubicBezTo>
                  <a:lnTo>
                    <a:pt x="179771" y="230567"/>
                  </a:lnTo>
                  <a:lnTo>
                    <a:pt x="61151" y="349184"/>
                  </a:lnTo>
                  <a:cubicBezTo>
                    <a:pt x="47181" y="363154"/>
                    <a:pt x="24448" y="363154"/>
                    <a:pt x="10478" y="349184"/>
                  </a:cubicBezTo>
                  <a:cubicBezTo>
                    <a:pt x="-3492" y="335214"/>
                    <a:pt x="-3492" y="312481"/>
                    <a:pt x="10478" y="298512"/>
                  </a:cubicBezTo>
                  <a:lnTo>
                    <a:pt x="110555" y="198436"/>
                  </a:lnTo>
                  <a:cubicBezTo>
                    <a:pt x="120842" y="188149"/>
                    <a:pt x="120842" y="171385"/>
                    <a:pt x="110555" y="161098"/>
                  </a:cubicBezTo>
                  <a:lnTo>
                    <a:pt x="10478" y="61150"/>
                  </a:lnTo>
                  <a:cubicBezTo>
                    <a:pt x="-3492" y="47180"/>
                    <a:pt x="-3492" y="24447"/>
                    <a:pt x="10478" y="10477"/>
                  </a:cubicBezTo>
                  <a:cubicBezTo>
                    <a:pt x="24448" y="-3492"/>
                    <a:pt x="47181" y="-3492"/>
                    <a:pt x="61151" y="10477"/>
                  </a:cubicBezTo>
                  <a:lnTo>
                    <a:pt x="179771" y="129095"/>
                  </a:lnTo>
                  <a:lnTo>
                    <a:pt x="193487" y="1428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1" y="167766"/>
              <a:ext cx="100331" cy="158157"/>
            </a:xfrm>
            <a:custGeom>
              <a:avLst/>
              <a:gdLst/>
              <a:ahLst/>
              <a:cxnLst/>
              <a:rect l="l" t="t" r="r" b="b"/>
              <a:pathLst>
                <a:path w="100331" h="158157">
                  <a:moveTo>
                    <a:pt x="95759" y="90169"/>
                  </a:moveTo>
                  <a:lnTo>
                    <a:pt x="33528" y="152399"/>
                  </a:lnTo>
                  <a:cubicBezTo>
                    <a:pt x="21209" y="164718"/>
                    <a:pt x="0" y="155955"/>
                    <a:pt x="0" y="138556"/>
                  </a:cubicBezTo>
                  <a:lnTo>
                    <a:pt x="0" y="19685"/>
                  </a:lnTo>
                  <a:cubicBezTo>
                    <a:pt x="0" y="2159"/>
                    <a:pt x="21082" y="-6604"/>
                    <a:pt x="33528" y="5842"/>
                  </a:cubicBezTo>
                  <a:lnTo>
                    <a:pt x="95759" y="68071"/>
                  </a:lnTo>
                  <a:cubicBezTo>
                    <a:pt x="101855" y="74167"/>
                    <a:pt x="101855" y="84073"/>
                    <a:pt x="95759" y="9016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Freeform 5"/>
            <p:cNvSpPr/>
            <p:nvPr/>
          </p:nvSpPr>
          <p:spPr>
            <a:xfrm>
              <a:off x="63501" y="63500"/>
              <a:ext cx="223014" cy="367028"/>
            </a:xfrm>
            <a:custGeom>
              <a:avLst/>
              <a:gdLst/>
              <a:ahLst/>
              <a:cxnLst/>
              <a:rect l="l" t="t" r="r" b="b"/>
              <a:pathLst>
                <a:path w="223014" h="367028">
                  <a:moveTo>
                    <a:pt x="0" y="367027"/>
                  </a:moveTo>
                  <a:lnTo>
                    <a:pt x="223014" y="367027"/>
                  </a:lnTo>
                  <a:lnTo>
                    <a:pt x="2230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26767" y="6042346"/>
            <a:ext cx="349996" cy="494071"/>
            <a:chOff x="0" y="0"/>
            <a:chExt cx="349999" cy="494068"/>
          </a:xfrm>
        </p:grpSpPr>
        <p:sp>
          <p:nvSpPr>
            <p:cNvPr id="7" name="Freeform 7"/>
            <p:cNvSpPr/>
            <p:nvPr/>
          </p:nvSpPr>
          <p:spPr>
            <a:xfrm>
              <a:off x="72581" y="67119"/>
              <a:ext cx="208822" cy="359662"/>
            </a:xfrm>
            <a:custGeom>
              <a:avLst/>
              <a:gdLst/>
              <a:ahLst/>
              <a:cxnLst/>
              <a:rect l="l" t="t" r="r" b="b"/>
              <a:pathLst>
                <a:path w="208822" h="359662">
                  <a:moveTo>
                    <a:pt x="193487" y="142684"/>
                  </a:moveTo>
                  <a:cubicBezTo>
                    <a:pt x="213934" y="163130"/>
                    <a:pt x="213934" y="196404"/>
                    <a:pt x="193487" y="216851"/>
                  </a:cubicBezTo>
                  <a:lnTo>
                    <a:pt x="179771" y="230567"/>
                  </a:lnTo>
                  <a:lnTo>
                    <a:pt x="61151" y="349184"/>
                  </a:lnTo>
                  <a:cubicBezTo>
                    <a:pt x="47181" y="363154"/>
                    <a:pt x="24448" y="363154"/>
                    <a:pt x="10478" y="349184"/>
                  </a:cubicBezTo>
                  <a:cubicBezTo>
                    <a:pt x="-3492" y="335214"/>
                    <a:pt x="-3492" y="312481"/>
                    <a:pt x="10478" y="298512"/>
                  </a:cubicBezTo>
                  <a:lnTo>
                    <a:pt x="110555" y="198436"/>
                  </a:lnTo>
                  <a:cubicBezTo>
                    <a:pt x="120842" y="188149"/>
                    <a:pt x="120842" y="171385"/>
                    <a:pt x="110555" y="161098"/>
                  </a:cubicBezTo>
                  <a:lnTo>
                    <a:pt x="10478" y="61150"/>
                  </a:lnTo>
                  <a:cubicBezTo>
                    <a:pt x="-3492" y="47180"/>
                    <a:pt x="-3492" y="24447"/>
                    <a:pt x="10478" y="10477"/>
                  </a:cubicBezTo>
                  <a:cubicBezTo>
                    <a:pt x="24448" y="-3492"/>
                    <a:pt x="47181" y="-3492"/>
                    <a:pt x="61151" y="10477"/>
                  </a:cubicBezTo>
                  <a:lnTo>
                    <a:pt x="179771" y="129095"/>
                  </a:lnTo>
                  <a:lnTo>
                    <a:pt x="193487" y="1428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Freeform 8"/>
            <p:cNvSpPr/>
            <p:nvPr/>
          </p:nvSpPr>
          <p:spPr>
            <a:xfrm>
              <a:off x="63501" y="167766"/>
              <a:ext cx="100331" cy="158157"/>
            </a:xfrm>
            <a:custGeom>
              <a:avLst/>
              <a:gdLst/>
              <a:ahLst/>
              <a:cxnLst/>
              <a:rect l="l" t="t" r="r" b="b"/>
              <a:pathLst>
                <a:path w="100331" h="158157">
                  <a:moveTo>
                    <a:pt x="95759" y="90169"/>
                  </a:moveTo>
                  <a:lnTo>
                    <a:pt x="33528" y="152399"/>
                  </a:lnTo>
                  <a:cubicBezTo>
                    <a:pt x="21209" y="164718"/>
                    <a:pt x="0" y="155955"/>
                    <a:pt x="0" y="138556"/>
                  </a:cubicBezTo>
                  <a:lnTo>
                    <a:pt x="0" y="19685"/>
                  </a:lnTo>
                  <a:cubicBezTo>
                    <a:pt x="0" y="2159"/>
                    <a:pt x="21082" y="-6604"/>
                    <a:pt x="33528" y="5842"/>
                  </a:cubicBezTo>
                  <a:lnTo>
                    <a:pt x="95759" y="68071"/>
                  </a:lnTo>
                  <a:cubicBezTo>
                    <a:pt x="101855" y="74167"/>
                    <a:pt x="101855" y="84073"/>
                    <a:pt x="95759" y="9016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reeform 9"/>
            <p:cNvSpPr/>
            <p:nvPr/>
          </p:nvSpPr>
          <p:spPr>
            <a:xfrm>
              <a:off x="63501" y="63500"/>
              <a:ext cx="223014" cy="367028"/>
            </a:xfrm>
            <a:custGeom>
              <a:avLst/>
              <a:gdLst/>
              <a:ahLst/>
              <a:cxnLst/>
              <a:rect l="l" t="t" r="r" b="b"/>
              <a:pathLst>
                <a:path w="223014" h="367028">
                  <a:moveTo>
                    <a:pt x="0" y="367027"/>
                  </a:moveTo>
                  <a:lnTo>
                    <a:pt x="223014" y="367027"/>
                  </a:lnTo>
                  <a:lnTo>
                    <a:pt x="2230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6767" y="6806479"/>
            <a:ext cx="349996" cy="494071"/>
            <a:chOff x="0" y="0"/>
            <a:chExt cx="349999" cy="494068"/>
          </a:xfrm>
        </p:grpSpPr>
        <p:sp>
          <p:nvSpPr>
            <p:cNvPr id="11" name="Freeform 11"/>
            <p:cNvSpPr/>
            <p:nvPr/>
          </p:nvSpPr>
          <p:spPr>
            <a:xfrm>
              <a:off x="72581" y="67119"/>
              <a:ext cx="208822" cy="359662"/>
            </a:xfrm>
            <a:custGeom>
              <a:avLst/>
              <a:gdLst/>
              <a:ahLst/>
              <a:cxnLst/>
              <a:rect l="l" t="t" r="r" b="b"/>
              <a:pathLst>
                <a:path w="208822" h="359662">
                  <a:moveTo>
                    <a:pt x="193487" y="142684"/>
                  </a:moveTo>
                  <a:cubicBezTo>
                    <a:pt x="213934" y="163130"/>
                    <a:pt x="213934" y="196404"/>
                    <a:pt x="193487" y="216851"/>
                  </a:cubicBezTo>
                  <a:lnTo>
                    <a:pt x="179771" y="230567"/>
                  </a:lnTo>
                  <a:lnTo>
                    <a:pt x="61151" y="349184"/>
                  </a:lnTo>
                  <a:cubicBezTo>
                    <a:pt x="47181" y="363154"/>
                    <a:pt x="24448" y="363154"/>
                    <a:pt x="10478" y="349184"/>
                  </a:cubicBezTo>
                  <a:cubicBezTo>
                    <a:pt x="-3492" y="335214"/>
                    <a:pt x="-3492" y="312481"/>
                    <a:pt x="10478" y="298512"/>
                  </a:cubicBezTo>
                  <a:lnTo>
                    <a:pt x="110555" y="198436"/>
                  </a:lnTo>
                  <a:cubicBezTo>
                    <a:pt x="120842" y="188149"/>
                    <a:pt x="120842" y="171385"/>
                    <a:pt x="110555" y="161098"/>
                  </a:cubicBezTo>
                  <a:lnTo>
                    <a:pt x="10478" y="61150"/>
                  </a:lnTo>
                  <a:cubicBezTo>
                    <a:pt x="-3492" y="47180"/>
                    <a:pt x="-3492" y="24447"/>
                    <a:pt x="10478" y="10477"/>
                  </a:cubicBezTo>
                  <a:cubicBezTo>
                    <a:pt x="24448" y="-3492"/>
                    <a:pt x="47181" y="-3492"/>
                    <a:pt x="61151" y="10477"/>
                  </a:cubicBezTo>
                  <a:lnTo>
                    <a:pt x="179771" y="129095"/>
                  </a:lnTo>
                  <a:lnTo>
                    <a:pt x="193487" y="1428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3501" y="167766"/>
              <a:ext cx="100331" cy="158157"/>
            </a:xfrm>
            <a:custGeom>
              <a:avLst/>
              <a:gdLst/>
              <a:ahLst/>
              <a:cxnLst/>
              <a:rect l="l" t="t" r="r" b="b"/>
              <a:pathLst>
                <a:path w="100331" h="158157">
                  <a:moveTo>
                    <a:pt x="95759" y="90169"/>
                  </a:moveTo>
                  <a:lnTo>
                    <a:pt x="33528" y="152399"/>
                  </a:lnTo>
                  <a:cubicBezTo>
                    <a:pt x="21209" y="164718"/>
                    <a:pt x="0" y="155955"/>
                    <a:pt x="0" y="138556"/>
                  </a:cubicBezTo>
                  <a:lnTo>
                    <a:pt x="0" y="19685"/>
                  </a:lnTo>
                  <a:cubicBezTo>
                    <a:pt x="0" y="2159"/>
                    <a:pt x="21082" y="-6604"/>
                    <a:pt x="33528" y="5842"/>
                  </a:cubicBezTo>
                  <a:lnTo>
                    <a:pt x="95759" y="68071"/>
                  </a:lnTo>
                  <a:cubicBezTo>
                    <a:pt x="101855" y="74167"/>
                    <a:pt x="101855" y="84073"/>
                    <a:pt x="95759" y="9016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63501" y="63500"/>
              <a:ext cx="223014" cy="367028"/>
            </a:xfrm>
            <a:custGeom>
              <a:avLst/>
              <a:gdLst/>
              <a:ahLst/>
              <a:cxnLst/>
              <a:rect l="l" t="t" r="r" b="b"/>
              <a:pathLst>
                <a:path w="223014" h="367028">
                  <a:moveTo>
                    <a:pt x="0" y="367027"/>
                  </a:moveTo>
                  <a:lnTo>
                    <a:pt x="223014" y="367027"/>
                  </a:lnTo>
                  <a:lnTo>
                    <a:pt x="2230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26767" y="7570613"/>
            <a:ext cx="349996" cy="494071"/>
            <a:chOff x="0" y="0"/>
            <a:chExt cx="349999" cy="494068"/>
          </a:xfrm>
        </p:grpSpPr>
        <p:sp>
          <p:nvSpPr>
            <p:cNvPr id="15" name="Freeform 15"/>
            <p:cNvSpPr/>
            <p:nvPr/>
          </p:nvSpPr>
          <p:spPr>
            <a:xfrm>
              <a:off x="72581" y="67119"/>
              <a:ext cx="208822" cy="359662"/>
            </a:xfrm>
            <a:custGeom>
              <a:avLst/>
              <a:gdLst/>
              <a:ahLst/>
              <a:cxnLst/>
              <a:rect l="l" t="t" r="r" b="b"/>
              <a:pathLst>
                <a:path w="208822" h="359662">
                  <a:moveTo>
                    <a:pt x="193487" y="142684"/>
                  </a:moveTo>
                  <a:cubicBezTo>
                    <a:pt x="213934" y="163131"/>
                    <a:pt x="213934" y="196404"/>
                    <a:pt x="193487" y="216851"/>
                  </a:cubicBezTo>
                  <a:lnTo>
                    <a:pt x="179771" y="230567"/>
                  </a:lnTo>
                  <a:lnTo>
                    <a:pt x="61151" y="349184"/>
                  </a:lnTo>
                  <a:cubicBezTo>
                    <a:pt x="47181" y="363154"/>
                    <a:pt x="24448" y="363154"/>
                    <a:pt x="10478" y="349184"/>
                  </a:cubicBezTo>
                  <a:cubicBezTo>
                    <a:pt x="-3492" y="335214"/>
                    <a:pt x="-3492" y="312482"/>
                    <a:pt x="10478" y="298512"/>
                  </a:cubicBezTo>
                  <a:lnTo>
                    <a:pt x="110555" y="198436"/>
                  </a:lnTo>
                  <a:cubicBezTo>
                    <a:pt x="120842" y="188149"/>
                    <a:pt x="120842" y="171386"/>
                    <a:pt x="110555" y="161099"/>
                  </a:cubicBezTo>
                  <a:lnTo>
                    <a:pt x="10478" y="61150"/>
                  </a:lnTo>
                  <a:cubicBezTo>
                    <a:pt x="-3492" y="47180"/>
                    <a:pt x="-3492" y="24447"/>
                    <a:pt x="10478" y="10478"/>
                  </a:cubicBezTo>
                  <a:cubicBezTo>
                    <a:pt x="24448" y="-3492"/>
                    <a:pt x="47181" y="-3492"/>
                    <a:pt x="61151" y="10478"/>
                  </a:cubicBezTo>
                  <a:lnTo>
                    <a:pt x="179771" y="129095"/>
                  </a:lnTo>
                  <a:lnTo>
                    <a:pt x="193487" y="1428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1" y="167766"/>
              <a:ext cx="100331" cy="158157"/>
            </a:xfrm>
            <a:custGeom>
              <a:avLst/>
              <a:gdLst/>
              <a:ahLst/>
              <a:cxnLst/>
              <a:rect l="l" t="t" r="r" b="b"/>
              <a:pathLst>
                <a:path w="100331" h="158157">
                  <a:moveTo>
                    <a:pt x="95759" y="90169"/>
                  </a:moveTo>
                  <a:lnTo>
                    <a:pt x="33528" y="152399"/>
                  </a:lnTo>
                  <a:cubicBezTo>
                    <a:pt x="21209" y="164718"/>
                    <a:pt x="0" y="155955"/>
                    <a:pt x="0" y="138556"/>
                  </a:cubicBezTo>
                  <a:lnTo>
                    <a:pt x="0" y="19685"/>
                  </a:lnTo>
                  <a:cubicBezTo>
                    <a:pt x="0" y="2159"/>
                    <a:pt x="21082" y="-6604"/>
                    <a:pt x="33528" y="5842"/>
                  </a:cubicBezTo>
                  <a:lnTo>
                    <a:pt x="95759" y="68072"/>
                  </a:lnTo>
                  <a:cubicBezTo>
                    <a:pt x="101855" y="74167"/>
                    <a:pt x="101855" y="84073"/>
                    <a:pt x="95759" y="9016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501" y="63500"/>
              <a:ext cx="223014" cy="367028"/>
            </a:xfrm>
            <a:custGeom>
              <a:avLst/>
              <a:gdLst/>
              <a:ahLst/>
              <a:cxnLst/>
              <a:rect l="l" t="t" r="r" b="b"/>
              <a:pathLst>
                <a:path w="223014" h="367028">
                  <a:moveTo>
                    <a:pt x="0" y="367027"/>
                  </a:moveTo>
                  <a:lnTo>
                    <a:pt x="223014" y="367027"/>
                  </a:lnTo>
                  <a:lnTo>
                    <a:pt x="2230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1972620" y="0"/>
            <a:ext cx="5757786" cy="10287000"/>
          </a:xfrm>
          <a:custGeom>
            <a:avLst/>
            <a:gdLst/>
            <a:ahLst/>
            <a:cxnLst/>
            <a:rect l="l" t="t" r="r" b="b"/>
            <a:pathLst>
              <a:path w="5757786" h="10287000">
                <a:moveTo>
                  <a:pt x="0" y="0"/>
                </a:moveTo>
                <a:lnTo>
                  <a:pt x="5757786" y="0"/>
                </a:lnTo>
                <a:lnTo>
                  <a:pt x="575778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9" name="TextBox 19"/>
          <p:cNvSpPr txBox="1"/>
          <p:nvPr/>
        </p:nvSpPr>
        <p:spPr>
          <a:xfrm>
            <a:off x="790270" y="1609725"/>
            <a:ext cx="10540937" cy="2065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13"/>
              </a:lnSpc>
            </a:pPr>
            <a:r>
              <a:rPr lang="en-US" sz="8223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Segurança jurídica e posicionamento final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14170" y="4127049"/>
            <a:ext cx="94574" cy="6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5"/>
              </a:lnSpc>
            </a:pPr>
            <a:r>
              <a:rPr lang="en-US" sz="3632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0270" y="4127049"/>
            <a:ext cx="7969310" cy="6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5"/>
              </a:lnSpc>
            </a:pPr>
            <a:r>
              <a:rPr lang="en-US" sz="3632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Com o QWORK, sua empresa ganha: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3437" y="4982432"/>
            <a:ext cx="9043835" cy="306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0"/>
              </a:lnSpc>
            </a:pPr>
            <a:r>
              <a:rPr lang="en-US" sz="3346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Conformidade real com a NR-1</a:t>
            </a:r>
          </a:p>
          <a:p>
            <a:pPr algn="l">
              <a:lnSpc>
                <a:spcPts val="6150"/>
              </a:lnSpc>
            </a:pPr>
            <a:r>
              <a:rPr lang="en-US" sz="3346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Padronização do processo avaliativo</a:t>
            </a:r>
          </a:p>
          <a:p>
            <a:pPr algn="l">
              <a:lnSpc>
                <a:spcPts val="6150"/>
              </a:lnSpc>
            </a:pPr>
            <a:r>
              <a:rPr lang="en-US" sz="3346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Apoio ao RH, SESMT e Jurídico</a:t>
            </a:r>
          </a:p>
          <a:p>
            <a:pPr algn="l">
              <a:lnSpc>
                <a:spcPts val="6150"/>
              </a:lnSpc>
            </a:pPr>
            <a:r>
              <a:rPr lang="en-US" sz="3346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Evidência técnica para auditorias e fiscalizações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453852" y="2679840"/>
            <a:ext cx="4890897" cy="4459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9"/>
              </a:lnSpc>
            </a:pPr>
            <a:r>
              <a:rPr lang="en-US" sz="4666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QWORK não é um questionário.</a:t>
            </a:r>
          </a:p>
          <a:p>
            <a:pPr algn="ctr" rtl="1">
              <a:lnSpc>
                <a:spcPts val="4349"/>
              </a:lnSpc>
            </a:pPr>
            <a:endParaRPr lang="en-US" sz="4666" b="1">
              <a:solidFill>
                <a:srgbClr val="FFFFFF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  <a:p>
            <a:pPr algn="ctr">
              <a:lnSpc>
                <a:spcPts val="4349"/>
              </a:lnSpc>
            </a:pPr>
            <a:r>
              <a:rPr lang="en-US" sz="4666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É a ferramenta para cumprir a NR-1 com</a:t>
            </a:r>
          </a:p>
          <a:p>
            <a:pPr algn="ctr">
              <a:lnSpc>
                <a:spcPts val="4349"/>
              </a:lnSpc>
            </a:pPr>
            <a:r>
              <a:rPr lang="en-US" sz="4666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método, clareza e segurança jurídica.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-3172" y="-3172"/>
            <a:ext cx="18294353" cy="10293353"/>
            <a:chOff x="0" y="0"/>
            <a:chExt cx="24392471" cy="137244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92510" cy="13724510"/>
            </a:xfrm>
            <a:custGeom>
              <a:avLst/>
              <a:gdLst/>
              <a:ahLst/>
              <a:cxnLst/>
              <a:rect l="l" t="t" r="r" b="b"/>
              <a:pathLst>
                <a:path w="24392510" h="13724510">
                  <a:moveTo>
                    <a:pt x="0" y="0"/>
                  </a:moveTo>
                  <a:lnTo>
                    <a:pt x="24392510" y="0"/>
                  </a:lnTo>
                  <a:lnTo>
                    <a:pt x="24392510" y="13724510"/>
                  </a:lnTo>
                  <a:lnTo>
                    <a:pt x="0" y="13724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Freeform 6"/>
          <p:cNvSpPr/>
          <p:nvPr/>
        </p:nvSpPr>
        <p:spPr>
          <a:xfrm>
            <a:off x="-222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7" name="Group 7"/>
          <p:cNvGrpSpPr/>
          <p:nvPr/>
        </p:nvGrpSpPr>
        <p:grpSpPr>
          <a:xfrm>
            <a:off x="3363268" y="2017852"/>
            <a:ext cx="11556997" cy="3124200"/>
            <a:chOff x="0" y="0"/>
            <a:chExt cx="15409329" cy="4165600"/>
          </a:xfrm>
        </p:grpSpPr>
        <p:sp>
          <p:nvSpPr>
            <p:cNvPr id="8" name="Freeform 8"/>
            <p:cNvSpPr/>
            <p:nvPr/>
          </p:nvSpPr>
          <p:spPr>
            <a:xfrm>
              <a:off x="2121" y="0"/>
              <a:ext cx="15405100" cy="4165600"/>
            </a:xfrm>
            <a:custGeom>
              <a:avLst/>
              <a:gdLst/>
              <a:ahLst/>
              <a:cxnLst/>
              <a:rect l="l" t="t" r="r" b="b"/>
              <a:pathLst>
                <a:path w="15405100" h="4165600">
                  <a:moveTo>
                    <a:pt x="0" y="0"/>
                  </a:moveTo>
                  <a:lnTo>
                    <a:pt x="15405100" y="0"/>
                  </a:lnTo>
                  <a:lnTo>
                    <a:pt x="15405100" y="4165600"/>
                  </a:lnTo>
                  <a:lnTo>
                    <a:pt x="0" y="416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" r="-13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49442" y="6583804"/>
            <a:ext cx="628650" cy="635003"/>
            <a:chOff x="0" y="0"/>
            <a:chExt cx="838200" cy="846671"/>
          </a:xfrm>
        </p:grpSpPr>
        <p:sp>
          <p:nvSpPr>
            <p:cNvPr id="10" name="Freeform 10"/>
            <p:cNvSpPr/>
            <p:nvPr/>
          </p:nvSpPr>
          <p:spPr>
            <a:xfrm>
              <a:off x="0" y="876"/>
              <a:ext cx="838200" cy="850900"/>
            </a:xfrm>
            <a:custGeom>
              <a:avLst/>
              <a:gdLst/>
              <a:ahLst/>
              <a:cxnLst/>
              <a:rect l="l" t="t" r="r" b="b"/>
              <a:pathLst>
                <a:path w="838200" h="850900">
                  <a:moveTo>
                    <a:pt x="0" y="0"/>
                  </a:moveTo>
                  <a:lnTo>
                    <a:pt x="838200" y="0"/>
                  </a:lnTo>
                  <a:lnTo>
                    <a:pt x="838200" y="850900"/>
                  </a:lnTo>
                  <a:lnTo>
                    <a:pt x="0" y="85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06" t="-102" r="-604" b="600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49442" y="7358710"/>
            <a:ext cx="628650" cy="450847"/>
            <a:chOff x="0" y="0"/>
            <a:chExt cx="838200" cy="601129"/>
          </a:xfrm>
        </p:grpSpPr>
        <p:sp>
          <p:nvSpPr>
            <p:cNvPr id="12" name="Freeform 12"/>
            <p:cNvSpPr/>
            <p:nvPr/>
          </p:nvSpPr>
          <p:spPr>
            <a:xfrm>
              <a:off x="0" y="2045"/>
              <a:ext cx="838200" cy="596900"/>
            </a:xfrm>
            <a:custGeom>
              <a:avLst/>
              <a:gdLst/>
              <a:ahLst/>
              <a:cxnLst/>
              <a:rect l="l" t="t" r="r" b="b"/>
              <a:pathLst>
                <a:path w="838200" h="596900">
                  <a:moveTo>
                    <a:pt x="0" y="0"/>
                  </a:moveTo>
                  <a:lnTo>
                    <a:pt x="838200" y="0"/>
                  </a:lnTo>
                  <a:lnTo>
                    <a:pt x="838200" y="596900"/>
                  </a:lnTo>
                  <a:lnTo>
                    <a:pt x="0" y="59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98" t="-72" r="-612" b="-63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47013" y="6583756"/>
            <a:ext cx="635003" cy="635003"/>
            <a:chOff x="8898887" y="13168917"/>
            <a:chExt cx="1260259" cy="1267168"/>
          </a:xfrm>
        </p:grpSpPr>
        <p:sp>
          <p:nvSpPr>
            <p:cNvPr id="14" name="Freeform 14"/>
            <p:cNvSpPr/>
            <p:nvPr/>
          </p:nvSpPr>
          <p:spPr>
            <a:xfrm>
              <a:off x="3" y="5"/>
              <a:ext cx="1260259" cy="1267168"/>
            </a:xfrm>
            <a:custGeom>
              <a:avLst/>
              <a:gdLst/>
              <a:ahLst/>
              <a:cxnLst/>
              <a:rect l="l" t="t" r="r" b="b"/>
              <a:pathLst>
                <a:path w="1260259" h="1267168">
                  <a:moveTo>
                    <a:pt x="1260258" y="0"/>
                  </a:moveTo>
                  <a:lnTo>
                    <a:pt x="1260258" y="1267167"/>
                  </a:lnTo>
                  <a:lnTo>
                    <a:pt x="0" y="1267167"/>
                  </a:lnTo>
                  <a:lnTo>
                    <a:pt x="0" y="0"/>
                  </a:lnTo>
                  <a:lnTo>
                    <a:pt x="12602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47013" y="7359948"/>
            <a:ext cx="635003" cy="450847"/>
            <a:chOff x="8898887" y="14720486"/>
            <a:chExt cx="1260259" cy="900519"/>
          </a:xfrm>
        </p:grpSpPr>
        <p:sp>
          <p:nvSpPr>
            <p:cNvPr id="16" name="Freeform 16"/>
            <p:cNvSpPr/>
            <p:nvPr/>
          </p:nvSpPr>
          <p:spPr>
            <a:xfrm>
              <a:off x="3" y="-5"/>
              <a:ext cx="1260259" cy="900519"/>
            </a:xfrm>
            <a:custGeom>
              <a:avLst/>
              <a:gdLst/>
              <a:ahLst/>
              <a:cxnLst/>
              <a:rect l="l" t="t" r="r" b="b"/>
              <a:pathLst>
                <a:path w="1260259" h="900519">
                  <a:moveTo>
                    <a:pt x="1260258" y="0"/>
                  </a:moveTo>
                  <a:lnTo>
                    <a:pt x="1260258" y="900519"/>
                  </a:lnTo>
                  <a:lnTo>
                    <a:pt x="0" y="900519"/>
                  </a:lnTo>
                  <a:lnTo>
                    <a:pt x="0" y="0"/>
                  </a:lnTo>
                  <a:lnTo>
                    <a:pt x="126025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449442" y="5796153"/>
            <a:ext cx="4699359" cy="638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AMANDA CAMARGO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3402" y="6545942"/>
            <a:ext cx="6988597" cy="12770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3600" b="1" dirty="0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41 99540-1309 contato@nexo7.com.br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</Words>
  <Application>Microsoft Office PowerPoint</Application>
  <PresentationFormat>Personalizar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Red Hat Display Bold</vt:lpstr>
      <vt:lpstr>Calibri</vt:lpstr>
      <vt:lpstr>Red Hat Display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QWork - Empresa Ocupacional v2.pdf</dc:title>
  <dc:creator>Emmanuel Huergo</dc:creator>
  <cp:lastModifiedBy>Emmanuel Huergo</cp:lastModifiedBy>
  <cp:revision>2</cp:revision>
  <dcterms:created xsi:type="dcterms:W3CDTF">2006-08-16T00:00:00Z</dcterms:created>
  <dcterms:modified xsi:type="dcterms:W3CDTF">2026-07-12T20:20:11Z</dcterms:modified>
  <dc:identifier>DAHPLzjhXL4</dc:identifier>
</cp:coreProperties>
</file>