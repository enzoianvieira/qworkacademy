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5" r:id="rId6"/>
    <p:sldId id="261" r:id="rId7"/>
    <p:sldId id="266" r:id="rId8"/>
    <p:sldId id="268" r:id="rId9"/>
    <p:sldId id="263" r:id="rId10"/>
    <p:sldId id="267" r:id="rId1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8CF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189" autoAdjust="0"/>
  </p:normalViewPr>
  <p:slideViewPr>
    <p:cSldViewPr>
      <p:cViewPr varScale="1">
        <p:scale>
          <a:sx n="67" d="100"/>
          <a:sy n="67" d="100"/>
        </p:scale>
        <p:origin x="990" y="90"/>
      </p:cViewPr>
      <p:guideLst>
        <p:guide orient="horz" pos="2880"/>
        <p:guide pos="216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C6B94-0306-4ECC-A7D5-AE85C6436090}" type="datetimeFigureOut">
              <a:rPr lang="pt-BR" smtClean="0"/>
              <a:t>12/07/2026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23A4BB-931C-4A1D-AC08-3F0DB1672F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2848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3A4BB-931C-4A1D-AC08-3F0DB1672F21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22081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1B7B2-4D03-E005-324D-071D309F5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A53F9AB-03BF-32D5-565C-9A64402BAA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96D1F67-BA81-7D24-EACB-74BDA8E80C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E3659BF-2557-DB6D-8869-BCE0BDE402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3A4BB-931C-4A1D-AC08-3F0DB1672F21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81394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1C497-3902-8289-410E-3D891929B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EF3AA18-6B6C-2958-F115-B5ECE00BC0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CE399E9-FE37-970A-696C-3F4D4DB132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8B7E04C-5A15-3E2F-7C84-730F352628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3A4BB-931C-4A1D-AC08-3F0DB1672F21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8061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A7CF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8283536" cy="1028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8283536" cy="102870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64854" y="2017849"/>
            <a:ext cx="11553824" cy="31241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6306807" y="6613423"/>
            <a:ext cx="630555" cy="1225550"/>
          </a:xfrm>
          <a:custGeom>
            <a:avLst/>
            <a:gdLst/>
            <a:ahLst/>
            <a:cxnLst/>
            <a:rect l="l" t="t" r="r" b="b"/>
            <a:pathLst>
              <a:path w="630554" h="1225550">
                <a:moveTo>
                  <a:pt x="475361" y="393039"/>
                </a:moveTo>
                <a:lnTo>
                  <a:pt x="474332" y="388404"/>
                </a:lnTo>
                <a:lnTo>
                  <a:pt x="472351" y="385127"/>
                </a:lnTo>
                <a:lnTo>
                  <a:pt x="467131" y="383184"/>
                </a:lnTo>
                <a:lnTo>
                  <a:pt x="459308" y="379234"/>
                </a:lnTo>
                <a:lnTo>
                  <a:pt x="459143" y="379234"/>
                </a:lnTo>
                <a:lnTo>
                  <a:pt x="432269" y="366077"/>
                </a:lnTo>
                <a:lnTo>
                  <a:pt x="416026" y="358355"/>
                </a:lnTo>
                <a:lnTo>
                  <a:pt x="405726" y="353822"/>
                </a:lnTo>
                <a:lnTo>
                  <a:pt x="398526" y="351193"/>
                </a:lnTo>
                <a:lnTo>
                  <a:pt x="393331" y="349910"/>
                </a:lnTo>
                <a:lnTo>
                  <a:pt x="388112" y="357733"/>
                </a:lnTo>
                <a:lnTo>
                  <a:pt x="382663" y="365125"/>
                </a:lnTo>
                <a:lnTo>
                  <a:pt x="354152" y="394360"/>
                </a:lnTo>
                <a:lnTo>
                  <a:pt x="346290" y="390410"/>
                </a:lnTo>
                <a:lnTo>
                  <a:pt x="337362" y="386435"/>
                </a:lnTo>
                <a:lnTo>
                  <a:pt x="283260" y="351510"/>
                </a:lnTo>
                <a:lnTo>
                  <a:pt x="254444" y="319519"/>
                </a:lnTo>
                <a:lnTo>
                  <a:pt x="235102" y="289356"/>
                </a:lnTo>
                <a:lnTo>
                  <a:pt x="239204" y="285127"/>
                </a:lnTo>
                <a:lnTo>
                  <a:pt x="246621" y="277710"/>
                </a:lnTo>
                <a:lnTo>
                  <a:pt x="250939" y="272046"/>
                </a:lnTo>
                <a:lnTo>
                  <a:pt x="258787" y="262915"/>
                </a:lnTo>
                <a:lnTo>
                  <a:pt x="260108" y="259626"/>
                </a:lnTo>
                <a:lnTo>
                  <a:pt x="262699" y="254393"/>
                </a:lnTo>
                <a:lnTo>
                  <a:pt x="265328" y="249174"/>
                </a:lnTo>
                <a:lnTo>
                  <a:pt x="264020" y="244602"/>
                </a:lnTo>
                <a:lnTo>
                  <a:pt x="262051" y="240665"/>
                </a:lnTo>
                <a:lnTo>
                  <a:pt x="258356" y="232130"/>
                </a:lnTo>
                <a:lnTo>
                  <a:pt x="251675" y="215988"/>
                </a:lnTo>
                <a:lnTo>
                  <a:pt x="244144" y="197637"/>
                </a:lnTo>
                <a:lnTo>
                  <a:pt x="237883" y="182486"/>
                </a:lnTo>
                <a:lnTo>
                  <a:pt x="232359" y="169202"/>
                </a:lnTo>
                <a:lnTo>
                  <a:pt x="231533" y="167208"/>
                </a:lnTo>
                <a:lnTo>
                  <a:pt x="225272" y="169202"/>
                </a:lnTo>
                <a:lnTo>
                  <a:pt x="223672" y="169202"/>
                </a:lnTo>
                <a:lnTo>
                  <a:pt x="214452" y="168744"/>
                </a:lnTo>
                <a:lnTo>
                  <a:pt x="200012" y="168744"/>
                </a:lnTo>
                <a:lnTo>
                  <a:pt x="167932" y="199707"/>
                </a:lnTo>
                <a:lnTo>
                  <a:pt x="156921" y="243916"/>
                </a:lnTo>
                <a:lnTo>
                  <a:pt x="157035" y="244602"/>
                </a:lnTo>
                <a:lnTo>
                  <a:pt x="161366" y="272046"/>
                </a:lnTo>
                <a:lnTo>
                  <a:pt x="182270" y="315531"/>
                </a:lnTo>
                <a:lnTo>
                  <a:pt x="227863" y="373392"/>
                </a:lnTo>
                <a:lnTo>
                  <a:pt x="269290" y="411251"/>
                </a:lnTo>
                <a:lnTo>
                  <a:pt x="322821" y="443331"/>
                </a:lnTo>
                <a:lnTo>
                  <a:pt x="367512" y="459854"/>
                </a:lnTo>
                <a:lnTo>
                  <a:pt x="394169" y="464413"/>
                </a:lnTo>
                <a:lnTo>
                  <a:pt x="406107" y="464172"/>
                </a:lnTo>
                <a:lnTo>
                  <a:pt x="446506" y="450342"/>
                </a:lnTo>
                <a:lnTo>
                  <a:pt x="473506" y="412597"/>
                </a:lnTo>
                <a:lnTo>
                  <a:pt x="475348" y="394360"/>
                </a:lnTo>
                <a:lnTo>
                  <a:pt x="475361" y="393039"/>
                </a:lnTo>
                <a:close/>
              </a:path>
              <a:path w="630554" h="1225550">
                <a:moveTo>
                  <a:pt x="629881" y="313613"/>
                </a:moveTo>
                <a:lnTo>
                  <a:pt x="626046" y="264299"/>
                </a:lnTo>
                <a:lnTo>
                  <a:pt x="614654" y="216636"/>
                </a:lnTo>
                <a:lnTo>
                  <a:pt x="596011" y="171564"/>
                </a:lnTo>
                <a:lnTo>
                  <a:pt x="576948" y="140462"/>
                </a:lnTo>
                <a:lnTo>
                  <a:pt x="576948" y="313829"/>
                </a:lnTo>
                <a:lnTo>
                  <a:pt x="572719" y="360629"/>
                </a:lnTo>
                <a:lnTo>
                  <a:pt x="560578" y="404698"/>
                </a:lnTo>
                <a:lnTo>
                  <a:pt x="541261" y="445300"/>
                </a:lnTo>
                <a:lnTo>
                  <a:pt x="515505" y="481698"/>
                </a:lnTo>
                <a:lnTo>
                  <a:pt x="484073" y="513130"/>
                </a:lnTo>
                <a:lnTo>
                  <a:pt x="447687" y="538886"/>
                </a:lnTo>
                <a:lnTo>
                  <a:pt x="407085" y="558190"/>
                </a:lnTo>
                <a:lnTo>
                  <a:pt x="363029" y="570318"/>
                </a:lnTo>
                <a:lnTo>
                  <a:pt x="316280" y="574522"/>
                </a:lnTo>
                <a:lnTo>
                  <a:pt x="247319" y="565264"/>
                </a:lnTo>
                <a:lnTo>
                  <a:pt x="183489" y="538187"/>
                </a:lnTo>
                <a:lnTo>
                  <a:pt x="173977" y="532523"/>
                </a:lnTo>
                <a:lnTo>
                  <a:pt x="75298" y="558406"/>
                </a:lnTo>
                <a:lnTo>
                  <a:pt x="75361" y="558190"/>
                </a:lnTo>
                <a:lnTo>
                  <a:pt x="101625" y="462203"/>
                </a:lnTo>
                <a:lnTo>
                  <a:pt x="95427" y="452348"/>
                </a:lnTo>
                <a:lnTo>
                  <a:pt x="78181" y="420090"/>
                </a:lnTo>
                <a:lnTo>
                  <a:pt x="65709" y="385889"/>
                </a:lnTo>
                <a:lnTo>
                  <a:pt x="58127" y="350240"/>
                </a:lnTo>
                <a:lnTo>
                  <a:pt x="58102" y="349910"/>
                </a:lnTo>
                <a:lnTo>
                  <a:pt x="55587" y="313613"/>
                </a:lnTo>
                <a:lnTo>
                  <a:pt x="59817" y="266827"/>
                </a:lnTo>
                <a:lnTo>
                  <a:pt x="71958" y="222758"/>
                </a:lnTo>
                <a:lnTo>
                  <a:pt x="91274" y="182156"/>
                </a:lnTo>
                <a:lnTo>
                  <a:pt x="117030" y="145770"/>
                </a:lnTo>
                <a:lnTo>
                  <a:pt x="148475" y="114338"/>
                </a:lnTo>
                <a:lnTo>
                  <a:pt x="184873" y="88595"/>
                </a:lnTo>
                <a:lnTo>
                  <a:pt x="225488" y="69278"/>
                </a:lnTo>
                <a:lnTo>
                  <a:pt x="269570" y="57150"/>
                </a:lnTo>
                <a:lnTo>
                  <a:pt x="316382" y="52946"/>
                </a:lnTo>
                <a:lnTo>
                  <a:pt x="367626" y="57962"/>
                </a:lnTo>
                <a:lnTo>
                  <a:pt x="416179" y="72694"/>
                </a:lnTo>
                <a:lnTo>
                  <a:pt x="460908" y="96659"/>
                </a:lnTo>
                <a:lnTo>
                  <a:pt x="500684" y="129400"/>
                </a:lnTo>
                <a:lnTo>
                  <a:pt x="533374" y="169202"/>
                </a:lnTo>
                <a:lnTo>
                  <a:pt x="557288" y="213969"/>
                </a:lnTo>
                <a:lnTo>
                  <a:pt x="571969" y="262547"/>
                </a:lnTo>
                <a:lnTo>
                  <a:pt x="576948" y="313829"/>
                </a:lnTo>
                <a:lnTo>
                  <a:pt x="576948" y="140462"/>
                </a:lnTo>
                <a:lnTo>
                  <a:pt x="542137" y="96659"/>
                </a:lnTo>
                <a:lnTo>
                  <a:pt x="500380" y="59639"/>
                </a:lnTo>
                <a:lnTo>
                  <a:pt x="489483" y="52946"/>
                </a:lnTo>
                <a:lnTo>
                  <a:pt x="458635" y="33985"/>
                </a:lnTo>
                <a:lnTo>
                  <a:pt x="413575" y="15303"/>
                </a:lnTo>
                <a:lnTo>
                  <a:pt x="365887" y="3873"/>
                </a:lnTo>
                <a:lnTo>
                  <a:pt x="316280" y="0"/>
                </a:lnTo>
                <a:lnTo>
                  <a:pt x="270014" y="3403"/>
                </a:lnTo>
                <a:lnTo>
                  <a:pt x="225831" y="13296"/>
                </a:lnTo>
                <a:lnTo>
                  <a:pt x="184213" y="29184"/>
                </a:lnTo>
                <a:lnTo>
                  <a:pt x="145669" y="50584"/>
                </a:lnTo>
                <a:lnTo>
                  <a:pt x="110667" y="77012"/>
                </a:lnTo>
                <a:lnTo>
                  <a:pt x="79705" y="107962"/>
                </a:lnTo>
                <a:lnTo>
                  <a:pt x="53276" y="142963"/>
                </a:lnTo>
                <a:lnTo>
                  <a:pt x="31864" y="181508"/>
                </a:lnTo>
                <a:lnTo>
                  <a:pt x="15963" y="223126"/>
                </a:lnTo>
                <a:lnTo>
                  <a:pt x="6057" y="267322"/>
                </a:lnTo>
                <a:lnTo>
                  <a:pt x="2628" y="313613"/>
                </a:lnTo>
                <a:lnTo>
                  <a:pt x="2755" y="315531"/>
                </a:lnTo>
                <a:lnTo>
                  <a:pt x="5321" y="354736"/>
                </a:lnTo>
                <a:lnTo>
                  <a:pt x="13284" y="394906"/>
                </a:lnTo>
                <a:lnTo>
                  <a:pt x="26390" y="433616"/>
                </a:lnTo>
                <a:lnTo>
                  <a:pt x="44513" y="470408"/>
                </a:lnTo>
                <a:lnTo>
                  <a:pt x="0" y="632929"/>
                </a:lnTo>
                <a:lnTo>
                  <a:pt x="166281" y="589292"/>
                </a:lnTo>
                <a:lnTo>
                  <a:pt x="201650" y="605802"/>
                </a:lnTo>
                <a:lnTo>
                  <a:pt x="238721" y="617753"/>
                </a:lnTo>
                <a:lnTo>
                  <a:pt x="277037" y="625017"/>
                </a:lnTo>
                <a:lnTo>
                  <a:pt x="316153" y="627481"/>
                </a:lnTo>
                <a:lnTo>
                  <a:pt x="362546" y="624078"/>
                </a:lnTo>
                <a:lnTo>
                  <a:pt x="406730" y="614172"/>
                </a:lnTo>
                <a:lnTo>
                  <a:pt x="448335" y="598284"/>
                </a:lnTo>
                <a:lnTo>
                  <a:pt x="464515" y="589292"/>
                </a:lnTo>
                <a:lnTo>
                  <a:pt x="486879" y="576884"/>
                </a:lnTo>
                <a:lnTo>
                  <a:pt x="490004" y="574522"/>
                </a:lnTo>
                <a:lnTo>
                  <a:pt x="521881" y="550456"/>
                </a:lnTo>
                <a:lnTo>
                  <a:pt x="552843" y="519493"/>
                </a:lnTo>
                <a:lnTo>
                  <a:pt x="579272" y="484505"/>
                </a:lnTo>
                <a:lnTo>
                  <a:pt x="600684" y="445947"/>
                </a:lnTo>
                <a:lnTo>
                  <a:pt x="616585" y="404329"/>
                </a:lnTo>
                <a:lnTo>
                  <a:pt x="626491" y="360133"/>
                </a:lnTo>
                <a:lnTo>
                  <a:pt x="629780" y="315531"/>
                </a:lnTo>
                <a:lnTo>
                  <a:pt x="629881" y="313613"/>
                </a:lnTo>
                <a:close/>
              </a:path>
              <a:path w="630554" h="1225550">
                <a:moveTo>
                  <a:pt x="629996" y="831405"/>
                </a:moveTo>
                <a:lnTo>
                  <a:pt x="628853" y="828243"/>
                </a:lnTo>
                <a:lnTo>
                  <a:pt x="622630" y="811009"/>
                </a:lnTo>
                <a:lnTo>
                  <a:pt x="621995" y="809244"/>
                </a:lnTo>
                <a:lnTo>
                  <a:pt x="607237" y="791527"/>
                </a:lnTo>
                <a:lnTo>
                  <a:pt x="596252" y="785075"/>
                </a:lnTo>
                <a:lnTo>
                  <a:pt x="596252" y="828243"/>
                </a:lnTo>
                <a:lnTo>
                  <a:pt x="596252" y="1155547"/>
                </a:lnTo>
                <a:lnTo>
                  <a:pt x="594931" y="1168603"/>
                </a:lnTo>
                <a:lnTo>
                  <a:pt x="590981" y="1178598"/>
                </a:lnTo>
                <a:lnTo>
                  <a:pt x="584415" y="1185659"/>
                </a:lnTo>
                <a:lnTo>
                  <a:pt x="575157" y="1189990"/>
                </a:lnTo>
                <a:lnTo>
                  <a:pt x="529463" y="1144206"/>
                </a:lnTo>
                <a:lnTo>
                  <a:pt x="529463" y="1191742"/>
                </a:lnTo>
                <a:lnTo>
                  <a:pt x="99161" y="1191742"/>
                </a:lnTo>
                <a:lnTo>
                  <a:pt x="101269" y="1189634"/>
                </a:lnTo>
                <a:lnTo>
                  <a:pt x="249618" y="1041285"/>
                </a:lnTo>
                <a:lnTo>
                  <a:pt x="312737" y="1104747"/>
                </a:lnTo>
                <a:lnTo>
                  <a:pt x="319747" y="1104747"/>
                </a:lnTo>
                <a:lnTo>
                  <a:pt x="367550" y="1056944"/>
                </a:lnTo>
                <a:lnTo>
                  <a:pt x="381101" y="1043381"/>
                </a:lnTo>
                <a:lnTo>
                  <a:pt x="529463" y="1191742"/>
                </a:lnTo>
                <a:lnTo>
                  <a:pt x="529463" y="1144206"/>
                </a:lnTo>
                <a:lnTo>
                  <a:pt x="428840" y="1043381"/>
                </a:lnTo>
                <a:lnTo>
                  <a:pt x="405003" y="1019492"/>
                </a:lnTo>
                <a:lnTo>
                  <a:pt x="596252" y="828243"/>
                </a:lnTo>
                <a:lnTo>
                  <a:pt x="596252" y="785075"/>
                </a:lnTo>
                <a:lnTo>
                  <a:pt x="587235" y="779767"/>
                </a:lnTo>
                <a:lnTo>
                  <a:pt x="565658" y="775893"/>
                </a:lnTo>
                <a:lnTo>
                  <a:pt x="565658" y="811009"/>
                </a:lnTo>
                <a:lnTo>
                  <a:pt x="319735" y="1056944"/>
                </a:lnTo>
                <a:lnTo>
                  <a:pt x="312724" y="1056944"/>
                </a:lnTo>
                <a:lnTo>
                  <a:pt x="297040" y="1041273"/>
                </a:lnTo>
                <a:lnTo>
                  <a:pt x="225717" y="970064"/>
                </a:lnTo>
                <a:lnTo>
                  <a:pt x="225717" y="1017727"/>
                </a:lnTo>
                <a:lnTo>
                  <a:pt x="53809" y="1189634"/>
                </a:lnTo>
                <a:lnTo>
                  <a:pt x="46355" y="1185659"/>
                </a:lnTo>
                <a:lnTo>
                  <a:pt x="41414" y="1179817"/>
                </a:lnTo>
                <a:lnTo>
                  <a:pt x="38633" y="1172286"/>
                </a:lnTo>
                <a:lnTo>
                  <a:pt x="37630" y="1163269"/>
                </a:lnTo>
                <a:lnTo>
                  <a:pt x="37630" y="829640"/>
                </a:lnTo>
                <a:lnTo>
                  <a:pt x="225717" y="1017727"/>
                </a:lnTo>
                <a:lnTo>
                  <a:pt x="225717" y="970064"/>
                </a:lnTo>
                <a:lnTo>
                  <a:pt x="85102" y="829640"/>
                </a:lnTo>
                <a:lnTo>
                  <a:pt x="66446" y="811009"/>
                </a:lnTo>
                <a:lnTo>
                  <a:pt x="565658" y="811009"/>
                </a:lnTo>
                <a:lnTo>
                  <a:pt x="565658" y="775893"/>
                </a:lnTo>
                <a:lnTo>
                  <a:pt x="563537" y="775512"/>
                </a:lnTo>
                <a:lnTo>
                  <a:pt x="67500" y="775512"/>
                </a:lnTo>
                <a:lnTo>
                  <a:pt x="41224" y="780808"/>
                </a:lnTo>
                <a:lnTo>
                  <a:pt x="19773" y="795261"/>
                </a:lnTo>
                <a:lnTo>
                  <a:pt x="5308" y="816711"/>
                </a:lnTo>
                <a:lnTo>
                  <a:pt x="0" y="843000"/>
                </a:lnTo>
                <a:lnTo>
                  <a:pt x="292" y="894638"/>
                </a:lnTo>
                <a:lnTo>
                  <a:pt x="177" y="1056944"/>
                </a:lnTo>
                <a:lnTo>
                  <a:pt x="63" y="1105560"/>
                </a:lnTo>
                <a:lnTo>
                  <a:pt x="0" y="1157998"/>
                </a:lnTo>
                <a:lnTo>
                  <a:pt x="4927" y="1183347"/>
                </a:lnTo>
                <a:lnTo>
                  <a:pt x="18389" y="1204239"/>
                </a:lnTo>
                <a:lnTo>
                  <a:pt x="38493" y="1218806"/>
                </a:lnTo>
                <a:lnTo>
                  <a:pt x="63284" y="1225143"/>
                </a:lnTo>
                <a:lnTo>
                  <a:pt x="565302" y="1225499"/>
                </a:lnTo>
                <a:lnTo>
                  <a:pt x="590600" y="1219454"/>
                </a:lnTo>
                <a:lnTo>
                  <a:pt x="611149" y="1204849"/>
                </a:lnTo>
                <a:lnTo>
                  <a:pt x="619696" y="1191742"/>
                </a:lnTo>
                <a:lnTo>
                  <a:pt x="620839" y="1189990"/>
                </a:lnTo>
                <a:lnTo>
                  <a:pt x="624954" y="1183703"/>
                </a:lnTo>
                <a:lnTo>
                  <a:pt x="625017" y="1183347"/>
                </a:lnTo>
                <a:lnTo>
                  <a:pt x="629996" y="1157998"/>
                </a:lnTo>
                <a:lnTo>
                  <a:pt x="629996" y="831405"/>
                </a:lnTo>
                <a:close/>
              </a:path>
            </a:pathLst>
          </a:custGeom>
          <a:solidFill>
            <a:srgbClr val="A7CF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7569" y="1387468"/>
            <a:ext cx="10360025" cy="2259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54022" y="3708294"/>
            <a:ext cx="10172700" cy="5146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Relationship Id="rId9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.pn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svg"/><Relationship Id="rId5" Type="http://schemas.openxmlformats.org/officeDocument/2006/relationships/image" Target="../media/image17.svg"/><Relationship Id="rId4" Type="http://schemas.openxmlformats.org/officeDocument/2006/relationships/image" Target="../media/image4.png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A1F34F68-1588-0412-2CD0-7CE46C5D7D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8287998" cy="10280154"/>
          </a:xfrm>
          <a:prstGeom prst="rect">
            <a:avLst/>
          </a:prstGeom>
        </p:spPr>
      </p:pic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0" y="4529768"/>
            <a:ext cx="1828799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pt-BR" sz="4400" dirty="0">
                <a:solidFill>
                  <a:srgbClr val="A8CF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Gestão de Riscos Psicossociais para Atendimento à NR-1</a:t>
            </a:r>
            <a:endParaRPr sz="4400" dirty="0">
              <a:solidFill>
                <a:srgbClr val="A8CF4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00600" y="1638300"/>
            <a:ext cx="8153987" cy="1981199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E64E8105-0FEE-36B0-7491-6FA9C5F5EA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429" b="35333"/>
          <a:stretch>
            <a:fillRect/>
          </a:stretch>
        </p:blipFill>
        <p:spPr>
          <a:xfrm>
            <a:off x="1676399" y="6622476"/>
            <a:ext cx="14935200" cy="2712024"/>
          </a:xfrm>
          <a:prstGeom prst="rect">
            <a:avLst/>
          </a:prstGeom>
        </p:spPr>
      </p:pic>
      <p:sp>
        <p:nvSpPr>
          <p:cNvPr id="5" name="object 2" descr="$PPTXTitle">
            <a:extLst>
              <a:ext uri="{FF2B5EF4-FFF2-40B4-BE49-F238E27FC236}">
                <a16:creationId xmlns:a16="http://schemas.microsoft.com/office/drawing/2014/main" id="{1CDD4FB1-4ED1-F3B1-ACB3-250FE89A2B04}"/>
              </a:ext>
            </a:extLst>
          </p:cNvPr>
          <p:cNvSpPr txBox="1">
            <a:spLocks/>
          </p:cNvSpPr>
          <p:nvPr/>
        </p:nvSpPr>
        <p:spPr>
          <a:xfrm>
            <a:off x="-1" y="5269950"/>
            <a:ext cx="1828799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200" b="1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pt-BR" sz="32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Conformidade legal, segurança jurídica e proteção para sua empresa.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bg object 16">
            <a:extLst>
              <a:ext uri="{FF2B5EF4-FFF2-40B4-BE49-F238E27FC236}">
                <a16:creationId xmlns:a16="http://schemas.microsoft.com/office/drawing/2014/main" id="{36DCC97C-84EE-84EE-6887-550C932CB23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1" y="0"/>
            <a:ext cx="553842" cy="10287000"/>
          </a:xfrm>
          <a:custGeom>
            <a:avLst/>
            <a:gdLst/>
            <a:ahLst/>
            <a:cxnLst/>
            <a:rect l="l" t="t" r="r" b="b"/>
            <a:pathLst>
              <a:path w="6936740" h="10287000">
                <a:moveTo>
                  <a:pt x="6936221" y="10287000"/>
                </a:moveTo>
                <a:lnTo>
                  <a:pt x="0" y="10287000"/>
                </a:lnTo>
                <a:lnTo>
                  <a:pt x="0" y="38406"/>
                </a:lnTo>
                <a:lnTo>
                  <a:pt x="1383" y="0"/>
                </a:lnTo>
                <a:lnTo>
                  <a:pt x="6934837" y="0"/>
                </a:lnTo>
                <a:lnTo>
                  <a:pt x="6936221" y="38406"/>
                </a:lnTo>
                <a:lnTo>
                  <a:pt x="6936221" y="10287000"/>
                </a:lnTo>
                <a:close/>
              </a:path>
            </a:pathLst>
          </a:custGeom>
          <a:solidFill>
            <a:srgbClr val="A7CF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290851" y="1979165"/>
            <a:ext cx="9300949" cy="2228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36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atualização da </a:t>
            </a:r>
            <a:r>
              <a:rPr lang="pt-BR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NR-1</a:t>
            </a:r>
            <a:r>
              <a:rPr lang="pt-BR" sz="36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passou a exigir que as empresas identifiquem, avaliem e gerenciem os riscos psicossociais presentes no ambiente de trabalho.</a:t>
            </a:r>
            <a:endParaRPr sz="3600" b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90851" y="3958481"/>
            <a:ext cx="13363433" cy="4872744"/>
          </a:xfrm>
          <a:prstGeom prst="rect">
            <a:avLst/>
          </a:prstGeom>
        </p:spPr>
        <p:txBody>
          <a:bodyPr vert="horz" wrap="square" lIns="0" tIns="42418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4800" b="1" dirty="0">
                <a:solidFill>
                  <a:srgbClr val="A8CF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Entre eles:</a:t>
            </a:r>
          </a:p>
          <a:p>
            <a:pPr>
              <a:lnSpc>
                <a:spcPct val="150000"/>
              </a:lnSpc>
            </a:pPr>
            <a:r>
              <a:rPr lang="pt-BR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✅ Sobrecarga de trabalho</a:t>
            </a:r>
          </a:p>
          <a:p>
            <a:pPr>
              <a:lnSpc>
                <a:spcPct val="150000"/>
              </a:lnSpc>
            </a:pPr>
            <a:r>
              <a:rPr lang="pt-BR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✅ Assédio moral e sexual</a:t>
            </a:r>
          </a:p>
          <a:p>
            <a:pPr>
              <a:lnSpc>
                <a:spcPct val="150000"/>
              </a:lnSpc>
            </a:pPr>
            <a:r>
              <a:rPr lang="pt-BR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✅ Falta de apoio da liderança</a:t>
            </a:r>
          </a:p>
          <a:p>
            <a:pPr>
              <a:lnSpc>
                <a:spcPct val="150000"/>
              </a:lnSpc>
            </a:pPr>
            <a:r>
              <a:rPr lang="pt-BR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✅ Baixo reconhecimento</a:t>
            </a:r>
          </a:p>
          <a:p>
            <a:pPr>
              <a:lnSpc>
                <a:spcPct val="150000"/>
              </a:lnSpc>
            </a:pPr>
            <a:r>
              <a:rPr lang="pt-BR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✅ Pressão excessiva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295400" y="190500"/>
            <a:ext cx="11861800" cy="1355499"/>
          </a:xfrm>
          <a:prstGeom prst="rect">
            <a:avLst/>
          </a:prstGeom>
        </p:spPr>
        <p:txBody>
          <a:bodyPr vert="horz" wrap="square" lIns="0" tIns="519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0"/>
              </a:spcBef>
            </a:pPr>
            <a:r>
              <a:rPr lang="pt-BR" sz="5400" b="1" dirty="0">
                <a:solidFill>
                  <a:srgbClr val="A8CF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Sua empresa está preparada?</a:t>
            </a:r>
            <a:endParaRPr sz="5400" b="1" dirty="0">
              <a:solidFill>
                <a:srgbClr val="A8CF4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bg object 18">
            <a:extLst>
              <a:ext uri="{FF2B5EF4-FFF2-40B4-BE49-F238E27FC236}">
                <a16:creationId xmlns:a16="http://schemas.microsoft.com/office/drawing/2014/main" id="{7BD9D6CD-9650-1666-7124-F8A4F6062CF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25800" y="371915"/>
            <a:ext cx="1905587" cy="496334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58DE8ED8-ABC9-87BD-875E-77CB13175E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90"/>
          <a:stretch>
            <a:fillRect/>
          </a:stretch>
        </p:blipFill>
        <p:spPr>
          <a:xfrm>
            <a:off x="5480314" y="3423"/>
            <a:ext cx="12807686" cy="102835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0" y="419100"/>
            <a:ext cx="18288000" cy="1246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0"/>
              </a:spcBef>
            </a:pPr>
            <a:r>
              <a:rPr sz="8000" spc="28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sz="8000" spc="-919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8000" spc="17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sz="8000" spc="-919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8000" spc="28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isso</a:t>
            </a:r>
            <a:r>
              <a:rPr sz="8000" spc="-91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8000" spc="10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sz="8000" spc="-919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8000" spc="275" dirty="0">
                <a:solidFill>
                  <a:srgbClr val="A7CF45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u</a:t>
            </a:r>
            <a:r>
              <a:rPr sz="8000" spc="25" dirty="0">
                <a:solidFill>
                  <a:srgbClr val="A7CF45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r</a:t>
            </a:r>
            <a:r>
              <a:rPr sz="8000" spc="275" dirty="0">
                <a:solidFill>
                  <a:srgbClr val="A7CF45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ge</a:t>
            </a:r>
            <a:r>
              <a:rPr sz="8000" spc="85" dirty="0">
                <a:solidFill>
                  <a:srgbClr val="A7CF45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n</a:t>
            </a:r>
            <a:r>
              <a:rPr sz="8000" spc="225" dirty="0">
                <a:solidFill>
                  <a:srgbClr val="A7CF45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</a:t>
            </a:r>
            <a:r>
              <a:rPr sz="8000" spc="-350" dirty="0">
                <a:solidFill>
                  <a:srgbClr val="A7CF45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e</a:t>
            </a:r>
            <a:r>
              <a:rPr sz="8000" spc="275" dirty="0">
                <a:solidFill>
                  <a:srgbClr val="A7CF45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?</a:t>
            </a:r>
            <a:endParaRPr sz="8000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bg object 18">
            <a:extLst>
              <a:ext uri="{FF2B5EF4-FFF2-40B4-BE49-F238E27FC236}">
                <a16:creationId xmlns:a16="http://schemas.microsoft.com/office/drawing/2014/main" id="{0C6028DF-16B6-B6C8-4274-600CC1BEF25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25800" y="371915"/>
            <a:ext cx="1905587" cy="496334"/>
          </a:xfrm>
          <a:prstGeom prst="rect">
            <a:avLst/>
          </a:prstGeom>
        </p:spPr>
      </p:pic>
      <p:sp>
        <p:nvSpPr>
          <p:cNvPr id="19" name="object 2" descr="$PPTXTitle">
            <a:extLst>
              <a:ext uri="{FF2B5EF4-FFF2-40B4-BE49-F238E27FC236}">
                <a16:creationId xmlns:a16="http://schemas.microsoft.com/office/drawing/2014/main" id="{DA4AFDD7-0F20-0835-B3EB-3E78CC0851F7}"/>
              </a:ext>
            </a:extLst>
          </p:cNvPr>
          <p:cNvSpPr txBox="1">
            <a:spLocks/>
          </p:cNvSpPr>
          <p:nvPr/>
        </p:nvSpPr>
        <p:spPr>
          <a:xfrm>
            <a:off x="9100" y="1760986"/>
            <a:ext cx="18287999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200" b="1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pt-BR" sz="24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saúde mental no trabalho </a:t>
            </a:r>
            <a:r>
              <a:rPr lang="pt-BR" sz="2400" dirty="0">
                <a:solidFill>
                  <a:srgbClr val="A8CF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impacta pessoas, resultados e o futuro </a:t>
            </a:r>
            <a:r>
              <a:rPr lang="pt-BR" sz="24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 sua empresa.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DF27F20D-7E37-D08E-94FA-1DA8F69AE5B1}"/>
              </a:ext>
            </a:extLst>
          </p:cNvPr>
          <p:cNvSpPr/>
          <p:nvPr/>
        </p:nvSpPr>
        <p:spPr>
          <a:xfrm>
            <a:off x="1676400" y="3474809"/>
            <a:ext cx="4495800" cy="4800600"/>
          </a:xfrm>
          <a:prstGeom prst="rect">
            <a:avLst/>
          </a:prstGeom>
          <a:noFill/>
          <a:ln>
            <a:solidFill>
              <a:srgbClr val="A8CF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2184037B-4125-83F4-8C5B-159B82F88A92}"/>
              </a:ext>
            </a:extLst>
          </p:cNvPr>
          <p:cNvSpPr/>
          <p:nvPr/>
        </p:nvSpPr>
        <p:spPr>
          <a:xfrm>
            <a:off x="1676400" y="7208609"/>
            <a:ext cx="4495800" cy="1066800"/>
          </a:xfrm>
          <a:prstGeom prst="rect">
            <a:avLst/>
          </a:prstGeom>
          <a:solidFill>
            <a:srgbClr val="A8CF45"/>
          </a:solidFill>
          <a:ln>
            <a:solidFill>
              <a:srgbClr val="A8CF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6C2BBE3A-F5CA-F989-66EC-89F0B155422B}"/>
              </a:ext>
            </a:extLst>
          </p:cNvPr>
          <p:cNvSpPr/>
          <p:nvPr/>
        </p:nvSpPr>
        <p:spPr>
          <a:xfrm>
            <a:off x="3262952" y="2865209"/>
            <a:ext cx="1295400" cy="12954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rgbClr val="A8CF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46DFFF12-689A-263E-617F-FBDE1D8E0AB5}"/>
              </a:ext>
            </a:extLst>
          </p:cNvPr>
          <p:cNvSpPr/>
          <p:nvPr/>
        </p:nvSpPr>
        <p:spPr>
          <a:xfrm>
            <a:off x="6705600" y="3474809"/>
            <a:ext cx="4495800" cy="4800600"/>
          </a:xfrm>
          <a:prstGeom prst="rect">
            <a:avLst/>
          </a:prstGeom>
          <a:noFill/>
          <a:ln>
            <a:solidFill>
              <a:srgbClr val="A8CF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EA64C58E-22DF-B17F-5F3D-14A83CAB89E6}"/>
              </a:ext>
            </a:extLst>
          </p:cNvPr>
          <p:cNvSpPr/>
          <p:nvPr/>
        </p:nvSpPr>
        <p:spPr>
          <a:xfrm>
            <a:off x="6705600" y="7208609"/>
            <a:ext cx="4495800" cy="1066800"/>
          </a:xfrm>
          <a:prstGeom prst="rect">
            <a:avLst/>
          </a:prstGeom>
          <a:solidFill>
            <a:srgbClr val="A8CF45"/>
          </a:solidFill>
          <a:ln>
            <a:solidFill>
              <a:srgbClr val="A8CF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80C31571-B0B1-56DA-0E9B-454892DB0119}"/>
              </a:ext>
            </a:extLst>
          </p:cNvPr>
          <p:cNvSpPr/>
          <p:nvPr/>
        </p:nvSpPr>
        <p:spPr>
          <a:xfrm>
            <a:off x="8292152" y="2865209"/>
            <a:ext cx="1295400" cy="12954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rgbClr val="A8CF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CECD61CA-AC6B-76CF-8858-3831C3DF1582}"/>
              </a:ext>
            </a:extLst>
          </p:cNvPr>
          <p:cNvSpPr/>
          <p:nvPr/>
        </p:nvSpPr>
        <p:spPr>
          <a:xfrm>
            <a:off x="11734800" y="3474809"/>
            <a:ext cx="4495800" cy="4800600"/>
          </a:xfrm>
          <a:prstGeom prst="rect">
            <a:avLst/>
          </a:prstGeom>
          <a:noFill/>
          <a:ln>
            <a:solidFill>
              <a:srgbClr val="A8CF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44061A0B-725B-6753-E3BE-27FE35D6950C}"/>
              </a:ext>
            </a:extLst>
          </p:cNvPr>
          <p:cNvSpPr/>
          <p:nvPr/>
        </p:nvSpPr>
        <p:spPr>
          <a:xfrm>
            <a:off x="11734800" y="7208609"/>
            <a:ext cx="4495800" cy="1066800"/>
          </a:xfrm>
          <a:prstGeom prst="rect">
            <a:avLst/>
          </a:prstGeom>
          <a:solidFill>
            <a:srgbClr val="A8CF45"/>
          </a:solidFill>
          <a:ln>
            <a:solidFill>
              <a:srgbClr val="A8CF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80520B86-7574-52E4-AB1E-519FF0066A86}"/>
              </a:ext>
            </a:extLst>
          </p:cNvPr>
          <p:cNvSpPr/>
          <p:nvPr/>
        </p:nvSpPr>
        <p:spPr>
          <a:xfrm>
            <a:off x="13321352" y="2865209"/>
            <a:ext cx="1295400" cy="12954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rgbClr val="A8CF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object 2" descr="$PPTXTitle">
            <a:extLst>
              <a:ext uri="{FF2B5EF4-FFF2-40B4-BE49-F238E27FC236}">
                <a16:creationId xmlns:a16="http://schemas.microsoft.com/office/drawing/2014/main" id="{B44E2A90-04CF-6698-7D8D-2DA2E32B364A}"/>
              </a:ext>
            </a:extLst>
          </p:cNvPr>
          <p:cNvSpPr txBox="1">
            <a:spLocks/>
          </p:cNvSpPr>
          <p:nvPr/>
        </p:nvSpPr>
        <p:spPr>
          <a:xfrm>
            <a:off x="2083558" y="4389209"/>
            <a:ext cx="3693994" cy="25242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200" b="1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algn="ctr">
              <a:lnSpc>
                <a:spcPct val="80000"/>
              </a:lnSpc>
            </a:pPr>
            <a:r>
              <a:rPr lang="pt-BR" sz="36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de </a:t>
            </a:r>
            <a:r>
              <a:rPr lang="pt-BR" sz="6000" dirty="0">
                <a:solidFill>
                  <a:srgbClr val="A8CF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pPr algn="ctr">
              <a:lnSpc>
                <a:spcPct val="80000"/>
              </a:lnSpc>
            </a:pPr>
            <a:r>
              <a:rPr lang="pt-BR" sz="6000" dirty="0">
                <a:solidFill>
                  <a:srgbClr val="A8CF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milhões</a:t>
            </a:r>
          </a:p>
          <a:p>
            <a:pPr algn="ctr">
              <a:lnSpc>
                <a:spcPct val="80000"/>
              </a:lnSpc>
            </a:pPr>
            <a:r>
              <a:rPr lang="pt-BR" sz="2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afastamentos</a:t>
            </a:r>
          </a:p>
          <a:p>
            <a:pPr algn="ctr">
              <a:lnSpc>
                <a:spcPct val="80000"/>
              </a:lnSpc>
            </a:pPr>
            <a:r>
              <a:rPr lang="pt-BR" sz="2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 um ano</a:t>
            </a:r>
          </a:p>
          <a:p>
            <a:pPr algn="ctr">
              <a:lnSpc>
                <a:spcPct val="80000"/>
              </a:lnSpc>
            </a:pPr>
            <a:r>
              <a:rPr lang="pt-BR" sz="2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</a:t>
            </a:r>
            <a:r>
              <a:rPr lang="pt-BR" sz="2800" dirty="0">
                <a:solidFill>
                  <a:srgbClr val="A8CF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Brasil</a:t>
            </a:r>
          </a:p>
        </p:txBody>
      </p:sp>
      <p:sp>
        <p:nvSpPr>
          <p:cNvPr id="31" name="object 2" descr="$PPTXTitle">
            <a:extLst>
              <a:ext uri="{FF2B5EF4-FFF2-40B4-BE49-F238E27FC236}">
                <a16:creationId xmlns:a16="http://schemas.microsoft.com/office/drawing/2014/main" id="{6C7FFAAD-09F3-4A8A-1D0D-235F8D6C893D}"/>
              </a:ext>
            </a:extLst>
          </p:cNvPr>
          <p:cNvSpPr txBox="1">
            <a:spLocks/>
          </p:cNvSpPr>
          <p:nvPr/>
        </p:nvSpPr>
        <p:spPr>
          <a:xfrm>
            <a:off x="7092855" y="4707260"/>
            <a:ext cx="3693994" cy="20441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200" b="1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algn="ctr">
              <a:lnSpc>
                <a:spcPct val="80000"/>
              </a:lnSpc>
            </a:pPr>
            <a:r>
              <a:rPr lang="pt-BR" sz="6000" dirty="0">
                <a:solidFill>
                  <a:srgbClr val="A8CF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546 mil</a:t>
            </a:r>
          </a:p>
          <a:p>
            <a:pPr algn="ctr"/>
            <a:r>
              <a:rPr lang="pt-BR" sz="2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afastamentos</a:t>
            </a:r>
          </a:p>
          <a:p>
            <a:pPr algn="ctr"/>
            <a:r>
              <a:rPr lang="pt-BR" sz="2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 </a:t>
            </a:r>
            <a:r>
              <a:rPr lang="pt-BR" sz="2800" dirty="0">
                <a:solidFill>
                  <a:srgbClr val="A8CF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saúde</a:t>
            </a:r>
          </a:p>
          <a:p>
            <a:pPr algn="ctr"/>
            <a:r>
              <a:rPr lang="pt-BR" sz="2800" dirty="0">
                <a:solidFill>
                  <a:srgbClr val="A8CF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mental</a:t>
            </a:r>
          </a:p>
        </p:txBody>
      </p:sp>
      <p:sp>
        <p:nvSpPr>
          <p:cNvPr id="32" name="object 2" descr="$PPTXTitle">
            <a:extLst>
              <a:ext uri="{FF2B5EF4-FFF2-40B4-BE49-F238E27FC236}">
                <a16:creationId xmlns:a16="http://schemas.microsoft.com/office/drawing/2014/main" id="{B7CB96C3-2ABC-686C-79FF-DA4CB9F1AB7F}"/>
              </a:ext>
            </a:extLst>
          </p:cNvPr>
          <p:cNvSpPr txBox="1">
            <a:spLocks/>
          </p:cNvSpPr>
          <p:nvPr/>
        </p:nvSpPr>
        <p:spPr>
          <a:xfrm>
            <a:off x="12135703" y="4475683"/>
            <a:ext cx="3693994" cy="23519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200" b="1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algn="ctr"/>
            <a:r>
              <a:rPr lang="pt-BR" sz="36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Crescimento </a:t>
            </a:r>
            <a:br>
              <a:rPr lang="pt-BR" sz="36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36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pt-BR" sz="6000" dirty="0">
                <a:solidFill>
                  <a:srgbClr val="A8CF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15%</a:t>
            </a:r>
          </a:p>
          <a:p>
            <a:pPr algn="ctr"/>
            <a:r>
              <a:rPr lang="pt-BR" sz="2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 relação ao</a:t>
            </a:r>
          </a:p>
          <a:p>
            <a:pPr algn="ctr"/>
            <a:r>
              <a:rPr lang="pt-BR" sz="2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 anterior</a:t>
            </a:r>
            <a:endParaRPr lang="pt-BR" sz="2800" dirty="0">
              <a:solidFill>
                <a:srgbClr val="A8CF4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object 2" descr="$PPTXTitle">
            <a:extLst>
              <a:ext uri="{FF2B5EF4-FFF2-40B4-BE49-F238E27FC236}">
                <a16:creationId xmlns:a16="http://schemas.microsoft.com/office/drawing/2014/main" id="{063E6B11-2610-A8B3-6537-84781C85926F}"/>
              </a:ext>
            </a:extLst>
          </p:cNvPr>
          <p:cNvSpPr txBox="1">
            <a:spLocks/>
          </p:cNvSpPr>
          <p:nvPr/>
        </p:nvSpPr>
        <p:spPr>
          <a:xfrm>
            <a:off x="3110552" y="7325753"/>
            <a:ext cx="2833048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200" b="1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algn="l">
              <a:lnSpc>
                <a:spcPct val="90000"/>
              </a:lnSpc>
            </a:pPr>
            <a:r>
              <a:rPr lang="pt-BR" sz="20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 problema crescente</a:t>
            </a:r>
          </a:p>
          <a:p>
            <a:pPr algn="l">
              <a:lnSpc>
                <a:spcPct val="90000"/>
              </a:lnSpc>
            </a:pPr>
            <a:r>
              <a:rPr lang="pt-BR" sz="20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 afeta empresas</a:t>
            </a:r>
          </a:p>
          <a:p>
            <a:pPr algn="l">
              <a:lnSpc>
                <a:spcPct val="90000"/>
              </a:lnSpc>
            </a:pPr>
            <a:r>
              <a:rPr lang="pt-BR" sz="20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todos os portes.</a:t>
            </a:r>
            <a:endParaRPr lang="pt-BR" sz="20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object 2" descr="$PPTXTitle">
            <a:extLst>
              <a:ext uri="{FF2B5EF4-FFF2-40B4-BE49-F238E27FC236}">
                <a16:creationId xmlns:a16="http://schemas.microsoft.com/office/drawing/2014/main" id="{8C55BAF8-4C2E-31F6-AD13-E8AD09429476}"/>
              </a:ext>
            </a:extLst>
          </p:cNvPr>
          <p:cNvSpPr txBox="1">
            <a:spLocks/>
          </p:cNvSpPr>
          <p:nvPr/>
        </p:nvSpPr>
        <p:spPr>
          <a:xfrm>
            <a:off x="7815048" y="7325753"/>
            <a:ext cx="3233952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200" b="1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algn="l">
              <a:lnSpc>
                <a:spcPct val="90000"/>
              </a:lnSpc>
            </a:pPr>
            <a:r>
              <a:rPr lang="pt-BR" sz="20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Custos altos, equipes</a:t>
            </a:r>
          </a:p>
          <a:p>
            <a:pPr algn="l">
              <a:lnSpc>
                <a:spcPct val="90000"/>
              </a:lnSpc>
            </a:pPr>
            <a:r>
              <a:rPr lang="pt-BR" sz="20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Sobrecarregadas e impacto direto na produtividade.</a:t>
            </a:r>
            <a:endParaRPr lang="pt-BR" sz="20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object 2" descr="$PPTXTitle">
            <a:extLst>
              <a:ext uri="{FF2B5EF4-FFF2-40B4-BE49-F238E27FC236}">
                <a16:creationId xmlns:a16="http://schemas.microsoft.com/office/drawing/2014/main" id="{6EF8EAFD-F98D-6C6D-8CC1-1F2FEEB43C86}"/>
              </a:ext>
            </a:extLst>
          </p:cNvPr>
          <p:cNvSpPr txBox="1">
            <a:spLocks/>
          </p:cNvSpPr>
          <p:nvPr/>
        </p:nvSpPr>
        <p:spPr>
          <a:xfrm>
            <a:off x="12993806" y="7325753"/>
            <a:ext cx="3084394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200" b="1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algn="l">
              <a:lnSpc>
                <a:spcPct val="90000"/>
              </a:lnSpc>
            </a:pPr>
            <a:r>
              <a:rPr lang="pt-BR" sz="20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tendência é </a:t>
            </a:r>
            <a:r>
              <a:rPr lang="pt-B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continuar</a:t>
            </a:r>
          </a:p>
          <a:p>
            <a:pPr algn="l">
              <a:lnSpc>
                <a:spcPct val="90000"/>
              </a:lnSpc>
            </a:pPr>
            <a:r>
              <a:rPr lang="pt-B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Aumentando se nada</a:t>
            </a:r>
          </a:p>
          <a:p>
            <a:pPr algn="l">
              <a:lnSpc>
                <a:spcPct val="90000"/>
              </a:lnSpc>
            </a:pPr>
            <a:r>
              <a:rPr lang="pt-BR" sz="20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feito agora.</a:t>
            </a:r>
            <a:endParaRPr lang="pt-BR" sz="20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EDE0BE25-3A2B-51D0-F68A-47423390F2E9}"/>
              </a:ext>
            </a:extLst>
          </p:cNvPr>
          <p:cNvSpPr/>
          <p:nvPr/>
        </p:nvSpPr>
        <p:spPr>
          <a:xfrm>
            <a:off x="3361899" y="8922241"/>
            <a:ext cx="11582400" cy="648568"/>
          </a:xfrm>
          <a:prstGeom prst="roundRect">
            <a:avLst/>
          </a:prstGeom>
          <a:noFill/>
          <a:ln>
            <a:solidFill>
              <a:srgbClr val="A8CF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object 2" descr="$PPTXTitle">
            <a:extLst>
              <a:ext uri="{FF2B5EF4-FFF2-40B4-BE49-F238E27FC236}">
                <a16:creationId xmlns:a16="http://schemas.microsoft.com/office/drawing/2014/main" id="{F817FED5-BF47-6FD8-7E15-81A1DACA8669}"/>
              </a:ext>
            </a:extLst>
          </p:cNvPr>
          <p:cNvSpPr txBox="1">
            <a:spLocks/>
          </p:cNvSpPr>
          <p:nvPr/>
        </p:nvSpPr>
        <p:spPr>
          <a:xfrm>
            <a:off x="3810000" y="9055447"/>
            <a:ext cx="11134299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200" b="1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pt-BR" sz="24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Ignorar os riscos psicossociais hoje é assumir </a:t>
            </a:r>
            <a:r>
              <a:rPr lang="pt-BR" sz="2400" dirty="0">
                <a:solidFill>
                  <a:srgbClr val="A8CF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prejuízos e riscos </a:t>
            </a:r>
            <a:r>
              <a:rPr lang="pt-BR" sz="24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amanhã.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58B41B93-B209-0ED8-645A-4D301DEC63A0}"/>
              </a:ext>
            </a:extLst>
          </p:cNvPr>
          <p:cNvSpPr/>
          <p:nvPr/>
        </p:nvSpPr>
        <p:spPr>
          <a:xfrm>
            <a:off x="3000802" y="8782501"/>
            <a:ext cx="928048" cy="928048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A8CF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0" name="Gráfico 39" descr="Usuários estrutura de tópicos">
            <a:extLst>
              <a:ext uri="{FF2B5EF4-FFF2-40B4-BE49-F238E27FC236}">
                <a16:creationId xmlns:a16="http://schemas.microsoft.com/office/drawing/2014/main" id="{B002DD34-2006-618F-8724-5E2F7C1239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3452" y="3066072"/>
            <a:ext cx="914400" cy="914400"/>
          </a:xfrm>
          <a:prstGeom prst="rect">
            <a:avLst/>
          </a:prstGeom>
        </p:spPr>
      </p:pic>
      <p:pic>
        <p:nvPicPr>
          <p:cNvPr id="42" name="Gráfico 41" descr="Coração Partido estrutura de tópicos">
            <a:extLst>
              <a:ext uri="{FF2B5EF4-FFF2-40B4-BE49-F238E27FC236}">
                <a16:creationId xmlns:a16="http://schemas.microsoft.com/office/drawing/2014/main" id="{AA4ED0F8-B9FC-9E93-AE6F-1DA5F12B17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82652" y="3086100"/>
            <a:ext cx="914400" cy="914400"/>
          </a:xfrm>
          <a:prstGeom prst="rect">
            <a:avLst/>
          </a:prstGeom>
        </p:spPr>
      </p:pic>
      <p:pic>
        <p:nvPicPr>
          <p:cNvPr id="44" name="Gráfico 43" descr="Gráfico de barras estrutura de tópicos">
            <a:extLst>
              <a:ext uri="{FF2B5EF4-FFF2-40B4-BE49-F238E27FC236}">
                <a16:creationId xmlns:a16="http://schemas.microsoft.com/office/drawing/2014/main" id="{BC864428-4652-F013-2055-49EED097FA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511852" y="3064352"/>
            <a:ext cx="914400" cy="914400"/>
          </a:xfrm>
          <a:prstGeom prst="rect">
            <a:avLst/>
          </a:prstGeom>
        </p:spPr>
      </p:pic>
      <p:pic>
        <p:nvPicPr>
          <p:cNvPr id="46" name="Gráfico 45" descr="Dólar com preenchimento sólido">
            <a:extLst>
              <a:ext uri="{FF2B5EF4-FFF2-40B4-BE49-F238E27FC236}">
                <a16:creationId xmlns:a16="http://schemas.microsoft.com/office/drawing/2014/main" id="{3EBB7310-087A-832C-2171-FE7BE4B451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10552" y="8889052"/>
            <a:ext cx="718024" cy="718024"/>
          </a:xfrm>
          <a:prstGeom prst="rect">
            <a:avLst/>
          </a:prstGeom>
        </p:spPr>
      </p:pic>
      <p:pic>
        <p:nvPicPr>
          <p:cNvPr id="47" name="Gráfico 46" descr="Gráfico de barras estrutura de tópicos">
            <a:extLst>
              <a:ext uri="{FF2B5EF4-FFF2-40B4-BE49-F238E27FC236}">
                <a16:creationId xmlns:a16="http://schemas.microsoft.com/office/drawing/2014/main" id="{68924B03-FBBF-0097-5BE7-A58B9B26A2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98702" y="7347234"/>
            <a:ext cx="789549" cy="789549"/>
          </a:xfrm>
          <a:prstGeom prst="rect">
            <a:avLst/>
          </a:prstGeom>
        </p:spPr>
      </p:pic>
      <p:pic>
        <p:nvPicPr>
          <p:cNvPr id="49" name="Gráfico 48" descr="Escudo com marca de verificação estrutura de tópicos">
            <a:extLst>
              <a:ext uri="{FF2B5EF4-FFF2-40B4-BE49-F238E27FC236}">
                <a16:creationId xmlns:a16="http://schemas.microsoft.com/office/drawing/2014/main" id="{16643770-17F2-1855-8177-8B0E3D73D9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63695" y="7345378"/>
            <a:ext cx="793259" cy="793259"/>
          </a:xfrm>
          <a:prstGeom prst="rect">
            <a:avLst/>
          </a:prstGeom>
        </p:spPr>
      </p:pic>
      <p:pic>
        <p:nvPicPr>
          <p:cNvPr id="51" name="Gráfico 50" descr="Aviso estrutura de tópicos">
            <a:extLst>
              <a:ext uri="{FF2B5EF4-FFF2-40B4-BE49-F238E27FC236}">
                <a16:creationId xmlns:a16="http://schemas.microsoft.com/office/drawing/2014/main" id="{ED1802A0-2F2A-8EA4-F1B9-1157A7797E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973882" y="7346612"/>
            <a:ext cx="751518" cy="75151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bg object 16">
            <a:extLst>
              <a:ext uri="{FF2B5EF4-FFF2-40B4-BE49-F238E27FC236}">
                <a16:creationId xmlns:a16="http://schemas.microsoft.com/office/drawing/2014/main" id="{0980AC64-180E-A653-833D-B887CD6E8ED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20" name="object 2" descr="$PPTXTitle">
            <a:extLst>
              <a:ext uri="{FF2B5EF4-FFF2-40B4-BE49-F238E27FC236}">
                <a16:creationId xmlns:a16="http://schemas.microsoft.com/office/drawing/2014/main" id="{AFC911B8-4691-0EDD-20F1-3EB9B73E1D6C}"/>
              </a:ext>
            </a:extLst>
          </p:cNvPr>
          <p:cNvSpPr txBox="1">
            <a:spLocks/>
          </p:cNvSpPr>
          <p:nvPr/>
        </p:nvSpPr>
        <p:spPr>
          <a:xfrm>
            <a:off x="0" y="1181100"/>
            <a:ext cx="18288000" cy="112338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>
            <a:lvl1pPr>
              <a:defRPr sz="8200" b="1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 algn="ctr">
              <a:spcBef>
                <a:spcPts val="120"/>
              </a:spcBef>
            </a:pPr>
            <a:r>
              <a:rPr lang="pt-BR" sz="7200" spc="28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que a </a:t>
            </a:r>
            <a:r>
              <a:rPr lang="pt-BR" sz="7200" spc="280" dirty="0">
                <a:solidFill>
                  <a:srgbClr val="A8CF45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NR-1</a:t>
            </a:r>
            <a:r>
              <a:rPr lang="pt-BR" sz="7200" spc="28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exige na </a:t>
            </a:r>
            <a:r>
              <a:rPr lang="pt-BR" sz="7200" spc="280" dirty="0">
                <a:solidFill>
                  <a:srgbClr val="A8CF45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prática?</a:t>
            </a:r>
            <a:endParaRPr lang="pt-BR" sz="7200" dirty="0">
              <a:solidFill>
                <a:srgbClr val="A8CF45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bg object 18">
            <a:extLst>
              <a:ext uri="{FF2B5EF4-FFF2-40B4-BE49-F238E27FC236}">
                <a16:creationId xmlns:a16="http://schemas.microsoft.com/office/drawing/2014/main" id="{755DC968-4E12-A2E6-C15B-D7E9CCCAEAC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979258" y="9338164"/>
            <a:ext cx="1905587" cy="496334"/>
          </a:xfrm>
          <a:prstGeom prst="rect">
            <a:avLst/>
          </a:prstGeom>
        </p:spPr>
      </p:pic>
      <p:sp>
        <p:nvSpPr>
          <p:cNvPr id="22" name="object 2" descr="$PPTXTitle">
            <a:extLst>
              <a:ext uri="{FF2B5EF4-FFF2-40B4-BE49-F238E27FC236}">
                <a16:creationId xmlns:a16="http://schemas.microsoft.com/office/drawing/2014/main" id="{ADDACEF5-344C-702F-A2F6-7E6F141A3B5F}"/>
              </a:ext>
            </a:extLst>
          </p:cNvPr>
          <p:cNvSpPr txBox="1">
            <a:spLocks/>
          </p:cNvSpPr>
          <p:nvPr/>
        </p:nvSpPr>
        <p:spPr>
          <a:xfrm>
            <a:off x="9100" y="2350970"/>
            <a:ext cx="18287999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200" b="1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pt-BR" sz="24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Sua empresa precisa </a:t>
            </a:r>
            <a:r>
              <a:rPr lang="pt-BR" sz="2400" dirty="0">
                <a:solidFill>
                  <a:srgbClr val="A8CF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demonstrar conformidade</a:t>
            </a:r>
            <a:r>
              <a:rPr lang="pt-BR" sz="24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não apenas afirmar que esta em conformidade.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8E41F358-FDAF-ECE2-9524-40A169226CF6}"/>
              </a:ext>
            </a:extLst>
          </p:cNvPr>
          <p:cNvSpPr/>
          <p:nvPr/>
        </p:nvSpPr>
        <p:spPr>
          <a:xfrm>
            <a:off x="1407994" y="4186750"/>
            <a:ext cx="1295400" cy="12954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rgbClr val="A8CF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object 2" descr="$PPTXTitle">
            <a:extLst>
              <a:ext uri="{FF2B5EF4-FFF2-40B4-BE49-F238E27FC236}">
                <a16:creationId xmlns:a16="http://schemas.microsoft.com/office/drawing/2014/main" id="{82622C6C-8254-5BD0-F60B-5DA2B6594BA6}"/>
              </a:ext>
            </a:extLst>
          </p:cNvPr>
          <p:cNvSpPr txBox="1">
            <a:spLocks/>
          </p:cNvSpPr>
          <p:nvPr/>
        </p:nvSpPr>
        <p:spPr>
          <a:xfrm>
            <a:off x="152400" y="5710750"/>
            <a:ext cx="3693994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200" b="1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algn="ctr">
              <a:lnSpc>
                <a:spcPct val="80000"/>
              </a:lnSpc>
            </a:pPr>
            <a:r>
              <a:rPr lang="pt-BR" sz="5400" dirty="0">
                <a:solidFill>
                  <a:srgbClr val="A8CF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Mapear</a:t>
            </a:r>
          </a:p>
          <a:p>
            <a:pPr algn="ctr">
              <a:lnSpc>
                <a:spcPct val="80000"/>
              </a:lnSpc>
            </a:pPr>
            <a:r>
              <a:rPr lang="pt-BR" sz="2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fatores de risco psicossociais</a:t>
            </a:r>
            <a:endParaRPr lang="pt-BR" sz="2800" dirty="0">
              <a:solidFill>
                <a:srgbClr val="A8CF4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6BF21498-31BF-C15D-5EE1-F49E53593596}"/>
              </a:ext>
            </a:extLst>
          </p:cNvPr>
          <p:cNvSpPr/>
          <p:nvPr/>
        </p:nvSpPr>
        <p:spPr>
          <a:xfrm>
            <a:off x="5334000" y="4229100"/>
            <a:ext cx="1295400" cy="12954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rgbClr val="A8CF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object 2" descr="$PPTXTitle">
            <a:extLst>
              <a:ext uri="{FF2B5EF4-FFF2-40B4-BE49-F238E27FC236}">
                <a16:creationId xmlns:a16="http://schemas.microsoft.com/office/drawing/2014/main" id="{E3BF3C15-8C60-081E-7D71-7A286363286E}"/>
              </a:ext>
            </a:extLst>
          </p:cNvPr>
          <p:cNvSpPr txBox="1">
            <a:spLocks/>
          </p:cNvSpPr>
          <p:nvPr/>
        </p:nvSpPr>
        <p:spPr>
          <a:xfrm>
            <a:off x="4191000" y="5759993"/>
            <a:ext cx="3693994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200" b="1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algn="ctr">
              <a:lnSpc>
                <a:spcPct val="80000"/>
              </a:lnSpc>
            </a:pPr>
            <a:r>
              <a:rPr lang="pt-BR" sz="5400" dirty="0">
                <a:solidFill>
                  <a:srgbClr val="A8CF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Analisar</a:t>
            </a:r>
          </a:p>
          <a:p>
            <a:pPr algn="ctr">
              <a:lnSpc>
                <a:spcPct val="80000"/>
              </a:lnSpc>
            </a:pPr>
            <a:r>
              <a:rPr lang="pt-BR" sz="2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tecnicamente esse riscos</a:t>
            </a:r>
            <a:endParaRPr lang="pt-BR" sz="2800" dirty="0">
              <a:solidFill>
                <a:srgbClr val="A8CF4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06B3C377-97FB-A966-85D0-497F79E2CF25}"/>
              </a:ext>
            </a:extLst>
          </p:cNvPr>
          <p:cNvSpPr/>
          <p:nvPr/>
        </p:nvSpPr>
        <p:spPr>
          <a:xfrm>
            <a:off x="9873022" y="4229100"/>
            <a:ext cx="1295400" cy="12954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rgbClr val="A8CF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object 2" descr="$PPTXTitle">
            <a:extLst>
              <a:ext uri="{FF2B5EF4-FFF2-40B4-BE49-F238E27FC236}">
                <a16:creationId xmlns:a16="http://schemas.microsoft.com/office/drawing/2014/main" id="{99C9D96E-9CB4-D3B0-89A8-AAF606D17687}"/>
              </a:ext>
            </a:extLst>
          </p:cNvPr>
          <p:cNvSpPr txBox="1">
            <a:spLocks/>
          </p:cNvSpPr>
          <p:nvPr/>
        </p:nvSpPr>
        <p:spPr>
          <a:xfrm>
            <a:off x="8229600" y="5759993"/>
            <a:ext cx="4568586" cy="102233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200" b="1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algn="ctr">
              <a:lnSpc>
                <a:spcPct val="80000"/>
              </a:lnSpc>
            </a:pPr>
            <a:r>
              <a:rPr lang="pt-BR" sz="5400" dirty="0">
                <a:solidFill>
                  <a:srgbClr val="A8CF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Documentar</a:t>
            </a:r>
          </a:p>
          <a:p>
            <a:pPr algn="ctr">
              <a:lnSpc>
                <a:spcPct val="80000"/>
              </a:lnSpc>
            </a:pPr>
            <a:r>
              <a:rPr lang="pt-BR" sz="2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 integrar ao PGR</a:t>
            </a:r>
            <a:endParaRPr lang="pt-BR" sz="2800" dirty="0">
              <a:solidFill>
                <a:srgbClr val="A8CF4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65D8F560-3091-D2CA-6486-1D021D0F67FA}"/>
              </a:ext>
            </a:extLst>
          </p:cNvPr>
          <p:cNvSpPr/>
          <p:nvPr/>
        </p:nvSpPr>
        <p:spPr>
          <a:xfrm>
            <a:off x="14683858" y="4179857"/>
            <a:ext cx="1295400" cy="12954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rgbClr val="A8CF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object 2" descr="$PPTXTitle">
            <a:extLst>
              <a:ext uri="{FF2B5EF4-FFF2-40B4-BE49-F238E27FC236}">
                <a16:creationId xmlns:a16="http://schemas.microsoft.com/office/drawing/2014/main" id="{F1215AEE-3139-2929-5FD4-F1BEF1C508FC}"/>
              </a:ext>
            </a:extLst>
          </p:cNvPr>
          <p:cNvSpPr txBox="1">
            <a:spLocks/>
          </p:cNvSpPr>
          <p:nvPr/>
        </p:nvSpPr>
        <p:spPr>
          <a:xfrm>
            <a:off x="13351477" y="5710750"/>
            <a:ext cx="4174523" cy="102233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200" b="1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algn="ctr">
              <a:lnSpc>
                <a:spcPct val="80000"/>
              </a:lnSpc>
            </a:pPr>
            <a:r>
              <a:rPr lang="pt-BR" sz="5400" dirty="0">
                <a:solidFill>
                  <a:srgbClr val="A8CF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Comprovar</a:t>
            </a:r>
          </a:p>
          <a:p>
            <a:pPr algn="ctr">
              <a:lnSpc>
                <a:spcPct val="80000"/>
              </a:lnSpc>
            </a:pPr>
            <a:r>
              <a:rPr lang="pt-BR" sz="2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Tecnicamente a avaliação</a:t>
            </a:r>
            <a:endParaRPr lang="pt-BR" sz="2800" dirty="0">
              <a:solidFill>
                <a:srgbClr val="A8CF4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4" name="Gráfico 33" descr="Alvo estrutura de tópicos">
            <a:extLst>
              <a:ext uri="{FF2B5EF4-FFF2-40B4-BE49-F238E27FC236}">
                <a16:creationId xmlns:a16="http://schemas.microsoft.com/office/drawing/2014/main" id="{4E19A0E8-0003-8503-9C89-AE6324554A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00200" y="4381500"/>
            <a:ext cx="914400" cy="914400"/>
          </a:xfrm>
          <a:prstGeom prst="rect">
            <a:avLst/>
          </a:prstGeom>
        </p:spPr>
      </p:pic>
      <p:pic>
        <p:nvPicPr>
          <p:cNvPr id="36" name="Gráfico 35" descr="Documento estrutura de tópicos">
            <a:extLst>
              <a:ext uri="{FF2B5EF4-FFF2-40B4-BE49-F238E27FC236}">
                <a16:creationId xmlns:a16="http://schemas.microsoft.com/office/drawing/2014/main" id="{528ABD42-C50A-DACF-F2C0-361ACDEC98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77170" y="4416951"/>
            <a:ext cx="914400" cy="914400"/>
          </a:xfrm>
          <a:prstGeom prst="rect">
            <a:avLst/>
          </a:prstGeom>
        </p:spPr>
      </p:pic>
      <p:pic>
        <p:nvPicPr>
          <p:cNvPr id="38" name="Gráfico 37" descr="Pesquisa estrutura de tópicos">
            <a:extLst>
              <a:ext uri="{FF2B5EF4-FFF2-40B4-BE49-F238E27FC236}">
                <a16:creationId xmlns:a16="http://schemas.microsoft.com/office/drawing/2014/main" id="{8D2A1FFE-B136-F376-962A-DA5DD024CF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62600" y="4416951"/>
            <a:ext cx="914400" cy="914400"/>
          </a:xfrm>
          <a:prstGeom prst="rect">
            <a:avLst/>
          </a:prstGeom>
        </p:spPr>
      </p:pic>
      <p:pic>
        <p:nvPicPr>
          <p:cNvPr id="40" name="Gráfico 39" descr="Selo Tick1 estrutura de tópicos">
            <a:extLst>
              <a:ext uri="{FF2B5EF4-FFF2-40B4-BE49-F238E27FC236}">
                <a16:creationId xmlns:a16="http://schemas.microsoft.com/office/drawing/2014/main" id="{73C59579-D8EB-B7D6-CE3D-0564EBF532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874358" y="4370357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24D0C-8A91-64FD-2E56-5850D916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bg object 16">
            <a:extLst>
              <a:ext uri="{FF2B5EF4-FFF2-40B4-BE49-F238E27FC236}">
                <a16:creationId xmlns:a16="http://schemas.microsoft.com/office/drawing/2014/main" id="{6E6D8DE9-6F58-B598-79F2-A9E253B952D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20" name="object 2" descr="$PPTXTitle">
            <a:extLst>
              <a:ext uri="{FF2B5EF4-FFF2-40B4-BE49-F238E27FC236}">
                <a16:creationId xmlns:a16="http://schemas.microsoft.com/office/drawing/2014/main" id="{4CFC04C5-D9AE-065A-2692-51E95603F924}"/>
              </a:ext>
            </a:extLst>
          </p:cNvPr>
          <p:cNvSpPr txBox="1">
            <a:spLocks/>
          </p:cNvSpPr>
          <p:nvPr/>
        </p:nvSpPr>
        <p:spPr>
          <a:xfrm>
            <a:off x="0" y="571500"/>
            <a:ext cx="18288000" cy="224420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>
            <a:lvl1pPr>
              <a:defRPr sz="8200" b="1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 algn="ctr">
              <a:spcBef>
                <a:spcPts val="120"/>
              </a:spcBef>
            </a:pPr>
            <a:r>
              <a:rPr lang="pt-BR" sz="7200" spc="28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Onde a maioria das</a:t>
            </a:r>
          </a:p>
          <a:p>
            <a:pPr marL="12700" algn="ctr">
              <a:spcBef>
                <a:spcPts val="120"/>
              </a:spcBef>
            </a:pPr>
            <a:r>
              <a:rPr lang="pt-BR" sz="7200" spc="28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empresas </a:t>
            </a:r>
            <a:r>
              <a:rPr lang="pt-BR" sz="7200" spc="280" dirty="0">
                <a:solidFill>
                  <a:srgbClr val="A8CF45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falha?</a:t>
            </a:r>
            <a:endParaRPr lang="pt-BR" sz="7200" dirty="0">
              <a:solidFill>
                <a:srgbClr val="A8CF45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bg object 18">
            <a:extLst>
              <a:ext uri="{FF2B5EF4-FFF2-40B4-BE49-F238E27FC236}">
                <a16:creationId xmlns:a16="http://schemas.microsoft.com/office/drawing/2014/main" id="{53F8F161-ACAC-5EA1-881E-093F213FC3C6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979258" y="9338164"/>
            <a:ext cx="1905587" cy="496334"/>
          </a:xfrm>
          <a:prstGeom prst="rect">
            <a:avLst/>
          </a:prstGeom>
        </p:spPr>
      </p:pic>
      <p:sp>
        <p:nvSpPr>
          <p:cNvPr id="25" name="Elipse 24">
            <a:extLst>
              <a:ext uri="{FF2B5EF4-FFF2-40B4-BE49-F238E27FC236}">
                <a16:creationId xmlns:a16="http://schemas.microsoft.com/office/drawing/2014/main" id="{846E8D8D-07B6-3C2E-62D9-5F7E218CD8D4}"/>
              </a:ext>
            </a:extLst>
          </p:cNvPr>
          <p:cNvSpPr/>
          <p:nvPr/>
        </p:nvSpPr>
        <p:spPr>
          <a:xfrm>
            <a:off x="3247034" y="4071037"/>
            <a:ext cx="905900" cy="9059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rgbClr val="A8CF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object 2" descr="$PPTXTitle">
            <a:extLst>
              <a:ext uri="{FF2B5EF4-FFF2-40B4-BE49-F238E27FC236}">
                <a16:creationId xmlns:a16="http://schemas.microsoft.com/office/drawing/2014/main" id="{F82B83F2-ABB6-7B4C-E625-262CCDCD51A8}"/>
              </a:ext>
            </a:extLst>
          </p:cNvPr>
          <p:cNvSpPr txBox="1">
            <a:spLocks/>
          </p:cNvSpPr>
          <p:nvPr/>
        </p:nvSpPr>
        <p:spPr>
          <a:xfrm>
            <a:off x="4491293" y="4183736"/>
            <a:ext cx="5058766" cy="7022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200" b="1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algn="l">
              <a:lnSpc>
                <a:spcPct val="80000"/>
              </a:lnSpc>
            </a:pPr>
            <a:r>
              <a:rPr lang="pt-BR" sz="2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Pesquisas genéricas </a:t>
            </a:r>
          </a:p>
          <a:p>
            <a:pPr algn="l">
              <a:lnSpc>
                <a:spcPct val="80000"/>
              </a:lnSpc>
            </a:pPr>
            <a:r>
              <a:rPr lang="pt-BR" sz="2800" dirty="0">
                <a:solidFill>
                  <a:srgbClr val="A8CF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 base científica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039805F-2EAC-9FCA-27C8-F6B59EAA05C4}"/>
              </a:ext>
            </a:extLst>
          </p:cNvPr>
          <p:cNvSpPr/>
          <p:nvPr/>
        </p:nvSpPr>
        <p:spPr>
          <a:xfrm>
            <a:off x="3247034" y="5774112"/>
            <a:ext cx="905900" cy="9059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rgbClr val="A8CF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object 2" descr="$PPTXTitle">
            <a:extLst>
              <a:ext uri="{FF2B5EF4-FFF2-40B4-BE49-F238E27FC236}">
                <a16:creationId xmlns:a16="http://schemas.microsoft.com/office/drawing/2014/main" id="{6BE5A30A-2DD5-1981-36DA-2087B415D645}"/>
              </a:ext>
            </a:extLst>
          </p:cNvPr>
          <p:cNvSpPr txBox="1">
            <a:spLocks/>
          </p:cNvSpPr>
          <p:nvPr/>
        </p:nvSpPr>
        <p:spPr>
          <a:xfrm>
            <a:off x="4491293" y="5886811"/>
            <a:ext cx="5058766" cy="7022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200" b="1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algn="l">
              <a:lnSpc>
                <a:spcPct val="80000"/>
              </a:lnSpc>
            </a:pPr>
            <a:r>
              <a:rPr lang="pt-BR" sz="2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Ações isoladas </a:t>
            </a:r>
            <a:r>
              <a:rPr lang="pt-BR" sz="2800" b="0" dirty="0">
                <a:solidFill>
                  <a:srgbClr val="A8CF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 diagnóstico</a:t>
            </a:r>
            <a:endParaRPr lang="pt-BR" sz="2800" dirty="0">
              <a:solidFill>
                <a:srgbClr val="A8CF4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541D0B17-ACEB-5075-9D71-4612B4F65D87}"/>
              </a:ext>
            </a:extLst>
          </p:cNvPr>
          <p:cNvSpPr/>
          <p:nvPr/>
        </p:nvSpPr>
        <p:spPr>
          <a:xfrm>
            <a:off x="9525000" y="3973825"/>
            <a:ext cx="905900" cy="9059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rgbClr val="A8CF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object 2" descr="$PPTXTitle">
            <a:extLst>
              <a:ext uri="{FF2B5EF4-FFF2-40B4-BE49-F238E27FC236}">
                <a16:creationId xmlns:a16="http://schemas.microsoft.com/office/drawing/2014/main" id="{F03FF7D9-D5F9-7564-BA95-46D897A95925}"/>
              </a:ext>
            </a:extLst>
          </p:cNvPr>
          <p:cNvSpPr txBox="1">
            <a:spLocks/>
          </p:cNvSpPr>
          <p:nvPr/>
        </p:nvSpPr>
        <p:spPr>
          <a:xfrm>
            <a:off x="10769259" y="4086524"/>
            <a:ext cx="5058766" cy="7022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200" b="1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algn="l">
              <a:lnSpc>
                <a:spcPct val="80000"/>
              </a:lnSpc>
            </a:pPr>
            <a:r>
              <a:rPr lang="pt-BR" sz="2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Confusão entre avaliação </a:t>
            </a:r>
            <a:r>
              <a:rPr lang="pt-BR" sz="2800" dirty="0">
                <a:solidFill>
                  <a:srgbClr val="A8CF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ocupacional e clínica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57A91BF9-7B05-6948-7726-ED2E7720264E}"/>
              </a:ext>
            </a:extLst>
          </p:cNvPr>
          <p:cNvSpPr/>
          <p:nvPr/>
        </p:nvSpPr>
        <p:spPr>
          <a:xfrm>
            <a:off x="9525000" y="5676900"/>
            <a:ext cx="905900" cy="9059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rgbClr val="A8CF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object 2" descr="$PPTXTitle">
            <a:extLst>
              <a:ext uri="{FF2B5EF4-FFF2-40B4-BE49-F238E27FC236}">
                <a16:creationId xmlns:a16="http://schemas.microsoft.com/office/drawing/2014/main" id="{C225F0C9-0186-D926-3EF2-FC545528ADFB}"/>
              </a:ext>
            </a:extLst>
          </p:cNvPr>
          <p:cNvSpPr txBox="1">
            <a:spLocks/>
          </p:cNvSpPr>
          <p:nvPr/>
        </p:nvSpPr>
        <p:spPr>
          <a:xfrm>
            <a:off x="10769259" y="5789599"/>
            <a:ext cx="5058766" cy="7022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200" b="1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algn="l">
              <a:lnSpc>
                <a:spcPct val="80000"/>
              </a:lnSpc>
            </a:pPr>
            <a:r>
              <a:rPr lang="pt-BR" sz="2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Falta de </a:t>
            </a:r>
            <a:r>
              <a:rPr lang="pt-BR" sz="2800" dirty="0">
                <a:solidFill>
                  <a:srgbClr val="A8CF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documentação</a:t>
            </a:r>
            <a:r>
              <a:rPr lang="pt-BR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l">
              <a:lnSpc>
                <a:spcPct val="80000"/>
              </a:lnSpc>
            </a:pPr>
            <a:r>
              <a:rPr lang="pt-BR" sz="2800" dirty="0">
                <a:solidFill>
                  <a:srgbClr val="A8CF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válida </a:t>
            </a:r>
            <a:r>
              <a:rPr lang="pt-BR" sz="2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fiscalização</a:t>
            </a:r>
            <a:endParaRPr lang="pt-BR" sz="2800" dirty="0">
              <a:solidFill>
                <a:srgbClr val="A8CF4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Gráfico 8" descr="Pesquisa estrutura de tópicos">
            <a:extLst>
              <a:ext uri="{FF2B5EF4-FFF2-40B4-BE49-F238E27FC236}">
                <a16:creationId xmlns:a16="http://schemas.microsoft.com/office/drawing/2014/main" id="{F482908E-787F-B669-7504-08EE2286A3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87526" y="4211929"/>
            <a:ext cx="626771" cy="626771"/>
          </a:xfrm>
          <a:prstGeom prst="rect">
            <a:avLst/>
          </a:prstGeom>
        </p:spPr>
      </p:pic>
      <p:pic>
        <p:nvPicPr>
          <p:cNvPr id="11" name="Gráfico 10" descr="Cérebro esquerdo estrutura de tópicos">
            <a:extLst>
              <a:ext uri="{FF2B5EF4-FFF2-40B4-BE49-F238E27FC236}">
                <a16:creationId xmlns:a16="http://schemas.microsoft.com/office/drawing/2014/main" id="{D40AC223-2EA2-ECA9-FBA5-3B784E3FAD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87526" y="5886811"/>
            <a:ext cx="702244" cy="702244"/>
          </a:xfrm>
          <a:prstGeom prst="rect">
            <a:avLst/>
          </a:prstGeom>
        </p:spPr>
      </p:pic>
      <p:pic>
        <p:nvPicPr>
          <p:cNvPr id="13" name="Gráfico 12" descr="Contorno de rosto confuso estrutura de tópicos">
            <a:extLst>
              <a:ext uri="{FF2B5EF4-FFF2-40B4-BE49-F238E27FC236}">
                <a16:creationId xmlns:a16="http://schemas.microsoft.com/office/drawing/2014/main" id="{409304BB-760A-3362-7A2B-C151418E8B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20589" y="4071037"/>
            <a:ext cx="714721" cy="714721"/>
          </a:xfrm>
          <a:prstGeom prst="rect">
            <a:avLst/>
          </a:prstGeom>
        </p:spPr>
      </p:pic>
      <p:pic>
        <p:nvPicPr>
          <p:cNvPr id="15" name="Gráfico 14" descr="Contrato estrutura de tópicos">
            <a:extLst>
              <a:ext uri="{FF2B5EF4-FFF2-40B4-BE49-F238E27FC236}">
                <a16:creationId xmlns:a16="http://schemas.microsoft.com/office/drawing/2014/main" id="{9A4E631D-E664-5679-38FD-013A35A014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91048" y="5821393"/>
            <a:ext cx="590211" cy="590211"/>
          </a:xfrm>
          <a:prstGeom prst="rect">
            <a:avLst/>
          </a:prstGeom>
        </p:spPr>
      </p:pic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8CA55288-F232-DD4F-253B-BB3380231E28}"/>
              </a:ext>
            </a:extLst>
          </p:cNvPr>
          <p:cNvSpPr/>
          <p:nvPr/>
        </p:nvSpPr>
        <p:spPr>
          <a:xfrm>
            <a:off x="3247034" y="8191500"/>
            <a:ext cx="11697266" cy="905900"/>
          </a:xfrm>
          <a:prstGeom prst="roundRect">
            <a:avLst/>
          </a:prstGeom>
          <a:solidFill>
            <a:srgbClr val="A8CF45"/>
          </a:solidFill>
          <a:ln>
            <a:solidFill>
              <a:srgbClr val="A8CF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object 2" descr="$PPTXTitle">
            <a:extLst>
              <a:ext uri="{FF2B5EF4-FFF2-40B4-BE49-F238E27FC236}">
                <a16:creationId xmlns:a16="http://schemas.microsoft.com/office/drawing/2014/main" id="{57EF34C9-86AB-B6F6-F406-9D1F7EDFDAAF}"/>
              </a:ext>
            </a:extLst>
          </p:cNvPr>
          <p:cNvSpPr txBox="1">
            <a:spLocks/>
          </p:cNvSpPr>
          <p:nvPr/>
        </p:nvSpPr>
        <p:spPr>
          <a:xfrm>
            <a:off x="3361898" y="8403891"/>
            <a:ext cx="11582402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200" b="1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pt-BR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 MÉTODO NÃO HÁ CONFORMIDADE.</a:t>
            </a: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2613B553-B7B6-A600-946C-993A744901BD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108" b="12301"/>
          <a:stretch>
            <a:fillRect/>
          </a:stretch>
        </p:blipFill>
        <p:spPr>
          <a:xfrm rot="10649847">
            <a:off x="346373" y="4519715"/>
            <a:ext cx="2925042" cy="1968146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E97DBB9E-61DF-E641-300D-DAF4DA8FAA9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93" b="3189"/>
          <a:stretch>
            <a:fillRect/>
          </a:stretch>
        </p:blipFill>
        <p:spPr>
          <a:xfrm rot="10649847">
            <a:off x="14949708" y="4243337"/>
            <a:ext cx="2777450" cy="217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456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bg object 16">
            <a:extLst>
              <a:ext uri="{FF2B5EF4-FFF2-40B4-BE49-F238E27FC236}">
                <a16:creationId xmlns:a16="http://schemas.microsoft.com/office/drawing/2014/main" id="{B18058A5-E03A-6856-29D3-0CD412C8BF7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5AA1799C-6BA1-E6B5-A32B-5D0BA15627C7}"/>
              </a:ext>
            </a:extLst>
          </p:cNvPr>
          <p:cNvSpPr/>
          <p:nvPr/>
        </p:nvSpPr>
        <p:spPr>
          <a:xfrm>
            <a:off x="1259307" y="1452880"/>
            <a:ext cx="6553200" cy="7043420"/>
          </a:xfrm>
          <a:prstGeom prst="roundRect">
            <a:avLst/>
          </a:prstGeom>
          <a:solidFill>
            <a:srgbClr val="A8CF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8" name="bg object 18">
            <a:extLst>
              <a:ext uri="{FF2B5EF4-FFF2-40B4-BE49-F238E27FC236}">
                <a16:creationId xmlns:a16="http://schemas.microsoft.com/office/drawing/2014/main" id="{AF7D8CDE-387D-7F7B-45C6-45469A5BFF6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79258" y="9338164"/>
            <a:ext cx="1905587" cy="496334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259307" y="1461562"/>
            <a:ext cx="6553200" cy="2385268"/>
          </a:xfrm>
          <a:prstGeom prst="rect">
            <a:avLst/>
          </a:prstGeom>
        </p:spPr>
        <p:txBody>
          <a:bodyPr vert="horz" wrap="square" lIns="0" tIns="243840" rIns="0" bIns="0" rtlCol="0">
            <a:spAutoFit/>
          </a:bodyPr>
          <a:lstStyle/>
          <a:p>
            <a:pPr marL="12700" marR="5080" algn="ctr">
              <a:spcBef>
                <a:spcPts val="1920"/>
              </a:spcBef>
            </a:pPr>
            <a:r>
              <a:rPr sz="6950" spc="730" dirty="0">
                <a:latin typeface="Arial Black" panose="020B0A04020102020204" pitchFamily="34" charset="0"/>
              </a:rPr>
              <a:t>O</a:t>
            </a:r>
            <a:r>
              <a:rPr sz="6950" spc="-685" dirty="0">
                <a:latin typeface="Arial Black" panose="020B0A04020102020204" pitchFamily="34" charset="0"/>
              </a:rPr>
              <a:t> </a:t>
            </a:r>
            <a:r>
              <a:rPr sz="6950" spc="114" dirty="0">
                <a:latin typeface="Arial Black" panose="020B0A04020102020204" pitchFamily="34" charset="0"/>
              </a:rPr>
              <a:t>que</a:t>
            </a:r>
            <a:r>
              <a:rPr sz="6950" spc="-680" dirty="0">
                <a:latin typeface="Arial Black" panose="020B0A04020102020204" pitchFamily="34" charset="0"/>
              </a:rPr>
              <a:t> </a:t>
            </a:r>
            <a:r>
              <a:rPr sz="6950" dirty="0">
                <a:latin typeface="Arial Black" panose="020B0A04020102020204" pitchFamily="34" charset="0"/>
              </a:rPr>
              <a:t>é</a:t>
            </a:r>
            <a:r>
              <a:rPr sz="6950" spc="-685" dirty="0">
                <a:latin typeface="Arial Black" panose="020B0A04020102020204" pitchFamily="34" charset="0"/>
              </a:rPr>
              <a:t> </a:t>
            </a:r>
            <a:r>
              <a:rPr sz="6950" spc="265" dirty="0">
                <a:latin typeface="Arial Black" panose="020B0A04020102020204" pitchFamily="34" charset="0"/>
              </a:rPr>
              <a:t>o </a:t>
            </a:r>
            <a:r>
              <a:rPr sz="6950" spc="450" dirty="0">
                <a:solidFill>
                  <a:schemeClr val="bg1"/>
                </a:solidFill>
                <a:latin typeface="Arial Black" panose="020B0A04020102020204" pitchFamily="34" charset="0"/>
              </a:rPr>
              <a:t>QWORK?</a:t>
            </a:r>
            <a:endParaRPr sz="695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43970" y="4389586"/>
            <a:ext cx="5791200" cy="11336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pt-BR" sz="3600" b="1" dirty="0">
                <a:latin typeface="Arial" panose="020B0604020202020204" pitchFamily="34" charset="0"/>
                <a:cs typeface="Arial" panose="020B0604020202020204" pitchFamily="34" charset="0"/>
              </a:rPr>
              <a:t>Plataforma Técnica de</a:t>
            </a:r>
          </a:p>
          <a:p>
            <a:pPr marL="12700">
              <a:spcBef>
                <a:spcPts val="100"/>
              </a:spcBef>
            </a:pPr>
            <a:r>
              <a:rPr lang="pt-BR" sz="3600" b="1" dirty="0">
                <a:latin typeface="Arial" panose="020B0604020202020204" pitchFamily="34" charset="0"/>
                <a:cs typeface="Arial" panose="020B0604020202020204" pitchFamily="34" charset="0"/>
              </a:rPr>
              <a:t>Avaliação Psicossocial</a:t>
            </a:r>
            <a:endParaRPr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665489" y="2094230"/>
            <a:ext cx="8053018" cy="654538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marL="12700" marR="592455">
              <a:lnSpc>
                <a:spcPct val="78100"/>
              </a:lnSpc>
              <a:spcBef>
                <a:spcPts val="1360"/>
              </a:spcBef>
            </a:pPr>
            <a:r>
              <a:rPr sz="4000" b="1" spc="-70" dirty="0">
                <a:solidFill>
                  <a:srgbClr val="A8CF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Avalia</a:t>
            </a:r>
            <a:r>
              <a:rPr sz="4000" spc="-229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riscos</a:t>
            </a:r>
            <a:r>
              <a:rPr sz="4000" spc="-22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psicossociais</a:t>
            </a:r>
            <a:endParaRPr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979689" y="2235042"/>
            <a:ext cx="282849" cy="5574188"/>
            <a:chOff x="7735900" y="1741328"/>
            <a:chExt cx="312420" cy="6156960"/>
          </a:xfrm>
        </p:grpSpPr>
        <p:sp>
          <p:nvSpPr>
            <p:cNvPr id="9" name="object 9"/>
            <p:cNvSpPr/>
            <p:nvPr/>
          </p:nvSpPr>
          <p:spPr>
            <a:xfrm>
              <a:off x="7748697" y="1741328"/>
              <a:ext cx="299720" cy="516255"/>
            </a:xfrm>
            <a:custGeom>
              <a:avLst/>
              <a:gdLst/>
              <a:ahLst/>
              <a:cxnLst/>
              <a:rect l="l" t="t" r="r" b="b"/>
              <a:pathLst>
                <a:path w="299720" h="516255">
                  <a:moveTo>
                    <a:pt x="51422" y="515922"/>
                  </a:moveTo>
                  <a:lnTo>
                    <a:pt x="32072" y="512156"/>
                  </a:lnTo>
                  <a:lnTo>
                    <a:pt x="15061" y="500861"/>
                  </a:lnTo>
                  <a:lnTo>
                    <a:pt x="3768" y="483854"/>
                  </a:lnTo>
                  <a:lnTo>
                    <a:pt x="9" y="464512"/>
                  </a:lnTo>
                  <a:lnTo>
                    <a:pt x="3775" y="445170"/>
                  </a:lnTo>
                  <a:lnTo>
                    <a:pt x="15061" y="428163"/>
                  </a:lnTo>
                  <a:lnTo>
                    <a:pt x="158487" y="284712"/>
                  </a:lnTo>
                  <a:lnTo>
                    <a:pt x="166793" y="272199"/>
                  </a:lnTo>
                  <a:lnTo>
                    <a:pt x="169562" y="257961"/>
                  </a:lnTo>
                  <a:lnTo>
                    <a:pt x="166793" y="243722"/>
                  </a:lnTo>
                  <a:lnTo>
                    <a:pt x="158487" y="231210"/>
                  </a:lnTo>
                  <a:lnTo>
                    <a:pt x="15061" y="87758"/>
                  </a:lnTo>
                  <a:lnTo>
                    <a:pt x="3765" y="70751"/>
                  </a:lnTo>
                  <a:lnTo>
                    <a:pt x="0" y="51410"/>
                  </a:lnTo>
                  <a:lnTo>
                    <a:pt x="3765" y="32068"/>
                  </a:lnTo>
                  <a:lnTo>
                    <a:pt x="15061" y="15061"/>
                  </a:lnTo>
                  <a:lnTo>
                    <a:pt x="32072" y="3765"/>
                  </a:lnTo>
                  <a:lnTo>
                    <a:pt x="51422" y="0"/>
                  </a:lnTo>
                  <a:lnTo>
                    <a:pt x="70772" y="3765"/>
                  </a:lnTo>
                  <a:lnTo>
                    <a:pt x="87783" y="15061"/>
                  </a:lnTo>
                  <a:lnTo>
                    <a:pt x="277550" y="204828"/>
                  </a:lnTo>
                  <a:lnTo>
                    <a:pt x="294065" y="229648"/>
                  </a:lnTo>
                  <a:lnTo>
                    <a:pt x="299570" y="257936"/>
                  </a:lnTo>
                  <a:lnTo>
                    <a:pt x="294065" y="286224"/>
                  </a:lnTo>
                  <a:lnTo>
                    <a:pt x="277550" y="311093"/>
                  </a:lnTo>
                  <a:lnTo>
                    <a:pt x="87783" y="500861"/>
                  </a:lnTo>
                  <a:lnTo>
                    <a:pt x="70772" y="512156"/>
                  </a:lnTo>
                  <a:lnTo>
                    <a:pt x="51422" y="515922"/>
                  </a:lnTo>
                  <a:close/>
                </a:path>
              </a:pathLst>
            </a:custGeom>
            <a:solidFill>
              <a:srgbClr val="A7CF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35900" y="1886216"/>
              <a:ext cx="143851" cy="22608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748697" y="5485505"/>
              <a:ext cx="299720" cy="516255"/>
            </a:xfrm>
            <a:custGeom>
              <a:avLst/>
              <a:gdLst/>
              <a:ahLst/>
              <a:cxnLst/>
              <a:rect l="l" t="t" r="r" b="b"/>
              <a:pathLst>
                <a:path w="299720" h="516254">
                  <a:moveTo>
                    <a:pt x="51422" y="515922"/>
                  </a:moveTo>
                  <a:lnTo>
                    <a:pt x="32072" y="512156"/>
                  </a:lnTo>
                  <a:lnTo>
                    <a:pt x="15061" y="500861"/>
                  </a:lnTo>
                  <a:lnTo>
                    <a:pt x="3768" y="483854"/>
                  </a:lnTo>
                  <a:lnTo>
                    <a:pt x="9" y="464512"/>
                  </a:lnTo>
                  <a:lnTo>
                    <a:pt x="3775" y="445170"/>
                  </a:lnTo>
                  <a:lnTo>
                    <a:pt x="15061" y="428163"/>
                  </a:lnTo>
                  <a:lnTo>
                    <a:pt x="158487" y="284712"/>
                  </a:lnTo>
                  <a:lnTo>
                    <a:pt x="166793" y="272199"/>
                  </a:lnTo>
                  <a:lnTo>
                    <a:pt x="169562" y="257961"/>
                  </a:lnTo>
                  <a:lnTo>
                    <a:pt x="166793" y="243722"/>
                  </a:lnTo>
                  <a:lnTo>
                    <a:pt x="158487" y="231210"/>
                  </a:lnTo>
                  <a:lnTo>
                    <a:pt x="15061" y="87758"/>
                  </a:lnTo>
                  <a:lnTo>
                    <a:pt x="3765" y="70751"/>
                  </a:lnTo>
                  <a:lnTo>
                    <a:pt x="0" y="51410"/>
                  </a:lnTo>
                  <a:lnTo>
                    <a:pt x="3765" y="32068"/>
                  </a:lnTo>
                  <a:lnTo>
                    <a:pt x="15061" y="15061"/>
                  </a:lnTo>
                  <a:lnTo>
                    <a:pt x="32072" y="3765"/>
                  </a:lnTo>
                  <a:lnTo>
                    <a:pt x="51422" y="0"/>
                  </a:lnTo>
                  <a:lnTo>
                    <a:pt x="70772" y="3765"/>
                  </a:lnTo>
                  <a:lnTo>
                    <a:pt x="87783" y="15061"/>
                  </a:lnTo>
                  <a:lnTo>
                    <a:pt x="277550" y="204828"/>
                  </a:lnTo>
                  <a:lnTo>
                    <a:pt x="294065" y="229648"/>
                  </a:lnTo>
                  <a:lnTo>
                    <a:pt x="299570" y="257936"/>
                  </a:lnTo>
                  <a:lnTo>
                    <a:pt x="294065" y="286224"/>
                  </a:lnTo>
                  <a:lnTo>
                    <a:pt x="277550" y="311093"/>
                  </a:lnTo>
                  <a:lnTo>
                    <a:pt x="87783" y="500861"/>
                  </a:lnTo>
                  <a:lnTo>
                    <a:pt x="70772" y="512156"/>
                  </a:lnTo>
                  <a:lnTo>
                    <a:pt x="51422" y="515922"/>
                  </a:lnTo>
                  <a:close/>
                </a:path>
              </a:pathLst>
            </a:custGeom>
            <a:solidFill>
              <a:srgbClr val="A7CF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35900" y="5630392"/>
              <a:ext cx="143851" cy="22608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748697" y="3414357"/>
              <a:ext cx="299720" cy="516255"/>
            </a:xfrm>
            <a:custGeom>
              <a:avLst/>
              <a:gdLst/>
              <a:ahLst/>
              <a:cxnLst/>
              <a:rect l="l" t="t" r="r" b="b"/>
              <a:pathLst>
                <a:path w="299720" h="516254">
                  <a:moveTo>
                    <a:pt x="51422" y="515922"/>
                  </a:moveTo>
                  <a:lnTo>
                    <a:pt x="32072" y="512156"/>
                  </a:lnTo>
                  <a:lnTo>
                    <a:pt x="15061" y="500861"/>
                  </a:lnTo>
                  <a:lnTo>
                    <a:pt x="3768" y="483854"/>
                  </a:lnTo>
                  <a:lnTo>
                    <a:pt x="9" y="464512"/>
                  </a:lnTo>
                  <a:lnTo>
                    <a:pt x="3775" y="445170"/>
                  </a:lnTo>
                  <a:lnTo>
                    <a:pt x="15061" y="428163"/>
                  </a:lnTo>
                  <a:lnTo>
                    <a:pt x="158487" y="284712"/>
                  </a:lnTo>
                  <a:lnTo>
                    <a:pt x="166793" y="272199"/>
                  </a:lnTo>
                  <a:lnTo>
                    <a:pt x="169562" y="257961"/>
                  </a:lnTo>
                  <a:lnTo>
                    <a:pt x="166793" y="243722"/>
                  </a:lnTo>
                  <a:lnTo>
                    <a:pt x="158487" y="231210"/>
                  </a:lnTo>
                  <a:lnTo>
                    <a:pt x="15061" y="87758"/>
                  </a:lnTo>
                  <a:lnTo>
                    <a:pt x="3765" y="70751"/>
                  </a:lnTo>
                  <a:lnTo>
                    <a:pt x="0" y="51410"/>
                  </a:lnTo>
                  <a:lnTo>
                    <a:pt x="3765" y="32068"/>
                  </a:lnTo>
                  <a:lnTo>
                    <a:pt x="15061" y="15061"/>
                  </a:lnTo>
                  <a:lnTo>
                    <a:pt x="32072" y="3765"/>
                  </a:lnTo>
                  <a:lnTo>
                    <a:pt x="51422" y="0"/>
                  </a:lnTo>
                  <a:lnTo>
                    <a:pt x="70772" y="3765"/>
                  </a:lnTo>
                  <a:lnTo>
                    <a:pt x="87783" y="15061"/>
                  </a:lnTo>
                  <a:lnTo>
                    <a:pt x="277550" y="204828"/>
                  </a:lnTo>
                  <a:lnTo>
                    <a:pt x="294065" y="229648"/>
                  </a:lnTo>
                  <a:lnTo>
                    <a:pt x="299570" y="257936"/>
                  </a:lnTo>
                  <a:lnTo>
                    <a:pt x="294065" y="286224"/>
                  </a:lnTo>
                  <a:lnTo>
                    <a:pt x="277550" y="311093"/>
                  </a:lnTo>
                  <a:lnTo>
                    <a:pt x="87783" y="500861"/>
                  </a:lnTo>
                  <a:lnTo>
                    <a:pt x="70772" y="512156"/>
                  </a:lnTo>
                  <a:lnTo>
                    <a:pt x="51422" y="515922"/>
                  </a:lnTo>
                  <a:close/>
                </a:path>
              </a:pathLst>
            </a:custGeom>
            <a:solidFill>
              <a:srgbClr val="A7CF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35900" y="3559244"/>
              <a:ext cx="143851" cy="22608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748697" y="7381857"/>
              <a:ext cx="299720" cy="516255"/>
            </a:xfrm>
            <a:custGeom>
              <a:avLst/>
              <a:gdLst/>
              <a:ahLst/>
              <a:cxnLst/>
              <a:rect l="l" t="t" r="r" b="b"/>
              <a:pathLst>
                <a:path w="299720" h="516254">
                  <a:moveTo>
                    <a:pt x="51422" y="515922"/>
                  </a:moveTo>
                  <a:lnTo>
                    <a:pt x="32072" y="512156"/>
                  </a:lnTo>
                  <a:lnTo>
                    <a:pt x="15061" y="500861"/>
                  </a:lnTo>
                  <a:lnTo>
                    <a:pt x="3768" y="483854"/>
                  </a:lnTo>
                  <a:lnTo>
                    <a:pt x="9" y="464512"/>
                  </a:lnTo>
                  <a:lnTo>
                    <a:pt x="3775" y="445170"/>
                  </a:lnTo>
                  <a:lnTo>
                    <a:pt x="15061" y="428163"/>
                  </a:lnTo>
                  <a:lnTo>
                    <a:pt x="158487" y="284712"/>
                  </a:lnTo>
                  <a:lnTo>
                    <a:pt x="166793" y="272199"/>
                  </a:lnTo>
                  <a:lnTo>
                    <a:pt x="169562" y="257961"/>
                  </a:lnTo>
                  <a:lnTo>
                    <a:pt x="166793" y="243722"/>
                  </a:lnTo>
                  <a:lnTo>
                    <a:pt x="158487" y="231210"/>
                  </a:lnTo>
                  <a:lnTo>
                    <a:pt x="15061" y="87758"/>
                  </a:lnTo>
                  <a:lnTo>
                    <a:pt x="3765" y="70751"/>
                  </a:lnTo>
                  <a:lnTo>
                    <a:pt x="0" y="51410"/>
                  </a:lnTo>
                  <a:lnTo>
                    <a:pt x="3765" y="32068"/>
                  </a:lnTo>
                  <a:lnTo>
                    <a:pt x="15061" y="15061"/>
                  </a:lnTo>
                  <a:lnTo>
                    <a:pt x="32072" y="3765"/>
                  </a:lnTo>
                  <a:lnTo>
                    <a:pt x="51422" y="0"/>
                  </a:lnTo>
                  <a:lnTo>
                    <a:pt x="70772" y="3765"/>
                  </a:lnTo>
                  <a:lnTo>
                    <a:pt x="87783" y="15061"/>
                  </a:lnTo>
                  <a:lnTo>
                    <a:pt x="277550" y="204828"/>
                  </a:lnTo>
                  <a:lnTo>
                    <a:pt x="294065" y="229648"/>
                  </a:lnTo>
                  <a:lnTo>
                    <a:pt x="299570" y="257936"/>
                  </a:lnTo>
                  <a:lnTo>
                    <a:pt x="294065" y="286224"/>
                  </a:lnTo>
                  <a:lnTo>
                    <a:pt x="277550" y="311093"/>
                  </a:lnTo>
                  <a:lnTo>
                    <a:pt x="87783" y="500861"/>
                  </a:lnTo>
                  <a:lnTo>
                    <a:pt x="70772" y="512156"/>
                  </a:lnTo>
                  <a:lnTo>
                    <a:pt x="51422" y="515922"/>
                  </a:lnTo>
                  <a:close/>
                </a:path>
              </a:pathLst>
            </a:custGeom>
            <a:solidFill>
              <a:srgbClr val="A7CF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35900" y="7526744"/>
              <a:ext cx="143851" cy="226083"/>
            </a:xfrm>
            <a:prstGeom prst="rect">
              <a:avLst/>
            </a:prstGeom>
          </p:spPr>
        </p:pic>
      </p:grpSp>
      <p:sp>
        <p:nvSpPr>
          <p:cNvPr id="20" name="object 6">
            <a:extLst>
              <a:ext uri="{FF2B5EF4-FFF2-40B4-BE49-F238E27FC236}">
                <a16:creationId xmlns:a16="http://schemas.microsoft.com/office/drawing/2014/main" id="{6EBF8605-5F27-C572-918A-BD1F129C0548}"/>
              </a:ext>
            </a:extLst>
          </p:cNvPr>
          <p:cNvSpPr txBox="1"/>
          <p:nvPr/>
        </p:nvSpPr>
        <p:spPr>
          <a:xfrm>
            <a:off x="1945107" y="5684986"/>
            <a:ext cx="5791200" cy="2228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Desenvolvida para ajudar empresas a atenderem a NR-1 com </a:t>
            </a:r>
            <a:r>
              <a:rPr lang="pt-BR" sz="3600" b="1" dirty="0">
                <a:latin typeface="Arial" panose="020B0604020202020204" pitchFamily="34" charset="0"/>
                <a:cs typeface="Arial" panose="020B0604020202020204" pitchFamily="34" charset="0"/>
              </a:rPr>
              <a:t>segurança</a:t>
            </a:r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sz="3600" b="1" dirty="0">
                <a:latin typeface="Arial" panose="020B0604020202020204" pitchFamily="34" charset="0"/>
                <a:cs typeface="Arial" panose="020B0604020202020204" pitchFamily="34" charset="0"/>
              </a:rPr>
              <a:t>conformidade</a:t>
            </a:r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748B6C31-BF9C-CCF3-9174-FB94F99B15EF}"/>
              </a:ext>
            </a:extLst>
          </p:cNvPr>
          <p:cNvCxnSpPr/>
          <p:nvPr/>
        </p:nvCxnSpPr>
        <p:spPr>
          <a:xfrm>
            <a:off x="1943970" y="4075430"/>
            <a:ext cx="51827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bject 7">
            <a:extLst>
              <a:ext uri="{FF2B5EF4-FFF2-40B4-BE49-F238E27FC236}">
                <a16:creationId xmlns:a16="http://schemas.microsoft.com/office/drawing/2014/main" id="{754A85AF-73AC-11E8-1CE8-E6F04444A375}"/>
              </a:ext>
            </a:extLst>
          </p:cNvPr>
          <p:cNvSpPr txBox="1"/>
          <p:nvPr/>
        </p:nvSpPr>
        <p:spPr>
          <a:xfrm>
            <a:off x="9637894" y="7230892"/>
            <a:ext cx="10859906" cy="654538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marL="12700" marR="2322830">
              <a:lnSpc>
                <a:spcPct val="78100"/>
              </a:lnSpc>
              <a:spcBef>
                <a:spcPts val="4500"/>
              </a:spcBef>
            </a:pPr>
            <a:r>
              <a:rPr lang="pt-BR" sz="4000" b="1" spc="-40" dirty="0">
                <a:solidFill>
                  <a:srgbClr val="A8CF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Apoia</a:t>
            </a:r>
            <a:r>
              <a:rPr lang="pt-BR" sz="4000" spc="-4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conformidade com a NR-1</a:t>
            </a:r>
            <a:endParaRPr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object 7">
            <a:extLst>
              <a:ext uri="{FF2B5EF4-FFF2-40B4-BE49-F238E27FC236}">
                <a16:creationId xmlns:a16="http://schemas.microsoft.com/office/drawing/2014/main" id="{24B63C6A-35C5-921D-4301-1765375C972E}"/>
              </a:ext>
            </a:extLst>
          </p:cNvPr>
          <p:cNvSpPr txBox="1"/>
          <p:nvPr/>
        </p:nvSpPr>
        <p:spPr>
          <a:xfrm>
            <a:off x="9641307" y="3618230"/>
            <a:ext cx="8299897" cy="654538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marL="12700" marR="5080">
              <a:lnSpc>
                <a:spcPct val="78100"/>
              </a:lnSpc>
              <a:spcBef>
                <a:spcPts val="4500"/>
              </a:spcBef>
            </a:pPr>
            <a:r>
              <a:rPr sz="4000" b="1" spc="-10" dirty="0" err="1">
                <a:solidFill>
                  <a:srgbClr val="A8CF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Utiliza</a:t>
            </a:r>
            <a:r>
              <a:rPr sz="4000" spc="-28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4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metodologia</a:t>
            </a:r>
            <a:r>
              <a:rPr sz="4000" spc="-28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spc="4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científic</a:t>
            </a:r>
            <a:r>
              <a:rPr lang="pt-BR" sz="4000" spc="4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object 7">
            <a:extLst>
              <a:ext uri="{FF2B5EF4-FFF2-40B4-BE49-F238E27FC236}">
                <a16:creationId xmlns:a16="http://schemas.microsoft.com/office/drawing/2014/main" id="{C6ACE780-2FA9-4345-7CB2-45D0C58745BC}"/>
              </a:ext>
            </a:extLst>
          </p:cNvPr>
          <p:cNvSpPr txBox="1"/>
          <p:nvPr/>
        </p:nvSpPr>
        <p:spPr>
          <a:xfrm>
            <a:off x="9637894" y="5504179"/>
            <a:ext cx="7626675" cy="654538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marL="12700" marR="5080">
              <a:lnSpc>
                <a:spcPct val="78100"/>
              </a:lnSpc>
              <a:spcBef>
                <a:spcPts val="4500"/>
              </a:spcBef>
            </a:pPr>
            <a:r>
              <a:rPr lang="pt-BR" sz="4000" b="1" spc="114" dirty="0">
                <a:solidFill>
                  <a:srgbClr val="A8CF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Gera</a:t>
            </a:r>
            <a:r>
              <a:rPr lang="pt-BR" sz="4000" spc="114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evidências técnicas</a:t>
            </a:r>
            <a:endParaRPr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52926-519E-B96F-3963-25F00A10E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bg object 16">
            <a:extLst>
              <a:ext uri="{FF2B5EF4-FFF2-40B4-BE49-F238E27FC236}">
                <a16:creationId xmlns:a16="http://schemas.microsoft.com/office/drawing/2014/main" id="{AAD122B4-A123-8A36-3A3C-781F5EE3B5A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20" name="object 2" descr="$PPTXTitle">
            <a:extLst>
              <a:ext uri="{FF2B5EF4-FFF2-40B4-BE49-F238E27FC236}">
                <a16:creationId xmlns:a16="http://schemas.microsoft.com/office/drawing/2014/main" id="{BFF706F4-9C05-C0BF-2413-ADDA697DC5CF}"/>
              </a:ext>
            </a:extLst>
          </p:cNvPr>
          <p:cNvSpPr txBox="1">
            <a:spLocks/>
          </p:cNvSpPr>
          <p:nvPr/>
        </p:nvSpPr>
        <p:spPr>
          <a:xfrm>
            <a:off x="838200" y="1172914"/>
            <a:ext cx="16992600" cy="84638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>
            <a:lvl1pPr>
              <a:defRPr sz="8200" b="1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 algn="l">
              <a:spcBef>
                <a:spcPts val="120"/>
              </a:spcBef>
            </a:pPr>
            <a:r>
              <a:rPr lang="pt-BR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que o </a:t>
            </a:r>
            <a:r>
              <a:rPr lang="pt-BR" sz="5400" dirty="0" err="1">
                <a:solidFill>
                  <a:srgbClr val="A8CF45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Qwork</a:t>
            </a:r>
            <a:r>
              <a:rPr lang="pt-BR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entrega?</a:t>
            </a:r>
            <a:endParaRPr lang="pt-BR" sz="5400" dirty="0">
              <a:solidFill>
                <a:srgbClr val="A8CF45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object 2" descr="$PPTXTitle">
            <a:extLst>
              <a:ext uri="{FF2B5EF4-FFF2-40B4-BE49-F238E27FC236}">
                <a16:creationId xmlns:a16="http://schemas.microsoft.com/office/drawing/2014/main" id="{FDA12682-0D48-7D02-2459-5B24BBA09B64}"/>
              </a:ext>
            </a:extLst>
          </p:cNvPr>
          <p:cNvSpPr txBox="1">
            <a:spLocks/>
          </p:cNvSpPr>
          <p:nvPr/>
        </p:nvSpPr>
        <p:spPr>
          <a:xfrm>
            <a:off x="1891742" y="3229121"/>
            <a:ext cx="7885859" cy="7022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200" b="1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algn="l">
              <a:lnSpc>
                <a:spcPct val="80000"/>
              </a:lnSpc>
            </a:pPr>
            <a:r>
              <a:rPr lang="pt-BR" sz="2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Identificação dos riscos </a:t>
            </a:r>
            <a:r>
              <a:rPr lang="pt-BR" sz="2800" dirty="0">
                <a:solidFill>
                  <a:srgbClr val="A8CF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psicossociais no ambiente de trabalho</a:t>
            </a:r>
          </a:p>
        </p:txBody>
      </p:sp>
      <p:sp>
        <p:nvSpPr>
          <p:cNvPr id="3" name="object 2" descr="$PPTXTitle">
            <a:extLst>
              <a:ext uri="{FF2B5EF4-FFF2-40B4-BE49-F238E27FC236}">
                <a16:creationId xmlns:a16="http://schemas.microsoft.com/office/drawing/2014/main" id="{CB5A6F6D-C749-E492-6B9C-96DCE381792B}"/>
              </a:ext>
            </a:extLst>
          </p:cNvPr>
          <p:cNvSpPr txBox="1">
            <a:spLocks/>
          </p:cNvSpPr>
          <p:nvPr/>
        </p:nvSpPr>
        <p:spPr>
          <a:xfrm>
            <a:off x="1891742" y="4602140"/>
            <a:ext cx="7822695" cy="3575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200" b="1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algn="l">
              <a:lnSpc>
                <a:spcPct val="80000"/>
              </a:lnSpc>
            </a:pPr>
            <a:r>
              <a:rPr lang="pt-BR" sz="2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Metodologia científica baseada no </a:t>
            </a:r>
            <a:r>
              <a:rPr lang="pt-BR" sz="2800" dirty="0">
                <a:solidFill>
                  <a:srgbClr val="A8CF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COPSOQ</a:t>
            </a:r>
          </a:p>
        </p:txBody>
      </p:sp>
      <p:sp>
        <p:nvSpPr>
          <p:cNvPr id="5" name="object 2" descr="$PPTXTitle">
            <a:extLst>
              <a:ext uri="{FF2B5EF4-FFF2-40B4-BE49-F238E27FC236}">
                <a16:creationId xmlns:a16="http://schemas.microsoft.com/office/drawing/2014/main" id="{6C1D1677-24F3-BF53-3DC1-60B563619810}"/>
              </a:ext>
            </a:extLst>
          </p:cNvPr>
          <p:cNvSpPr txBox="1">
            <a:spLocks/>
          </p:cNvSpPr>
          <p:nvPr/>
        </p:nvSpPr>
        <p:spPr>
          <a:xfrm>
            <a:off x="1891743" y="5828271"/>
            <a:ext cx="7822694" cy="3575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200" b="1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algn="l">
              <a:lnSpc>
                <a:spcPct val="80000"/>
              </a:lnSpc>
            </a:pPr>
            <a:r>
              <a:rPr lang="pt-BR" sz="2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Análise técnica alinhada à </a:t>
            </a:r>
            <a:r>
              <a:rPr lang="pt-BR" sz="2800" dirty="0">
                <a:solidFill>
                  <a:srgbClr val="A8CF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NR-1</a:t>
            </a:r>
            <a:r>
              <a:rPr lang="pt-BR" sz="2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ao </a:t>
            </a:r>
            <a:r>
              <a:rPr lang="pt-BR" sz="2800" dirty="0">
                <a:solidFill>
                  <a:srgbClr val="A8CF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</a:t>
            </a:r>
          </a:p>
        </p:txBody>
      </p:sp>
      <p:sp>
        <p:nvSpPr>
          <p:cNvPr id="7" name="object 2" descr="$PPTXTitle">
            <a:extLst>
              <a:ext uri="{FF2B5EF4-FFF2-40B4-BE49-F238E27FC236}">
                <a16:creationId xmlns:a16="http://schemas.microsoft.com/office/drawing/2014/main" id="{E00FBF0C-857E-A5E6-9496-19E5D89AB02E}"/>
              </a:ext>
            </a:extLst>
          </p:cNvPr>
          <p:cNvSpPr txBox="1">
            <a:spLocks/>
          </p:cNvSpPr>
          <p:nvPr/>
        </p:nvSpPr>
        <p:spPr>
          <a:xfrm>
            <a:off x="1882643" y="7109549"/>
            <a:ext cx="7894957" cy="1834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200" b="1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algn="l">
              <a:lnSpc>
                <a:spcPct val="80000"/>
              </a:lnSpc>
            </a:pPr>
            <a:r>
              <a:rPr lang="pt-BR" sz="2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Classificação objetiva dos </a:t>
            </a:r>
            <a:r>
              <a:rPr lang="pt-BR" sz="2800" dirty="0">
                <a:solidFill>
                  <a:srgbClr val="A8CF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níveis de risco</a:t>
            </a:r>
          </a:p>
        </p:txBody>
      </p:sp>
      <p:sp>
        <p:nvSpPr>
          <p:cNvPr id="10" name="object 2" descr="$PPTXTitle">
            <a:extLst>
              <a:ext uri="{FF2B5EF4-FFF2-40B4-BE49-F238E27FC236}">
                <a16:creationId xmlns:a16="http://schemas.microsoft.com/office/drawing/2014/main" id="{BF713DCD-CC2E-7D1A-A14F-899B829A346C}"/>
              </a:ext>
            </a:extLst>
          </p:cNvPr>
          <p:cNvSpPr txBox="1">
            <a:spLocks/>
          </p:cNvSpPr>
          <p:nvPr/>
        </p:nvSpPr>
        <p:spPr>
          <a:xfrm>
            <a:off x="1882643" y="8115300"/>
            <a:ext cx="7885859" cy="7022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200" b="1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algn="l">
              <a:lnSpc>
                <a:spcPct val="80000"/>
              </a:lnSpc>
            </a:pPr>
            <a:r>
              <a:rPr lang="pt-BR" sz="2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Emissão de </a:t>
            </a:r>
            <a:r>
              <a:rPr lang="pt-BR" sz="2800" dirty="0">
                <a:solidFill>
                  <a:srgbClr val="A8CF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laudo técnico </a:t>
            </a:r>
            <a:r>
              <a:rPr lang="pt-BR" sz="2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</a:t>
            </a:r>
          </a:p>
          <a:p>
            <a:pPr algn="l">
              <a:lnSpc>
                <a:spcPct val="80000"/>
              </a:lnSpc>
            </a:pPr>
            <a:r>
              <a:rPr lang="pt-BR" sz="2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conformidade legal</a:t>
            </a:r>
            <a:endParaRPr lang="pt-BR" sz="2800" dirty="0">
              <a:solidFill>
                <a:srgbClr val="A8CF4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C3CDB7B-594C-28C0-F1A0-DEA3D1F5A596}"/>
              </a:ext>
            </a:extLst>
          </p:cNvPr>
          <p:cNvSpPr txBox="1"/>
          <p:nvPr/>
        </p:nvSpPr>
        <p:spPr>
          <a:xfrm>
            <a:off x="4524233" y="4694408"/>
            <a:ext cx="9239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dirty="0"/>
          </a:p>
        </p:txBody>
      </p:sp>
      <p:pic>
        <p:nvPicPr>
          <p:cNvPr id="33" name="Imagem 32">
            <a:extLst>
              <a:ext uri="{FF2B5EF4-FFF2-40B4-BE49-F238E27FC236}">
                <a16:creationId xmlns:a16="http://schemas.microsoft.com/office/drawing/2014/main" id="{8B7CACCA-CBAE-7ADB-D03F-A84E7E93728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3162300"/>
            <a:ext cx="627424" cy="711427"/>
          </a:xfrm>
          <a:prstGeom prst="rect">
            <a:avLst/>
          </a:prstGeom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3BF5164C-34A8-9155-E9DD-C7AB0D89255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031" y="4355873"/>
            <a:ext cx="627424" cy="711427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10F41816-3BE4-2BBD-57CB-87E4D74D203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662" y="5600700"/>
            <a:ext cx="627424" cy="711427"/>
          </a:xfrm>
          <a:prstGeom prst="rect">
            <a:avLst/>
          </a:prstGeom>
        </p:spPr>
      </p:pic>
      <p:pic>
        <p:nvPicPr>
          <p:cNvPr id="40" name="Imagem 39">
            <a:extLst>
              <a:ext uri="{FF2B5EF4-FFF2-40B4-BE49-F238E27FC236}">
                <a16:creationId xmlns:a16="http://schemas.microsoft.com/office/drawing/2014/main" id="{B9FD8BCF-BBF1-E74D-2DF4-8FCEE4F0953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93" y="6870473"/>
            <a:ext cx="627424" cy="711427"/>
          </a:xfrm>
          <a:prstGeom prst="rect">
            <a:avLst/>
          </a:prstGeom>
        </p:spPr>
      </p:pic>
      <p:pic>
        <p:nvPicPr>
          <p:cNvPr id="41" name="Imagem 40">
            <a:extLst>
              <a:ext uri="{FF2B5EF4-FFF2-40B4-BE49-F238E27FC236}">
                <a16:creationId xmlns:a16="http://schemas.microsoft.com/office/drawing/2014/main" id="{B5871E55-E9D4-78BB-DE6F-F055211E550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924" y="8089673"/>
            <a:ext cx="627424" cy="711427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09CC4210-4DF3-B6D0-0525-808D904AFB4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517" y="147130"/>
            <a:ext cx="7088031" cy="9949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052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9A68982-014E-DF07-714D-9265E2916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bg object 16">
            <a:extLst>
              <a:ext uri="{FF2B5EF4-FFF2-40B4-BE49-F238E27FC236}">
                <a16:creationId xmlns:a16="http://schemas.microsoft.com/office/drawing/2014/main" id="{3FE17BA5-A4F0-E4AC-6C1E-C86B54096FC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26" name="Retângulo 25">
            <a:extLst>
              <a:ext uri="{FF2B5EF4-FFF2-40B4-BE49-F238E27FC236}">
                <a16:creationId xmlns:a16="http://schemas.microsoft.com/office/drawing/2014/main" id="{77E9C771-B0C3-1275-C5EE-EF8DFCBDA8FD}"/>
              </a:ext>
            </a:extLst>
          </p:cNvPr>
          <p:cNvSpPr/>
          <p:nvPr/>
        </p:nvSpPr>
        <p:spPr>
          <a:xfrm>
            <a:off x="762000" y="647700"/>
            <a:ext cx="16611600" cy="8333472"/>
          </a:xfrm>
          <a:prstGeom prst="rect">
            <a:avLst/>
          </a:prstGeom>
          <a:solidFill>
            <a:srgbClr val="A8CF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8" name="bg object 18">
            <a:extLst>
              <a:ext uri="{FF2B5EF4-FFF2-40B4-BE49-F238E27FC236}">
                <a16:creationId xmlns:a16="http://schemas.microsoft.com/office/drawing/2014/main" id="{A2AFCBEB-EBC1-DC18-189F-34F89955704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79258" y="9338164"/>
            <a:ext cx="1905587" cy="496334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D51A915B-9EFE-D736-D999-78ABBB6A3B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704323"/>
            <a:ext cx="16459200" cy="8200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898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bg object 16">
            <a:extLst>
              <a:ext uri="{FF2B5EF4-FFF2-40B4-BE49-F238E27FC236}">
                <a16:creationId xmlns:a16="http://schemas.microsoft.com/office/drawing/2014/main" id="{CDED758E-252C-716D-66FD-9FC04711D76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85994" y="796051"/>
            <a:ext cx="10360025" cy="2016962"/>
          </a:xfrm>
          <a:prstGeom prst="rect">
            <a:avLst/>
          </a:prstGeom>
        </p:spPr>
        <p:txBody>
          <a:bodyPr vert="horz" wrap="square" lIns="0" tIns="285750" rIns="0" bIns="0" rtlCol="0">
            <a:spAutoFit/>
          </a:bodyPr>
          <a:lstStyle/>
          <a:p>
            <a:pPr marL="12700" marR="5080">
              <a:lnSpc>
                <a:spcPct val="78400"/>
              </a:lnSpc>
              <a:spcBef>
                <a:spcPts val="2250"/>
              </a:spcBef>
            </a:pPr>
            <a:r>
              <a:rPr sz="7200" spc="270" dirty="0">
                <a:solidFill>
                  <a:srgbClr val="A8CF45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Segurança</a:t>
            </a:r>
            <a:r>
              <a:rPr sz="7200" spc="-790" dirty="0">
                <a:solidFill>
                  <a:srgbClr val="A8CF45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sz="7200" spc="-175" dirty="0">
                <a:solidFill>
                  <a:srgbClr val="A8CF45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jurídica</a:t>
            </a:r>
            <a:r>
              <a:rPr sz="7200" spc="-785" dirty="0">
                <a:solidFill>
                  <a:srgbClr val="A8CF45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sz="7200" spc="40" dirty="0">
                <a:solidFill>
                  <a:srgbClr val="A8CF45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e </a:t>
            </a:r>
            <a:r>
              <a:rPr sz="7200" spc="14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posicionamento</a:t>
            </a:r>
            <a:r>
              <a:rPr sz="7200" spc="-81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7200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2370" y="4694260"/>
            <a:ext cx="10475362" cy="66409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30"/>
              </a:spcBef>
            </a:pPr>
            <a:r>
              <a:rPr lang="pt-BR" sz="3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Conformidade real com a NR-1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77070" y="4914900"/>
            <a:ext cx="218440" cy="360045"/>
            <a:chOff x="790338" y="5345250"/>
            <a:chExt cx="218440" cy="360045"/>
          </a:xfrm>
          <a:solidFill>
            <a:srgbClr val="A8CF45"/>
          </a:solidFill>
        </p:grpSpPr>
        <p:sp>
          <p:nvSpPr>
            <p:cNvPr id="5" name="object 5"/>
            <p:cNvSpPr/>
            <p:nvPr/>
          </p:nvSpPr>
          <p:spPr>
            <a:xfrm>
              <a:off x="799262" y="5345250"/>
              <a:ext cx="208915" cy="360045"/>
            </a:xfrm>
            <a:custGeom>
              <a:avLst/>
              <a:gdLst/>
              <a:ahLst/>
              <a:cxnLst/>
              <a:rect l="l" t="t" r="r" b="b"/>
              <a:pathLst>
                <a:path w="208915" h="360045">
                  <a:moveTo>
                    <a:pt x="35861" y="359800"/>
                  </a:moveTo>
                  <a:lnTo>
                    <a:pt x="22366" y="357174"/>
                  </a:lnTo>
                  <a:lnTo>
                    <a:pt x="10503" y="349296"/>
                  </a:lnTo>
                  <a:lnTo>
                    <a:pt x="2628" y="337436"/>
                  </a:lnTo>
                  <a:lnTo>
                    <a:pt x="6" y="323947"/>
                  </a:lnTo>
                  <a:lnTo>
                    <a:pt x="2633" y="310458"/>
                  </a:lnTo>
                  <a:lnTo>
                    <a:pt x="10503" y="298598"/>
                  </a:lnTo>
                  <a:lnTo>
                    <a:pt x="110528" y="198556"/>
                  </a:lnTo>
                  <a:lnTo>
                    <a:pt x="116320" y="189830"/>
                  </a:lnTo>
                  <a:lnTo>
                    <a:pt x="118251" y="179900"/>
                  </a:lnTo>
                  <a:lnTo>
                    <a:pt x="116320" y="169970"/>
                  </a:lnTo>
                  <a:lnTo>
                    <a:pt x="110528" y="161244"/>
                  </a:lnTo>
                  <a:lnTo>
                    <a:pt x="10503" y="61202"/>
                  </a:lnTo>
                  <a:lnTo>
                    <a:pt x="2625" y="49341"/>
                  </a:lnTo>
                  <a:lnTo>
                    <a:pt x="0" y="35853"/>
                  </a:lnTo>
                  <a:lnTo>
                    <a:pt x="2625" y="22364"/>
                  </a:lnTo>
                  <a:lnTo>
                    <a:pt x="10503" y="10503"/>
                  </a:lnTo>
                  <a:lnTo>
                    <a:pt x="22366" y="2625"/>
                  </a:lnTo>
                  <a:lnTo>
                    <a:pt x="35861" y="0"/>
                  </a:lnTo>
                  <a:lnTo>
                    <a:pt x="49356" y="2625"/>
                  </a:lnTo>
                  <a:lnTo>
                    <a:pt x="61219" y="10503"/>
                  </a:lnTo>
                  <a:lnTo>
                    <a:pt x="193561" y="142845"/>
                  </a:lnTo>
                  <a:lnTo>
                    <a:pt x="205079" y="160155"/>
                  </a:lnTo>
                  <a:lnTo>
                    <a:pt x="208918" y="179883"/>
                  </a:lnTo>
                  <a:lnTo>
                    <a:pt x="205079" y="199611"/>
                  </a:lnTo>
                  <a:lnTo>
                    <a:pt x="193561" y="216954"/>
                  </a:lnTo>
                  <a:lnTo>
                    <a:pt x="61219" y="349296"/>
                  </a:lnTo>
                  <a:lnTo>
                    <a:pt x="49356" y="357174"/>
                  </a:lnTo>
                  <a:lnTo>
                    <a:pt x="35861" y="35980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0338" y="5446293"/>
              <a:ext cx="101843" cy="157669"/>
            </a:xfrm>
            <a:prstGeom prst="rect">
              <a:avLst/>
            </a:prstGeom>
            <a:grpFill/>
          </p:spPr>
        </p:pic>
      </p:grpSp>
      <p:grpSp>
        <p:nvGrpSpPr>
          <p:cNvPr id="7" name="object 7"/>
          <p:cNvGrpSpPr/>
          <p:nvPr/>
        </p:nvGrpSpPr>
        <p:grpSpPr>
          <a:xfrm>
            <a:off x="677070" y="7602855"/>
            <a:ext cx="218440" cy="360045"/>
            <a:chOff x="790338" y="7637645"/>
            <a:chExt cx="218440" cy="360045"/>
          </a:xfrm>
          <a:solidFill>
            <a:srgbClr val="A8CF45"/>
          </a:solidFill>
        </p:grpSpPr>
        <p:sp>
          <p:nvSpPr>
            <p:cNvPr id="8" name="object 8"/>
            <p:cNvSpPr/>
            <p:nvPr/>
          </p:nvSpPr>
          <p:spPr>
            <a:xfrm>
              <a:off x="799262" y="7637645"/>
              <a:ext cx="208915" cy="360045"/>
            </a:xfrm>
            <a:custGeom>
              <a:avLst/>
              <a:gdLst/>
              <a:ahLst/>
              <a:cxnLst/>
              <a:rect l="l" t="t" r="r" b="b"/>
              <a:pathLst>
                <a:path w="208915" h="360045">
                  <a:moveTo>
                    <a:pt x="35861" y="359800"/>
                  </a:moveTo>
                  <a:lnTo>
                    <a:pt x="22366" y="357174"/>
                  </a:lnTo>
                  <a:lnTo>
                    <a:pt x="10503" y="349296"/>
                  </a:lnTo>
                  <a:lnTo>
                    <a:pt x="2628" y="337436"/>
                  </a:lnTo>
                  <a:lnTo>
                    <a:pt x="6" y="323947"/>
                  </a:lnTo>
                  <a:lnTo>
                    <a:pt x="2633" y="310458"/>
                  </a:lnTo>
                  <a:lnTo>
                    <a:pt x="10503" y="298598"/>
                  </a:lnTo>
                  <a:lnTo>
                    <a:pt x="110528" y="198556"/>
                  </a:lnTo>
                  <a:lnTo>
                    <a:pt x="116320" y="189830"/>
                  </a:lnTo>
                  <a:lnTo>
                    <a:pt x="118251" y="179900"/>
                  </a:lnTo>
                  <a:lnTo>
                    <a:pt x="116320" y="169970"/>
                  </a:lnTo>
                  <a:lnTo>
                    <a:pt x="110528" y="161244"/>
                  </a:lnTo>
                  <a:lnTo>
                    <a:pt x="10503" y="61202"/>
                  </a:lnTo>
                  <a:lnTo>
                    <a:pt x="2625" y="49341"/>
                  </a:lnTo>
                  <a:lnTo>
                    <a:pt x="0" y="35853"/>
                  </a:lnTo>
                  <a:lnTo>
                    <a:pt x="2625" y="22364"/>
                  </a:lnTo>
                  <a:lnTo>
                    <a:pt x="10503" y="10503"/>
                  </a:lnTo>
                  <a:lnTo>
                    <a:pt x="22366" y="2625"/>
                  </a:lnTo>
                  <a:lnTo>
                    <a:pt x="35861" y="0"/>
                  </a:lnTo>
                  <a:lnTo>
                    <a:pt x="49356" y="2625"/>
                  </a:lnTo>
                  <a:lnTo>
                    <a:pt x="61219" y="10503"/>
                  </a:lnTo>
                  <a:lnTo>
                    <a:pt x="193561" y="142845"/>
                  </a:lnTo>
                  <a:lnTo>
                    <a:pt x="205079" y="160155"/>
                  </a:lnTo>
                  <a:lnTo>
                    <a:pt x="208918" y="179883"/>
                  </a:lnTo>
                  <a:lnTo>
                    <a:pt x="205079" y="199611"/>
                  </a:lnTo>
                  <a:lnTo>
                    <a:pt x="193561" y="216954"/>
                  </a:lnTo>
                  <a:lnTo>
                    <a:pt x="61219" y="349296"/>
                  </a:lnTo>
                  <a:lnTo>
                    <a:pt x="49356" y="357174"/>
                  </a:lnTo>
                  <a:lnTo>
                    <a:pt x="35861" y="35980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0338" y="7738688"/>
              <a:ext cx="101843" cy="157669"/>
            </a:xfrm>
            <a:prstGeom prst="rect">
              <a:avLst/>
            </a:prstGeom>
            <a:grpFill/>
          </p:spPr>
        </p:pic>
      </p:grpSp>
      <p:grpSp>
        <p:nvGrpSpPr>
          <p:cNvPr id="10" name="object 10"/>
          <p:cNvGrpSpPr/>
          <p:nvPr/>
        </p:nvGrpSpPr>
        <p:grpSpPr>
          <a:xfrm>
            <a:off x="677070" y="6686323"/>
            <a:ext cx="218440" cy="360045"/>
            <a:chOff x="790338" y="6873513"/>
            <a:chExt cx="218440" cy="360045"/>
          </a:xfrm>
          <a:solidFill>
            <a:srgbClr val="A8CF45"/>
          </a:solidFill>
        </p:grpSpPr>
        <p:sp>
          <p:nvSpPr>
            <p:cNvPr id="11" name="object 11"/>
            <p:cNvSpPr/>
            <p:nvPr/>
          </p:nvSpPr>
          <p:spPr>
            <a:xfrm>
              <a:off x="799262" y="6873513"/>
              <a:ext cx="208915" cy="360045"/>
            </a:xfrm>
            <a:custGeom>
              <a:avLst/>
              <a:gdLst/>
              <a:ahLst/>
              <a:cxnLst/>
              <a:rect l="l" t="t" r="r" b="b"/>
              <a:pathLst>
                <a:path w="208915" h="360045">
                  <a:moveTo>
                    <a:pt x="35861" y="359800"/>
                  </a:moveTo>
                  <a:lnTo>
                    <a:pt x="22366" y="357174"/>
                  </a:lnTo>
                  <a:lnTo>
                    <a:pt x="10503" y="349296"/>
                  </a:lnTo>
                  <a:lnTo>
                    <a:pt x="2628" y="337436"/>
                  </a:lnTo>
                  <a:lnTo>
                    <a:pt x="6" y="323947"/>
                  </a:lnTo>
                  <a:lnTo>
                    <a:pt x="2633" y="310458"/>
                  </a:lnTo>
                  <a:lnTo>
                    <a:pt x="10503" y="298598"/>
                  </a:lnTo>
                  <a:lnTo>
                    <a:pt x="110528" y="198556"/>
                  </a:lnTo>
                  <a:lnTo>
                    <a:pt x="116320" y="189830"/>
                  </a:lnTo>
                  <a:lnTo>
                    <a:pt x="118251" y="179900"/>
                  </a:lnTo>
                  <a:lnTo>
                    <a:pt x="116320" y="169970"/>
                  </a:lnTo>
                  <a:lnTo>
                    <a:pt x="110528" y="161244"/>
                  </a:lnTo>
                  <a:lnTo>
                    <a:pt x="10503" y="61202"/>
                  </a:lnTo>
                  <a:lnTo>
                    <a:pt x="2625" y="49341"/>
                  </a:lnTo>
                  <a:lnTo>
                    <a:pt x="0" y="35853"/>
                  </a:lnTo>
                  <a:lnTo>
                    <a:pt x="2625" y="22364"/>
                  </a:lnTo>
                  <a:lnTo>
                    <a:pt x="10503" y="10503"/>
                  </a:lnTo>
                  <a:lnTo>
                    <a:pt x="22366" y="2625"/>
                  </a:lnTo>
                  <a:lnTo>
                    <a:pt x="35861" y="0"/>
                  </a:lnTo>
                  <a:lnTo>
                    <a:pt x="49356" y="2625"/>
                  </a:lnTo>
                  <a:lnTo>
                    <a:pt x="61219" y="10503"/>
                  </a:lnTo>
                  <a:lnTo>
                    <a:pt x="193561" y="142845"/>
                  </a:lnTo>
                  <a:lnTo>
                    <a:pt x="205079" y="160155"/>
                  </a:lnTo>
                  <a:lnTo>
                    <a:pt x="208918" y="179883"/>
                  </a:lnTo>
                  <a:lnTo>
                    <a:pt x="205079" y="199611"/>
                  </a:lnTo>
                  <a:lnTo>
                    <a:pt x="193561" y="216954"/>
                  </a:lnTo>
                  <a:lnTo>
                    <a:pt x="61219" y="349296"/>
                  </a:lnTo>
                  <a:lnTo>
                    <a:pt x="49356" y="357174"/>
                  </a:lnTo>
                  <a:lnTo>
                    <a:pt x="35861" y="35980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0338" y="6974557"/>
              <a:ext cx="101843" cy="157669"/>
            </a:xfrm>
            <a:prstGeom prst="rect">
              <a:avLst/>
            </a:prstGeom>
            <a:grpFill/>
          </p:spPr>
        </p:pic>
      </p:grpSp>
      <p:grpSp>
        <p:nvGrpSpPr>
          <p:cNvPr id="13" name="object 13"/>
          <p:cNvGrpSpPr/>
          <p:nvPr/>
        </p:nvGrpSpPr>
        <p:grpSpPr>
          <a:xfrm>
            <a:off x="677070" y="5804582"/>
            <a:ext cx="218440" cy="360045"/>
            <a:chOff x="790338" y="6109382"/>
            <a:chExt cx="218440" cy="360045"/>
          </a:xfrm>
          <a:solidFill>
            <a:srgbClr val="A8CF45"/>
          </a:solidFill>
        </p:grpSpPr>
        <p:sp>
          <p:nvSpPr>
            <p:cNvPr id="14" name="object 14"/>
            <p:cNvSpPr/>
            <p:nvPr/>
          </p:nvSpPr>
          <p:spPr>
            <a:xfrm>
              <a:off x="799262" y="6109382"/>
              <a:ext cx="208915" cy="360045"/>
            </a:xfrm>
            <a:custGeom>
              <a:avLst/>
              <a:gdLst/>
              <a:ahLst/>
              <a:cxnLst/>
              <a:rect l="l" t="t" r="r" b="b"/>
              <a:pathLst>
                <a:path w="208915" h="360045">
                  <a:moveTo>
                    <a:pt x="35861" y="359800"/>
                  </a:moveTo>
                  <a:lnTo>
                    <a:pt x="22366" y="357174"/>
                  </a:lnTo>
                  <a:lnTo>
                    <a:pt x="10503" y="349296"/>
                  </a:lnTo>
                  <a:lnTo>
                    <a:pt x="2628" y="337436"/>
                  </a:lnTo>
                  <a:lnTo>
                    <a:pt x="6" y="323947"/>
                  </a:lnTo>
                  <a:lnTo>
                    <a:pt x="2633" y="310458"/>
                  </a:lnTo>
                  <a:lnTo>
                    <a:pt x="10503" y="298598"/>
                  </a:lnTo>
                  <a:lnTo>
                    <a:pt x="110528" y="198556"/>
                  </a:lnTo>
                  <a:lnTo>
                    <a:pt x="116320" y="189830"/>
                  </a:lnTo>
                  <a:lnTo>
                    <a:pt x="118251" y="179900"/>
                  </a:lnTo>
                  <a:lnTo>
                    <a:pt x="116320" y="169970"/>
                  </a:lnTo>
                  <a:lnTo>
                    <a:pt x="110528" y="161244"/>
                  </a:lnTo>
                  <a:lnTo>
                    <a:pt x="10503" y="61202"/>
                  </a:lnTo>
                  <a:lnTo>
                    <a:pt x="2625" y="49341"/>
                  </a:lnTo>
                  <a:lnTo>
                    <a:pt x="0" y="35853"/>
                  </a:lnTo>
                  <a:lnTo>
                    <a:pt x="2625" y="22364"/>
                  </a:lnTo>
                  <a:lnTo>
                    <a:pt x="10503" y="10503"/>
                  </a:lnTo>
                  <a:lnTo>
                    <a:pt x="22366" y="2625"/>
                  </a:lnTo>
                  <a:lnTo>
                    <a:pt x="35861" y="0"/>
                  </a:lnTo>
                  <a:lnTo>
                    <a:pt x="49356" y="2625"/>
                  </a:lnTo>
                  <a:lnTo>
                    <a:pt x="61219" y="10503"/>
                  </a:lnTo>
                  <a:lnTo>
                    <a:pt x="193561" y="142845"/>
                  </a:lnTo>
                  <a:lnTo>
                    <a:pt x="205079" y="160155"/>
                  </a:lnTo>
                  <a:lnTo>
                    <a:pt x="208918" y="179883"/>
                  </a:lnTo>
                  <a:lnTo>
                    <a:pt x="205079" y="199611"/>
                  </a:lnTo>
                  <a:lnTo>
                    <a:pt x="193561" y="216954"/>
                  </a:lnTo>
                  <a:lnTo>
                    <a:pt x="61219" y="349296"/>
                  </a:lnTo>
                  <a:lnTo>
                    <a:pt x="49356" y="357174"/>
                  </a:lnTo>
                  <a:lnTo>
                    <a:pt x="35861" y="35980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0338" y="6210425"/>
              <a:ext cx="101843" cy="157669"/>
            </a:xfrm>
            <a:prstGeom prst="rect">
              <a:avLst/>
            </a:prstGeom>
            <a:grpFill/>
          </p:spPr>
        </p:pic>
      </p:grpSp>
      <p:sp>
        <p:nvSpPr>
          <p:cNvPr id="17" name="object 17"/>
          <p:cNvSpPr txBox="1"/>
          <p:nvPr/>
        </p:nvSpPr>
        <p:spPr>
          <a:xfrm>
            <a:off x="12705080" y="3695700"/>
            <a:ext cx="4820920" cy="4540345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64769" marR="57785" indent="-635" algn="ctr">
              <a:spcBef>
                <a:spcPts val="1345"/>
              </a:spcBef>
            </a:pPr>
            <a:r>
              <a:rPr sz="4400" b="1" spc="345" dirty="0">
                <a:solidFill>
                  <a:srgbClr val="A8CF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QWORK</a:t>
            </a:r>
            <a:r>
              <a:rPr sz="4400" b="1" spc="-46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b="1" spc="1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não</a:t>
            </a:r>
            <a:r>
              <a:rPr sz="4400" b="1" spc="-46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 </a:t>
            </a:r>
            <a:r>
              <a:rPr sz="4400" b="1" spc="9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</a:t>
            </a:r>
            <a:r>
              <a:rPr sz="4400" b="1" spc="-47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b="1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questionário.</a:t>
            </a:r>
            <a:endParaRPr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7314" marR="99695" algn="ctr">
              <a:spcBef>
                <a:spcPts val="4345"/>
              </a:spcBef>
            </a:pPr>
            <a:r>
              <a:rPr sz="4000" spc="26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sz="4000" spc="-45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spc="-5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4000" spc="-44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ferramenta </a:t>
            </a:r>
            <a:r>
              <a:rPr sz="4000" spc="-3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</a:t>
            </a:r>
            <a:r>
              <a:rPr sz="4000" spc="-37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cumprir</a:t>
            </a:r>
            <a:r>
              <a:rPr sz="4000" spc="-37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spc="-5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sz="4000" b="1" spc="210" dirty="0">
                <a:solidFill>
                  <a:srgbClr val="A8CF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NR-</a:t>
            </a:r>
            <a:r>
              <a:rPr sz="4000" b="1" spc="-1195" dirty="0">
                <a:solidFill>
                  <a:srgbClr val="A8CF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sz="4000" b="1" spc="-445" dirty="0">
                <a:solidFill>
                  <a:srgbClr val="A8CF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4000" b="1" spc="-445" dirty="0">
                <a:solidFill>
                  <a:srgbClr val="A8CF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spc="12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 </a:t>
            </a:r>
            <a:r>
              <a:rPr sz="4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método,</a:t>
            </a:r>
            <a:r>
              <a:rPr sz="4000" spc="-35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clareza</a:t>
            </a:r>
            <a:r>
              <a:rPr sz="4000" spc="-35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spc="12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sz="4000" b="1" dirty="0">
                <a:solidFill>
                  <a:srgbClr val="A8CF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segurança</a:t>
            </a:r>
            <a:r>
              <a:rPr sz="4000" b="1" spc="-235" dirty="0">
                <a:solidFill>
                  <a:srgbClr val="A8CF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b="1" spc="-70" dirty="0">
                <a:solidFill>
                  <a:srgbClr val="A8CF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jurídica</a:t>
            </a:r>
            <a:r>
              <a:rPr sz="4000" spc="-7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object 3">
            <a:extLst>
              <a:ext uri="{FF2B5EF4-FFF2-40B4-BE49-F238E27FC236}">
                <a16:creationId xmlns:a16="http://schemas.microsoft.com/office/drawing/2014/main" id="{E8EC1D6C-97F2-41F1-1F6E-D70DDD644FBA}"/>
              </a:ext>
            </a:extLst>
          </p:cNvPr>
          <p:cNvSpPr txBox="1"/>
          <p:nvPr/>
        </p:nvSpPr>
        <p:spPr>
          <a:xfrm>
            <a:off x="701369" y="3217138"/>
            <a:ext cx="11947831" cy="67563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30"/>
              </a:spcBef>
            </a:pPr>
            <a:r>
              <a:rPr sz="3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 o </a:t>
            </a:r>
            <a:r>
              <a:rPr sz="3200" b="1" dirty="0">
                <a:solidFill>
                  <a:srgbClr val="A8CF45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QWORK</a:t>
            </a:r>
            <a:r>
              <a:rPr sz="3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sua empresa </a:t>
            </a:r>
            <a:r>
              <a:rPr sz="32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ganha</a:t>
            </a:r>
            <a:r>
              <a:rPr sz="3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E8C06417-1AD6-18E9-19F2-8EE63F5FAFF6}"/>
              </a:ext>
            </a:extLst>
          </p:cNvPr>
          <p:cNvSpPr txBox="1"/>
          <p:nvPr/>
        </p:nvSpPr>
        <p:spPr>
          <a:xfrm>
            <a:off x="1211590" y="5573404"/>
            <a:ext cx="10475362" cy="66409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30"/>
              </a:spcBef>
            </a:pPr>
            <a:r>
              <a:rPr lang="pt-BR" sz="3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Padronização do processo avaliativo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object 3">
            <a:extLst>
              <a:ext uri="{FF2B5EF4-FFF2-40B4-BE49-F238E27FC236}">
                <a16:creationId xmlns:a16="http://schemas.microsoft.com/office/drawing/2014/main" id="{065B3AEA-172B-8E51-595E-11D9C89B7BEB}"/>
              </a:ext>
            </a:extLst>
          </p:cNvPr>
          <p:cNvSpPr txBox="1"/>
          <p:nvPr/>
        </p:nvSpPr>
        <p:spPr>
          <a:xfrm>
            <a:off x="1200810" y="6479943"/>
            <a:ext cx="10475362" cy="66409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30"/>
              </a:spcBef>
            </a:pPr>
            <a:r>
              <a:rPr lang="pt-BR" sz="3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Apoio ao RH, SESMT e Jurídico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object 3">
            <a:extLst>
              <a:ext uri="{FF2B5EF4-FFF2-40B4-BE49-F238E27FC236}">
                <a16:creationId xmlns:a16="http://schemas.microsoft.com/office/drawing/2014/main" id="{9AE8FBD5-7E23-F649-EE50-BA42AD1DD39C}"/>
              </a:ext>
            </a:extLst>
          </p:cNvPr>
          <p:cNvSpPr txBox="1"/>
          <p:nvPr/>
        </p:nvSpPr>
        <p:spPr>
          <a:xfrm>
            <a:off x="1190030" y="7384798"/>
            <a:ext cx="10475362" cy="66409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30"/>
              </a:spcBef>
            </a:pPr>
            <a:r>
              <a:rPr lang="pt-BR" sz="3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Evidência técnica para auditorias e fiscalizações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6FEDEE25-94D0-9E52-E6FE-129E9822E14F}"/>
              </a:ext>
            </a:extLst>
          </p:cNvPr>
          <p:cNvCxnSpPr/>
          <p:nvPr/>
        </p:nvCxnSpPr>
        <p:spPr>
          <a:xfrm>
            <a:off x="11963400" y="1028700"/>
            <a:ext cx="0" cy="73914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5A1A8317-7CDE-2381-4CD4-BD6EF8BE2E5E}"/>
              </a:ext>
            </a:extLst>
          </p:cNvPr>
          <p:cNvCxnSpPr/>
          <p:nvPr/>
        </p:nvCxnSpPr>
        <p:spPr>
          <a:xfrm>
            <a:off x="1222370" y="5573404"/>
            <a:ext cx="8988430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5FFB4038-C9C3-A3B1-DEBF-F42B260FA9EF}"/>
              </a:ext>
            </a:extLst>
          </p:cNvPr>
          <p:cNvCxnSpPr/>
          <p:nvPr/>
        </p:nvCxnSpPr>
        <p:spPr>
          <a:xfrm>
            <a:off x="1219200" y="6452548"/>
            <a:ext cx="8988430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361DEF22-8558-4CCB-2A64-56A25B9C3227}"/>
              </a:ext>
            </a:extLst>
          </p:cNvPr>
          <p:cNvCxnSpPr/>
          <p:nvPr/>
        </p:nvCxnSpPr>
        <p:spPr>
          <a:xfrm>
            <a:off x="1216030" y="7331692"/>
            <a:ext cx="8988430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3CAB3828-2D0F-41CA-FD4C-D3D8CFD27554}"/>
              </a:ext>
            </a:extLst>
          </p:cNvPr>
          <p:cNvCxnSpPr>
            <a:cxnSpLocks/>
          </p:cNvCxnSpPr>
          <p:nvPr/>
        </p:nvCxnSpPr>
        <p:spPr>
          <a:xfrm>
            <a:off x="13944600" y="5492845"/>
            <a:ext cx="235269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32" name="Gráfico 31" descr="Escudo com marca de verificação estrutura de tópicos">
            <a:extLst>
              <a:ext uri="{FF2B5EF4-FFF2-40B4-BE49-F238E27FC236}">
                <a16:creationId xmlns:a16="http://schemas.microsoft.com/office/drawing/2014/main" id="{39687B4D-E8E5-F3F2-EAE6-AF932453D7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563600" y="647700"/>
            <a:ext cx="3079655" cy="3079655"/>
          </a:xfrm>
          <a:prstGeom prst="rect">
            <a:avLst/>
          </a:prstGeom>
        </p:spPr>
      </p:pic>
      <p:sp>
        <p:nvSpPr>
          <p:cNvPr id="33" name="Retângulo 32">
            <a:extLst>
              <a:ext uri="{FF2B5EF4-FFF2-40B4-BE49-F238E27FC236}">
                <a16:creationId xmlns:a16="http://schemas.microsoft.com/office/drawing/2014/main" id="{1090F986-2B12-5555-2094-10031C1B1607}"/>
              </a:ext>
            </a:extLst>
          </p:cNvPr>
          <p:cNvSpPr/>
          <p:nvPr/>
        </p:nvSpPr>
        <p:spPr>
          <a:xfrm>
            <a:off x="0" y="9182100"/>
            <a:ext cx="18288000" cy="110489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A8CF45"/>
              </a:solidFill>
            </a:endParaRPr>
          </a:p>
        </p:txBody>
      </p:sp>
      <p:sp>
        <p:nvSpPr>
          <p:cNvPr id="34" name="object 3">
            <a:extLst>
              <a:ext uri="{FF2B5EF4-FFF2-40B4-BE49-F238E27FC236}">
                <a16:creationId xmlns:a16="http://schemas.microsoft.com/office/drawing/2014/main" id="{7E89F17D-8D1F-6C1B-4BED-D76E965DA237}"/>
              </a:ext>
            </a:extLst>
          </p:cNvPr>
          <p:cNvSpPr txBox="1"/>
          <p:nvPr/>
        </p:nvSpPr>
        <p:spPr>
          <a:xfrm>
            <a:off x="0" y="9258300"/>
            <a:ext cx="18288000" cy="67563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130"/>
              </a:spcBef>
            </a:pPr>
            <a:r>
              <a:rPr lang="pt-B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Mais </a:t>
            </a:r>
            <a:r>
              <a:rPr lang="pt-BR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conformidade</a:t>
            </a:r>
            <a:r>
              <a:rPr lang="pt-B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Mais </a:t>
            </a:r>
            <a:r>
              <a:rPr lang="pt-BR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segurança</a:t>
            </a:r>
            <a:r>
              <a:rPr lang="pt-B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Menos </a:t>
            </a:r>
            <a:r>
              <a:rPr lang="pt-BR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riscos</a:t>
            </a:r>
            <a:r>
              <a:rPr lang="pt-B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sua empresa.</a:t>
            </a:r>
            <a:endParaRPr sz="3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FD6F4-17E9-5A1E-1BCF-3111D9466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AB20593F-C29F-DA7C-6419-DFCB6DF233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8287998" cy="10280154"/>
          </a:xfrm>
          <a:prstGeom prst="rect">
            <a:avLst/>
          </a:prstGeom>
        </p:spPr>
      </p:pic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76BC117B-0C58-EFD8-1F7B-500710ABF3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00800" y="4529768"/>
            <a:ext cx="11887199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pt-BR" sz="4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(41) 00000-0000</a:t>
            </a:r>
            <a:br>
              <a:rPr lang="pt-BR" sz="4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4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comercial@nexo7.com.br</a:t>
            </a:r>
            <a:endParaRPr sz="4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bg object 18">
            <a:extLst>
              <a:ext uri="{FF2B5EF4-FFF2-40B4-BE49-F238E27FC236}">
                <a16:creationId xmlns:a16="http://schemas.microsoft.com/office/drawing/2014/main" id="{0C2BA88C-05FF-1B4E-75B2-F5657AF0CF5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00600" y="1333500"/>
            <a:ext cx="8153987" cy="1981199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3D97F9F4-4ACF-EEAB-A0C5-92A0521694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429" b="35333"/>
          <a:stretch>
            <a:fillRect/>
          </a:stretch>
        </p:blipFill>
        <p:spPr>
          <a:xfrm>
            <a:off x="1676399" y="7079676"/>
            <a:ext cx="14935200" cy="2712024"/>
          </a:xfrm>
          <a:prstGeom prst="rect">
            <a:avLst/>
          </a:prstGeom>
        </p:spPr>
      </p:pic>
      <p:sp>
        <p:nvSpPr>
          <p:cNvPr id="7" name="bg object 19">
            <a:extLst>
              <a:ext uri="{FF2B5EF4-FFF2-40B4-BE49-F238E27FC236}">
                <a16:creationId xmlns:a16="http://schemas.microsoft.com/office/drawing/2014/main" id="{36AF0346-8AB2-E606-FB22-E55670D09810}"/>
              </a:ext>
            </a:extLst>
          </p:cNvPr>
          <p:cNvSpPr/>
          <p:nvPr/>
        </p:nvSpPr>
        <p:spPr>
          <a:xfrm>
            <a:off x="5562600" y="4600513"/>
            <a:ext cx="630555" cy="1225550"/>
          </a:xfrm>
          <a:custGeom>
            <a:avLst/>
            <a:gdLst/>
            <a:ahLst/>
            <a:cxnLst/>
            <a:rect l="l" t="t" r="r" b="b"/>
            <a:pathLst>
              <a:path w="630554" h="1225550">
                <a:moveTo>
                  <a:pt x="475361" y="393039"/>
                </a:moveTo>
                <a:lnTo>
                  <a:pt x="474332" y="388404"/>
                </a:lnTo>
                <a:lnTo>
                  <a:pt x="472351" y="385127"/>
                </a:lnTo>
                <a:lnTo>
                  <a:pt x="467131" y="383184"/>
                </a:lnTo>
                <a:lnTo>
                  <a:pt x="459308" y="379234"/>
                </a:lnTo>
                <a:lnTo>
                  <a:pt x="459143" y="379234"/>
                </a:lnTo>
                <a:lnTo>
                  <a:pt x="432269" y="366077"/>
                </a:lnTo>
                <a:lnTo>
                  <a:pt x="416026" y="358355"/>
                </a:lnTo>
                <a:lnTo>
                  <a:pt x="405726" y="353822"/>
                </a:lnTo>
                <a:lnTo>
                  <a:pt x="398526" y="351193"/>
                </a:lnTo>
                <a:lnTo>
                  <a:pt x="393331" y="349910"/>
                </a:lnTo>
                <a:lnTo>
                  <a:pt x="388112" y="357733"/>
                </a:lnTo>
                <a:lnTo>
                  <a:pt x="382663" y="365125"/>
                </a:lnTo>
                <a:lnTo>
                  <a:pt x="354152" y="394360"/>
                </a:lnTo>
                <a:lnTo>
                  <a:pt x="346290" y="390410"/>
                </a:lnTo>
                <a:lnTo>
                  <a:pt x="337362" y="386435"/>
                </a:lnTo>
                <a:lnTo>
                  <a:pt x="283260" y="351510"/>
                </a:lnTo>
                <a:lnTo>
                  <a:pt x="254444" y="319519"/>
                </a:lnTo>
                <a:lnTo>
                  <a:pt x="235102" y="289356"/>
                </a:lnTo>
                <a:lnTo>
                  <a:pt x="239204" y="285127"/>
                </a:lnTo>
                <a:lnTo>
                  <a:pt x="246621" y="277710"/>
                </a:lnTo>
                <a:lnTo>
                  <a:pt x="250939" y="272046"/>
                </a:lnTo>
                <a:lnTo>
                  <a:pt x="258787" y="262915"/>
                </a:lnTo>
                <a:lnTo>
                  <a:pt x="260108" y="259626"/>
                </a:lnTo>
                <a:lnTo>
                  <a:pt x="262699" y="254393"/>
                </a:lnTo>
                <a:lnTo>
                  <a:pt x="265328" y="249174"/>
                </a:lnTo>
                <a:lnTo>
                  <a:pt x="264020" y="244602"/>
                </a:lnTo>
                <a:lnTo>
                  <a:pt x="262051" y="240665"/>
                </a:lnTo>
                <a:lnTo>
                  <a:pt x="258356" y="232130"/>
                </a:lnTo>
                <a:lnTo>
                  <a:pt x="251675" y="215988"/>
                </a:lnTo>
                <a:lnTo>
                  <a:pt x="244144" y="197637"/>
                </a:lnTo>
                <a:lnTo>
                  <a:pt x="237883" y="182486"/>
                </a:lnTo>
                <a:lnTo>
                  <a:pt x="232359" y="169202"/>
                </a:lnTo>
                <a:lnTo>
                  <a:pt x="231533" y="167208"/>
                </a:lnTo>
                <a:lnTo>
                  <a:pt x="225272" y="169202"/>
                </a:lnTo>
                <a:lnTo>
                  <a:pt x="223672" y="169202"/>
                </a:lnTo>
                <a:lnTo>
                  <a:pt x="214452" y="168744"/>
                </a:lnTo>
                <a:lnTo>
                  <a:pt x="200012" y="168744"/>
                </a:lnTo>
                <a:lnTo>
                  <a:pt x="167932" y="199707"/>
                </a:lnTo>
                <a:lnTo>
                  <a:pt x="156921" y="243916"/>
                </a:lnTo>
                <a:lnTo>
                  <a:pt x="157035" y="244602"/>
                </a:lnTo>
                <a:lnTo>
                  <a:pt x="161366" y="272046"/>
                </a:lnTo>
                <a:lnTo>
                  <a:pt x="182270" y="315531"/>
                </a:lnTo>
                <a:lnTo>
                  <a:pt x="227863" y="373392"/>
                </a:lnTo>
                <a:lnTo>
                  <a:pt x="269290" y="411251"/>
                </a:lnTo>
                <a:lnTo>
                  <a:pt x="322821" y="443331"/>
                </a:lnTo>
                <a:lnTo>
                  <a:pt x="367512" y="459854"/>
                </a:lnTo>
                <a:lnTo>
                  <a:pt x="394169" y="464413"/>
                </a:lnTo>
                <a:lnTo>
                  <a:pt x="406107" y="464172"/>
                </a:lnTo>
                <a:lnTo>
                  <a:pt x="446506" y="450342"/>
                </a:lnTo>
                <a:lnTo>
                  <a:pt x="473506" y="412597"/>
                </a:lnTo>
                <a:lnTo>
                  <a:pt x="475348" y="394360"/>
                </a:lnTo>
                <a:lnTo>
                  <a:pt x="475361" y="393039"/>
                </a:lnTo>
                <a:close/>
              </a:path>
              <a:path w="630554" h="1225550">
                <a:moveTo>
                  <a:pt x="629881" y="313613"/>
                </a:moveTo>
                <a:lnTo>
                  <a:pt x="626046" y="264299"/>
                </a:lnTo>
                <a:lnTo>
                  <a:pt x="614654" y="216636"/>
                </a:lnTo>
                <a:lnTo>
                  <a:pt x="596011" y="171564"/>
                </a:lnTo>
                <a:lnTo>
                  <a:pt x="576948" y="140462"/>
                </a:lnTo>
                <a:lnTo>
                  <a:pt x="576948" y="313829"/>
                </a:lnTo>
                <a:lnTo>
                  <a:pt x="572719" y="360629"/>
                </a:lnTo>
                <a:lnTo>
                  <a:pt x="560578" y="404698"/>
                </a:lnTo>
                <a:lnTo>
                  <a:pt x="541261" y="445300"/>
                </a:lnTo>
                <a:lnTo>
                  <a:pt x="515505" y="481698"/>
                </a:lnTo>
                <a:lnTo>
                  <a:pt x="484073" y="513130"/>
                </a:lnTo>
                <a:lnTo>
                  <a:pt x="447687" y="538886"/>
                </a:lnTo>
                <a:lnTo>
                  <a:pt x="407085" y="558190"/>
                </a:lnTo>
                <a:lnTo>
                  <a:pt x="363029" y="570318"/>
                </a:lnTo>
                <a:lnTo>
                  <a:pt x="316280" y="574522"/>
                </a:lnTo>
                <a:lnTo>
                  <a:pt x="247319" y="565264"/>
                </a:lnTo>
                <a:lnTo>
                  <a:pt x="183489" y="538187"/>
                </a:lnTo>
                <a:lnTo>
                  <a:pt x="173977" y="532523"/>
                </a:lnTo>
                <a:lnTo>
                  <a:pt x="75298" y="558406"/>
                </a:lnTo>
                <a:lnTo>
                  <a:pt x="75361" y="558190"/>
                </a:lnTo>
                <a:lnTo>
                  <a:pt x="101625" y="462203"/>
                </a:lnTo>
                <a:lnTo>
                  <a:pt x="95427" y="452348"/>
                </a:lnTo>
                <a:lnTo>
                  <a:pt x="78181" y="420090"/>
                </a:lnTo>
                <a:lnTo>
                  <a:pt x="65709" y="385889"/>
                </a:lnTo>
                <a:lnTo>
                  <a:pt x="58127" y="350240"/>
                </a:lnTo>
                <a:lnTo>
                  <a:pt x="58102" y="349910"/>
                </a:lnTo>
                <a:lnTo>
                  <a:pt x="55587" y="313613"/>
                </a:lnTo>
                <a:lnTo>
                  <a:pt x="59817" y="266827"/>
                </a:lnTo>
                <a:lnTo>
                  <a:pt x="71958" y="222758"/>
                </a:lnTo>
                <a:lnTo>
                  <a:pt x="91274" y="182156"/>
                </a:lnTo>
                <a:lnTo>
                  <a:pt x="117030" y="145770"/>
                </a:lnTo>
                <a:lnTo>
                  <a:pt x="148475" y="114338"/>
                </a:lnTo>
                <a:lnTo>
                  <a:pt x="184873" y="88595"/>
                </a:lnTo>
                <a:lnTo>
                  <a:pt x="225488" y="69278"/>
                </a:lnTo>
                <a:lnTo>
                  <a:pt x="269570" y="57150"/>
                </a:lnTo>
                <a:lnTo>
                  <a:pt x="316382" y="52946"/>
                </a:lnTo>
                <a:lnTo>
                  <a:pt x="367626" y="57962"/>
                </a:lnTo>
                <a:lnTo>
                  <a:pt x="416179" y="72694"/>
                </a:lnTo>
                <a:lnTo>
                  <a:pt x="460908" y="96659"/>
                </a:lnTo>
                <a:lnTo>
                  <a:pt x="500684" y="129400"/>
                </a:lnTo>
                <a:lnTo>
                  <a:pt x="533374" y="169202"/>
                </a:lnTo>
                <a:lnTo>
                  <a:pt x="557288" y="213969"/>
                </a:lnTo>
                <a:lnTo>
                  <a:pt x="571969" y="262547"/>
                </a:lnTo>
                <a:lnTo>
                  <a:pt x="576948" y="313829"/>
                </a:lnTo>
                <a:lnTo>
                  <a:pt x="576948" y="140462"/>
                </a:lnTo>
                <a:lnTo>
                  <a:pt x="542137" y="96659"/>
                </a:lnTo>
                <a:lnTo>
                  <a:pt x="500380" y="59639"/>
                </a:lnTo>
                <a:lnTo>
                  <a:pt x="489483" y="52946"/>
                </a:lnTo>
                <a:lnTo>
                  <a:pt x="458635" y="33985"/>
                </a:lnTo>
                <a:lnTo>
                  <a:pt x="413575" y="15303"/>
                </a:lnTo>
                <a:lnTo>
                  <a:pt x="365887" y="3873"/>
                </a:lnTo>
                <a:lnTo>
                  <a:pt x="316280" y="0"/>
                </a:lnTo>
                <a:lnTo>
                  <a:pt x="270014" y="3403"/>
                </a:lnTo>
                <a:lnTo>
                  <a:pt x="225831" y="13296"/>
                </a:lnTo>
                <a:lnTo>
                  <a:pt x="184213" y="29184"/>
                </a:lnTo>
                <a:lnTo>
                  <a:pt x="145669" y="50584"/>
                </a:lnTo>
                <a:lnTo>
                  <a:pt x="110667" y="77012"/>
                </a:lnTo>
                <a:lnTo>
                  <a:pt x="79705" y="107962"/>
                </a:lnTo>
                <a:lnTo>
                  <a:pt x="53276" y="142963"/>
                </a:lnTo>
                <a:lnTo>
                  <a:pt x="31864" y="181508"/>
                </a:lnTo>
                <a:lnTo>
                  <a:pt x="15963" y="223126"/>
                </a:lnTo>
                <a:lnTo>
                  <a:pt x="6057" y="267322"/>
                </a:lnTo>
                <a:lnTo>
                  <a:pt x="2628" y="313613"/>
                </a:lnTo>
                <a:lnTo>
                  <a:pt x="2755" y="315531"/>
                </a:lnTo>
                <a:lnTo>
                  <a:pt x="5321" y="354736"/>
                </a:lnTo>
                <a:lnTo>
                  <a:pt x="13284" y="394906"/>
                </a:lnTo>
                <a:lnTo>
                  <a:pt x="26390" y="433616"/>
                </a:lnTo>
                <a:lnTo>
                  <a:pt x="44513" y="470408"/>
                </a:lnTo>
                <a:lnTo>
                  <a:pt x="0" y="632929"/>
                </a:lnTo>
                <a:lnTo>
                  <a:pt x="166281" y="589292"/>
                </a:lnTo>
                <a:lnTo>
                  <a:pt x="201650" y="605802"/>
                </a:lnTo>
                <a:lnTo>
                  <a:pt x="238721" y="617753"/>
                </a:lnTo>
                <a:lnTo>
                  <a:pt x="277037" y="625017"/>
                </a:lnTo>
                <a:lnTo>
                  <a:pt x="316153" y="627481"/>
                </a:lnTo>
                <a:lnTo>
                  <a:pt x="362546" y="624078"/>
                </a:lnTo>
                <a:lnTo>
                  <a:pt x="406730" y="614172"/>
                </a:lnTo>
                <a:lnTo>
                  <a:pt x="448335" y="598284"/>
                </a:lnTo>
                <a:lnTo>
                  <a:pt x="464515" y="589292"/>
                </a:lnTo>
                <a:lnTo>
                  <a:pt x="486879" y="576884"/>
                </a:lnTo>
                <a:lnTo>
                  <a:pt x="490004" y="574522"/>
                </a:lnTo>
                <a:lnTo>
                  <a:pt x="521881" y="550456"/>
                </a:lnTo>
                <a:lnTo>
                  <a:pt x="552843" y="519493"/>
                </a:lnTo>
                <a:lnTo>
                  <a:pt x="579272" y="484505"/>
                </a:lnTo>
                <a:lnTo>
                  <a:pt x="600684" y="445947"/>
                </a:lnTo>
                <a:lnTo>
                  <a:pt x="616585" y="404329"/>
                </a:lnTo>
                <a:lnTo>
                  <a:pt x="626491" y="360133"/>
                </a:lnTo>
                <a:lnTo>
                  <a:pt x="629780" y="315531"/>
                </a:lnTo>
                <a:lnTo>
                  <a:pt x="629881" y="313613"/>
                </a:lnTo>
                <a:close/>
              </a:path>
              <a:path w="630554" h="1225550">
                <a:moveTo>
                  <a:pt x="629996" y="831405"/>
                </a:moveTo>
                <a:lnTo>
                  <a:pt x="628853" y="828243"/>
                </a:lnTo>
                <a:lnTo>
                  <a:pt x="622630" y="811009"/>
                </a:lnTo>
                <a:lnTo>
                  <a:pt x="621995" y="809244"/>
                </a:lnTo>
                <a:lnTo>
                  <a:pt x="607237" y="791527"/>
                </a:lnTo>
                <a:lnTo>
                  <a:pt x="596252" y="785075"/>
                </a:lnTo>
                <a:lnTo>
                  <a:pt x="596252" y="828243"/>
                </a:lnTo>
                <a:lnTo>
                  <a:pt x="596252" y="1155547"/>
                </a:lnTo>
                <a:lnTo>
                  <a:pt x="594931" y="1168603"/>
                </a:lnTo>
                <a:lnTo>
                  <a:pt x="590981" y="1178598"/>
                </a:lnTo>
                <a:lnTo>
                  <a:pt x="584415" y="1185659"/>
                </a:lnTo>
                <a:lnTo>
                  <a:pt x="575157" y="1189990"/>
                </a:lnTo>
                <a:lnTo>
                  <a:pt x="529463" y="1144206"/>
                </a:lnTo>
                <a:lnTo>
                  <a:pt x="529463" y="1191742"/>
                </a:lnTo>
                <a:lnTo>
                  <a:pt x="99161" y="1191742"/>
                </a:lnTo>
                <a:lnTo>
                  <a:pt x="101269" y="1189634"/>
                </a:lnTo>
                <a:lnTo>
                  <a:pt x="249618" y="1041285"/>
                </a:lnTo>
                <a:lnTo>
                  <a:pt x="312737" y="1104747"/>
                </a:lnTo>
                <a:lnTo>
                  <a:pt x="319747" y="1104747"/>
                </a:lnTo>
                <a:lnTo>
                  <a:pt x="367550" y="1056944"/>
                </a:lnTo>
                <a:lnTo>
                  <a:pt x="381101" y="1043381"/>
                </a:lnTo>
                <a:lnTo>
                  <a:pt x="529463" y="1191742"/>
                </a:lnTo>
                <a:lnTo>
                  <a:pt x="529463" y="1144206"/>
                </a:lnTo>
                <a:lnTo>
                  <a:pt x="428840" y="1043381"/>
                </a:lnTo>
                <a:lnTo>
                  <a:pt x="405003" y="1019492"/>
                </a:lnTo>
                <a:lnTo>
                  <a:pt x="596252" y="828243"/>
                </a:lnTo>
                <a:lnTo>
                  <a:pt x="596252" y="785075"/>
                </a:lnTo>
                <a:lnTo>
                  <a:pt x="587235" y="779767"/>
                </a:lnTo>
                <a:lnTo>
                  <a:pt x="565658" y="775893"/>
                </a:lnTo>
                <a:lnTo>
                  <a:pt x="565658" y="811009"/>
                </a:lnTo>
                <a:lnTo>
                  <a:pt x="319735" y="1056944"/>
                </a:lnTo>
                <a:lnTo>
                  <a:pt x="312724" y="1056944"/>
                </a:lnTo>
                <a:lnTo>
                  <a:pt x="297040" y="1041273"/>
                </a:lnTo>
                <a:lnTo>
                  <a:pt x="225717" y="970064"/>
                </a:lnTo>
                <a:lnTo>
                  <a:pt x="225717" y="1017727"/>
                </a:lnTo>
                <a:lnTo>
                  <a:pt x="53809" y="1189634"/>
                </a:lnTo>
                <a:lnTo>
                  <a:pt x="46355" y="1185659"/>
                </a:lnTo>
                <a:lnTo>
                  <a:pt x="41414" y="1179817"/>
                </a:lnTo>
                <a:lnTo>
                  <a:pt x="38633" y="1172286"/>
                </a:lnTo>
                <a:lnTo>
                  <a:pt x="37630" y="1163269"/>
                </a:lnTo>
                <a:lnTo>
                  <a:pt x="37630" y="829640"/>
                </a:lnTo>
                <a:lnTo>
                  <a:pt x="225717" y="1017727"/>
                </a:lnTo>
                <a:lnTo>
                  <a:pt x="225717" y="970064"/>
                </a:lnTo>
                <a:lnTo>
                  <a:pt x="85102" y="829640"/>
                </a:lnTo>
                <a:lnTo>
                  <a:pt x="66446" y="811009"/>
                </a:lnTo>
                <a:lnTo>
                  <a:pt x="565658" y="811009"/>
                </a:lnTo>
                <a:lnTo>
                  <a:pt x="565658" y="775893"/>
                </a:lnTo>
                <a:lnTo>
                  <a:pt x="563537" y="775512"/>
                </a:lnTo>
                <a:lnTo>
                  <a:pt x="67500" y="775512"/>
                </a:lnTo>
                <a:lnTo>
                  <a:pt x="41224" y="780808"/>
                </a:lnTo>
                <a:lnTo>
                  <a:pt x="19773" y="795261"/>
                </a:lnTo>
                <a:lnTo>
                  <a:pt x="5308" y="816711"/>
                </a:lnTo>
                <a:lnTo>
                  <a:pt x="0" y="843000"/>
                </a:lnTo>
                <a:lnTo>
                  <a:pt x="292" y="894638"/>
                </a:lnTo>
                <a:lnTo>
                  <a:pt x="177" y="1056944"/>
                </a:lnTo>
                <a:lnTo>
                  <a:pt x="63" y="1105560"/>
                </a:lnTo>
                <a:lnTo>
                  <a:pt x="0" y="1157998"/>
                </a:lnTo>
                <a:lnTo>
                  <a:pt x="4927" y="1183347"/>
                </a:lnTo>
                <a:lnTo>
                  <a:pt x="18389" y="1204239"/>
                </a:lnTo>
                <a:lnTo>
                  <a:pt x="38493" y="1218806"/>
                </a:lnTo>
                <a:lnTo>
                  <a:pt x="63284" y="1225143"/>
                </a:lnTo>
                <a:lnTo>
                  <a:pt x="565302" y="1225499"/>
                </a:lnTo>
                <a:lnTo>
                  <a:pt x="590600" y="1219454"/>
                </a:lnTo>
                <a:lnTo>
                  <a:pt x="611149" y="1204849"/>
                </a:lnTo>
                <a:lnTo>
                  <a:pt x="619696" y="1191742"/>
                </a:lnTo>
                <a:lnTo>
                  <a:pt x="620839" y="1189990"/>
                </a:lnTo>
                <a:lnTo>
                  <a:pt x="624954" y="1183703"/>
                </a:lnTo>
                <a:lnTo>
                  <a:pt x="625017" y="1183347"/>
                </a:lnTo>
                <a:lnTo>
                  <a:pt x="629996" y="1157998"/>
                </a:lnTo>
                <a:lnTo>
                  <a:pt x="629996" y="831405"/>
                </a:lnTo>
                <a:close/>
              </a:path>
            </a:pathLst>
          </a:custGeom>
          <a:solidFill>
            <a:srgbClr val="A7CF4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25138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636</TotalTime>
  <Words>408</Words>
  <Application>Microsoft Office PowerPoint</Application>
  <PresentationFormat>Personalizar</PresentationFormat>
  <Paragraphs>81</Paragraphs>
  <Slides>10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6" baseType="lpstr">
      <vt:lpstr>Aptos</vt:lpstr>
      <vt:lpstr>Arial</vt:lpstr>
      <vt:lpstr>Arial Black</vt:lpstr>
      <vt:lpstr>Tahoma</vt:lpstr>
      <vt:lpstr>Trebuchet MS</vt:lpstr>
      <vt:lpstr>Office Theme</vt:lpstr>
      <vt:lpstr>Gestão de Riscos Psicossociais para Atendimento à NR-1</vt:lpstr>
      <vt:lpstr>A atualização da NR-1 passou a exigir que as empresas identifiquem, avaliem e gerenciem os riscos psicossociais presentes no ambiente de trabalho.</vt:lpstr>
      <vt:lpstr>Por que isso é urgente?</vt:lpstr>
      <vt:lpstr>Apresentação do PowerPoint</vt:lpstr>
      <vt:lpstr>Apresentação do PowerPoint</vt:lpstr>
      <vt:lpstr>O que é o QWORK?</vt:lpstr>
      <vt:lpstr>Apresentação do PowerPoint</vt:lpstr>
      <vt:lpstr>Apresentação do PowerPoint</vt:lpstr>
      <vt:lpstr>Segurança jurídica e posicionamento final</vt:lpstr>
      <vt:lpstr>(41) 00000-0000 comercial@nexo7.com.br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QWork</dc:title>
  <dc:creator>Franchising</dc:creator>
  <cp:keywords>DAHAeWXQAr8,BAFyGQM-lu4,0</cp:keywords>
  <cp:lastModifiedBy>Emmanuel Huergo</cp:lastModifiedBy>
  <cp:revision>13</cp:revision>
  <dcterms:created xsi:type="dcterms:W3CDTF">2026-06-22T21:17:30Z</dcterms:created>
  <dcterms:modified xsi:type="dcterms:W3CDTF">2026-07-12T20:21:55Z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2026-02-05T00:00:00Z</vt:filetime>
  </property>
  <property fmtid="{D5CDD505-2E9C-101B-9397-08002B2CF9AE}" pid="3" name="Creator">
    <vt:lpwstr>Canva</vt:lpwstr>
  </property>
  <property fmtid="{D5CDD505-2E9C-101B-9397-08002B2CF9AE}" pid="4" name="LastSaved">
    <vt:filetime>2026-06-22T00:00:00Z</vt:filetime>
  </property>
  <property fmtid="{D5CDD505-2E9C-101B-9397-08002B2CF9AE}" pid="5" name="Producer">
    <vt:lpwstr>Canva</vt:lpwstr>
  </property>
</Properties>
</file>